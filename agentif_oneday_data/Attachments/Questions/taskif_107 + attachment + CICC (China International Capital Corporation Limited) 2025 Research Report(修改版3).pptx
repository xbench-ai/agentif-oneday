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  <p:embeddedFontLst>
    <p:embeddedFont>
      <p:font typeface="Noto Sans SC" panose="020B0200000000000000" charset="-122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7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7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7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7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7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7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7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7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7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0">
            <a:solidFill>
              <a:schemeClr val="accent6">
                <a:lumMod val="75000"/>
              </a:schemeClr>
            </a:solidFill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4067280" cy="6858000"/>
          </a:xfrm>
          <a:custGeom>
            <a:avLst/>
            <a:gdLst/>
            <a:ahLst/>
            <a:cxnLst/>
            <a:rect l="0" t="0" r="r" b="b"/>
            <a:pathLst>
              <a:path w="11298" h="19050">
                <a:moveTo>
                  <a:pt x="0" y="0"/>
                </a:moveTo>
                <a:lnTo>
                  <a:pt x="11298" y="0"/>
                </a:lnTo>
                <a:lnTo>
                  <a:pt x="7249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9E1F36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9143640" y="5143320"/>
            <a:ext cx="3048480" cy="1714680"/>
          </a:xfrm>
          <a:custGeom>
            <a:avLst/>
            <a:gdLst/>
            <a:ahLst/>
            <a:cxnLst/>
            <a:rect l="0" t="0" r="r" b="b"/>
            <a:pathLst>
              <a:path w="8468" h="4763">
                <a:moveTo>
                  <a:pt x="8256" y="0"/>
                </a:moveTo>
                <a:lnTo>
                  <a:pt x="8468" y="0"/>
                </a:lnTo>
                <a:lnTo>
                  <a:pt x="8468" y="4763"/>
                </a:lnTo>
                <a:lnTo>
                  <a:pt x="8256" y="4763"/>
                </a:lnTo>
                <a:lnTo>
                  <a:pt x="8256" y="0"/>
                </a:lnTo>
                <a:moveTo>
                  <a:pt x="0" y="4552"/>
                </a:moveTo>
                <a:lnTo>
                  <a:pt x="8468" y="4552"/>
                </a:lnTo>
                <a:lnTo>
                  <a:pt x="8468" y="4763"/>
                </a:lnTo>
                <a:lnTo>
                  <a:pt x="0" y="4763"/>
                </a:lnTo>
                <a:lnTo>
                  <a:pt x="0" y="4552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761760" y="4133520"/>
            <a:ext cx="914760" cy="57600"/>
          </a:xfrm>
          <a:custGeom>
            <a:avLst/>
            <a:gdLst/>
            <a:ahLst/>
            <a:cxnLst/>
            <a:rect l="0" t="0" r="r" b="b"/>
            <a:pathLst>
              <a:path w="2541" h="160">
                <a:moveTo>
                  <a:pt x="0" y="0"/>
                </a:moveTo>
                <a:lnTo>
                  <a:pt x="2541" y="0"/>
                </a:lnTo>
                <a:lnTo>
                  <a:pt x="2541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D4A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2120" y="1379520"/>
            <a:ext cx="3296520" cy="75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54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CICC 2025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2120" y="2237040"/>
            <a:ext cx="3811320" cy="75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54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RESEARCH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2120" y="3094200"/>
            <a:ext cx="2858400" cy="75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54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REPORT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120" y="4473000"/>
            <a:ext cx="63720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i="0" u="none" strike="noStrike">
                <a:solidFill>
                  <a:srgbClr val="FFFFFF">
                    <a:alpha val="90000"/>
                  </a:srgbClr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 comprehensive analysis of CICC's fundamentals, industry position,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2120" y="4844520"/>
            <a:ext cx="62996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i="0" u="none" strike="noStrike">
                <a:solidFill>
                  <a:srgbClr val="FFFFFF">
                    <a:alpha val="90000"/>
                  </a:srgbClr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business operations, and valuation, providing insights into its growth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2120" y="5216040"/>
            <a:ext cx="26035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i="0" u="none" strike="noStrike">
                <a:solidFill>
                  <a:srgbClr val="FFFFFF">
                    <a:alpha val="90000"/>
                  </a:srgbClr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drivers and future prospects.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9480" y="1180800"/>
            <a:ext cx="762120" cy="38520"/>
          </a:xfrm>
          <a:custGeom>
            <a:avLst/>
            <a:gdLst/>
            <a:ahLst/>
            <a:cxnLst/>
            <a:rect l="0" t="0" r="r" b="b"/>
            <a:pathLst>
              <a:path w="2117" h="107">
                <a:moveTo>
                  <a:pt x="0" y="0"/>
                </a:moveTo>
                <a:lnTo>
                  <a:pt x="2117" y="0"/>
                </a:lnTo>
                <a:lnTo>
                  <a:pt x="211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4A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9480" y="583200"/>
            <a:ext cx="1499400" cy="50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6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Agenda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6720" y="2399400"/>
            <a:ext cx="343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01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95280" y="2463480"/>
            <a:ext cx="32907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Company Fundamentals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6720" y="3085200"/>
            <a:ext cx="343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02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295280" y="3149280"/>
            <a:ext cx="28465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Industry Landscape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6720" y="3771000"/>
            <a:ext cx="343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03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95280" y="3835080"/>
            <a:ext cx="2871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Business Operations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6720" y="4456800"/>
            <a:ext cx="343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04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95280" y="4520880"/>
            <a:ext cx="36072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DCF Valuation &amp; Financial Forecast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168120" y="604584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Tencent Holdings Ltd. Research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任意多边形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57200" y="2520360"/>
            <a:ext cx="17467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CICC at a Glance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57200" y="3066840"/>
            <a:ext cx="5162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Founded in 1995, Beijing-headquartered leading investment bank with core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57200" y="3342960"/>
            <a:ext cx="50256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businesses in investment banking, equities, FICC, asset management, and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7200" y="3619080"/>
            <a:ext cx="1413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wealth management.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57200" y="4123800"/>
            <a:ext cx="4767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Mission: </a:t>
            </a:r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'Becoming a world-class investment bank with international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57200" y="4409640"/>
            <a:ext cx="1173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competitiveness.'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57200" y="4914360"/>
            <a:ext cx="5243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Global presence across 7 financial centers including Hong Kong, New York,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38" name="图片 37"/>
          <p:cNvPicPr/>
          <p:nvPr/>
        </p:nvPicPr>
        <p:blipFill>
          <a:blip r:embed="rId1"/>
          <a:stretch>
            <a:fillRect/>
          </a:stretch>
        </p:blipFill>
        <p:spPr>
          <a:xfrm>
            <a:off x="6324480" y="2057400"/>
            <a:ext cx="5409720" cy="381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任意多边形 38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cxn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4A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57200" y="5190840"/>
            <a:ext cx="863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and London.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57200" y="456480"/>
            <a:ext cx="29246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Company Overview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04920" y="6350760"/>
            <a:ext cx="1405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CICC Research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任意多边形 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7200" y="2939400"/>
            <a:ext cx="242640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Key Financial Indicators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57200" y="3485880"/>
            <a:ext cx="36907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Total Revenue: </a:t>
            </a:r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RMB 12.828 billion (+43.96% YoY)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7200" y="3914280"/>
            <a:ext cx="3187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Net Profit: </a:t>
            </a:r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RMB 4.33 billion (+94.35% YoY)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57200" y="4343040"/>
            <a:ext cx="3135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1" u="none" strike="noStrike">
                <a:solidFill>
                  <a:srgbClr val="333333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Total Assets: </a:t>
            </a:r>
            <a:r>
              <a:rPr lang="en-US" sz="1350" b="0" u="none" strike="noStrike">
                <a:solidFill>
                  <a:srgbClr val="333333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RMB 699.8 billion (+4% YoY)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57200" y="4771800"/>
            <a:ext cx="19602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ROE: </a:t>
            </a:r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8.32% (+2.8pct YoY)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785000" y="62247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[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829280" y="6220080"/>
            <a:ext cx="716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数据来源：中金公司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029520" y="6224760"/>
            <a:ext cx="266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2025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296280" y="6220080"/>
            <a:ext cx="557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年核心数据摘要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55" name="图片 54"/>
          <p:cNvPicPr/>
          <p:nvPr/>
        </p:nvPicPr>
        <p:blipFill>
          <a:blip r:embed="rId1"/>
          <a:stretch>
            <a:fillRect/>
          </a:stretch>
        </p:blipFill>
        <p:spPr>
          <a:xfrm>
            <a:off x="6324480" y="1523880"/>
            <a:ext cx="5409720" cy="453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任意多边形 55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cxn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0229760" y="62247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457200" y="456480"/>
            <a:ext cx="45716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Financial Performance 2025H1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04920" y="6350760"/>
            <a:ext cx="1405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CICC Research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任意多边形 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" name="任意多边形 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" name="任意多边形 62"/>
          <p:cNvSpPr/>
          <p:nvPr/>
        </p:nvSpPr>
        <p:spPr>
          <a:xfrm>
            <a:off x="6095880" y="0"/>
            <a:ext cx="6096240" cy="6858000"/>
          </a:xfrm>
          <a:custGeom>
            <a:avLst/>
            <a:gdLst/>
            <a:ahLst/>
            <a:cxnLst/>
            <a:rect l="0" t="0" r="r" b="b"/>
            <a:pathLst>
              <a:path w="16934" h="19050">
                <a:moveTo>
                  <a:pt x="0" y="0"/>
                </a:moveTo>
                <a:lnTo>
                  <a:pt x="16934" y="0"/>
                </a:lnTo>
                <a:lnTo>
                  <a:pt x="1693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EC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" name="任意多边形 63"/>
          <p:cNvSpPr/>
          <p:nvPr/>
        </p:nvSpPr>
        <p:spPr>
          <a:xfrm>
            <a:off x="6095880" y="0"/>
            <a:ext cx="6096240" cy="6858000"/>
          </a:xfrm>
          <a:custGeom>
            <a:avLst/>
            <a:gdLst/>
            <a:ahLst/>
            <a:cxnLst/>
            <a:rect l="0" t="0" r="r" b="b"/>
            <a:pathLst>
              <a:path w="16934" h="19050">
                <a:moveTo>
                  <a:pt x="0" y="0"/>
                </a:moveTo>
                <a:lnTo>
                  <a:pt x="16934" y="0"/>
                </a:lnTo>
                <a:lnTo>
                  <a:pt x="1693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" name="任意多边形 64"/>
          <p:cNvSpPr/>
          <p:nvPr/>
        </p:nvSpPr>
        <p:spPr>
          <a:xfrm>
            <a:off x="0" y="5143320"/>
            <a:ext cx="3048120" cy="1714680"/>
          </a:xfrm>
          <a:custGeom>
            <a:avLst/>
            <a:gdLst/>
            <a:ahLst/>
            <a:cxnLst/>
            <a:rect l="0" t="0" r="r" b="b"/>
            <a:pathLst>
              <a:path w="8467" h="4763">
                <a:moveTo>
                  <a:pt x="0" y="4552"/>
                </a:moveTo>
                <a:lnTo>
                  <a:pt x="8467" y="4552"/>
                </a:lnTo>
                <a:lnTo>
                  <a:pt x="8467" y="4763"/>
                </a:lnTo>
                <a:lnTo>
                  <a:pt x="0" y="4763"/>
                </a:lnTo>
                <a:lnTo>
                  <a:pt x="0" y="4552"/>
                </a:lnTo>
                <a:moveTo>
                  <a:pt x="0" y="0"/>
                </a:moveTo>
                <a:lnTo>
                  <a:pt x="211" y="0"/>
                </a:lnTo>
                <a:lnTo>
                  <a:pt x="211" y="4763"/>
                </a:lnTo>
                <a:lnTo>
                  <a:pt x="0" y="4763"/>
                </a:lnTo>
                <a:lnTo>
                  <a:pt x="0" y="0"/>
                </a:lnTo>
                <a:close/>
              </a:path>
            </a:pathLst>
          </a:custGeom>
          <a:solidFill>
            <a:srgbClr val="9E1F3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Tencent Holdings Ltd. Research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" name="任意多边形 66"/>
          <p:cNvSpPr/>
          <p:nvPr/>
        </p:nvSpPr>
        <p:spPr>
          <a:xfrm>
            <a:off x="475920" y="1304640"/>
            <a:ext cx="5144040" cy="4248720"/>
          </a:xfrm>
          <a:custGeom>
            <a:avLst/>
            <a:gdLst/>
            <a:ahLst/>
            <a:cxnLst/>
            <a:rect l="0" t="0" r="r" b="b"/>
            <a:pathLst>
              <a:path w="14289" h="11802" fill="none">
                <a:moveTo>
                  <a:pt x="0" y="1164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4130" y="0"/>
                </a:lnTo>
                <a:cubicBezTo>
                  <a:pt x="14141" y="0"/>
                  <a:pt x="14151" y="1"/>
                  <a:pt x="14161" y="3"/>
                </a:cubicBezTo>
                <a:cubicBezTo>
                  <a:pt x="14171" y="5"/>
                  <a:pt x="14181" y="8"/>
                  <a:pt x="14191" y="12"/>
                </a:cubicBezTo>
                <a:cubicBezTo>
                  <a:pt x="14201" y="16"/>
                  <a:pt x="14210" y="21"/>
                  <a:pt x="14218" y="27"/>
                </a:cubicBezTo>
                <a:cubicBezTo>
                  <a:pt x="14227" y="33"/>
                  <a:pt x="14235" y="39"/>
                  <a:pt x="14242" y="47"/>
                </a:cubicBezTo>
                <a:cubicBezTo>
                  <a:pt x="14250" y="54"/>
                  <a:pt x="14256" y="62"/>
                  <a:pt x="14262" y="71"/>
                </a:cubicBezTo>
                <a:cubicBezTo>
                  <a:pt x="14268" y="80"/>
                  <a:pt x="14273" y="89"/>
                  <a:pt x="14277" y="98"/>
                </a:cubicBezTo>
                <a:cubicBezTo>
                  <a:pt x="14281" y="108"/>
                  <a:pt x="14284" y="118"/>
                  <a:pt x="14286" y="128"/>
                </a:cubicBezTo>
                <a:cubicBezTo>
                  <a:pt x="14288" y="138"/>
                  <a:pt x="14289" y="149"/>
                  <a:pt x="14289" y="159"/>
                </a:cubicBezTo>
                <a:lnTo>
                  <a:pt x="14289" y="11643"/>
                </a:lnTo>
                <a:cubicBezTo>
                  <a:pt x="14289" y="11653"/>
                  <a:pt x="14288" y="11664"/>
                  <a:pt x="14286" y="11674"/>
                </a:cubicBezTo>
                <a:cubicBezTo>
                  <a:pt x="14284" y="11684"/>
                  <a:pt x="14281" y="11694"/>
                  <a:pt x="14277" y="11704"/>
                </a:cubicBezTo>
                <a:cubicBezTo>
                  <a:pt x="14273" y="11713"/>
                  <a:pt x="14268" y="11722"/>
                  <a:pt x="14262" y="11731"/>
                </a:cubicBezTo>
                <a:cubicBezTo>
                  <a:pt x="14256" y="11740"/>
                  <a:pt x="14250" y="11748"/>
                  <a:pt x="14242" y="11755"/>
                </a:cubicBezTo>
                <a:cubicBezTo>
                  <a:pt x="14235" y="11763"/>
                  <a:pt x="14227" y="11769"/>
                  <a:pt x="14218" y="11775"/>
                </a:cubicBezTo>
                <a:cubicBezTo>
                  <a:pt x="14210" y="11781"/>
                  <a:pt x="14201" y="11786"/>
                  <a:pt x="14191" y="11790"/>
                </a:cubicBezTo>
                <a:cubicBezTo>
                  <a:pt x="14181" y="11794"/>
                  <a:pt x="14171" y="11797"/>
                  <a:pt x="14161" y="11799"/>
                </a:cubicBezTo>
                <a:cubicBezTo>
                  <a:pt x="14151" y="11801"/>
                  <a:pt x="14141" y="11802"/>
                  <a:pt x="14130" y="11802"/>
                </a:cubicBezTo>
                <a:lnTo>
                  <a:pt x="159" y="11802"/>
                </a:lnTo>
                <a:cubicBezTo>
                  <a:pt x="149" y="11802"/>
                  <a:pt x="138" y="11801"/>
                  <a:pt x="128" y="11799"/>
                </a:cubicBezTo>
                <a:cubicBezTo>
                  <a:pt x="118" y="11797"/>
                  <a:pt x="108" y="11794"/>
                  <a:pt x="98" y="11790"/>
                </a:cubicBezTo>
                <a:cubicBezTo>
                  <a:pt x="89" y="11786"/>
                  <a:pt x="80" y="11781"/>
                  <a:pt x="71" y="11775"/>
                </a:cubicBezTo>
                <a:cubicBezTo>
                  <a:pt x="62" y="11769"/>
                  <a:pt x="54" y="11763"/>
                  <a:pt x="47" y="11755"/>
                </a:cubicBezTo>
                <a:cubicBezTo>
                  <a:pt x="40" y="11748"/>
                  <a:pt x="33" y="11740"/>
                  <a:pt x="27" y="11731"/>
                </a:cubicBezTo>
                <a:cubicBezTo>
                  <a:pt x="21" y="11722"/>
                  <a:pt x="16" y="11713"/>
                  <a:pt x="13" y="11704"/>
                </a:cubicBezTo>
                <a:cubicBezTo>
                  <a:pt x="9" y="11694"/>
                  <a:pt x="6" y="11684"/>
                  <a:pt x="3" y="11674"/>
                </a:cubicBezTo>
                <a:cubicBezTo>
                  <a:pt x="1" y="11664"/>
                  <a:pt x="0" y="11653"/>
                  <a:pt x="0" y="11643"/>
                </a:cubicBezTo>
              </a:path>
            </a:pathLst>
          </a:custGeom>
          <a:ln w="37800">
            <a:solidFill>
              <a:srgbClr val="FFFFFF"/>
            </a:solidFill>
            <a:miter/>
          </a:ln>
        </p:spPr>
        <p:txBody>
          <a:bodyPr lIns="18720" tIns="18720" rIns="18720" bIns="18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8" name="图片 67"/>
          <p:cNvPicPr/>
          <p:nvPr/>
        </p:nvPicPr>
        <p:blipFill>
          <a:blip r:embed="rId1"/>
          <a:stretch>
            <a:fillRect/>
          </a:stretch>
        </p:blipFill>
        <p:spPr>
          <a:xfrm>
            <a:off x="492120" y="1324080"/>
            <a:ext cx="5111640" cy="420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任意多边形 68"/>
          <p:cNvSpPr/>
          <p:nvPr/>
        </p:nvSpPr>
        <p:spPr>
          <a:xfrm>
            <a:off x="6705360" y="2476440"/>
            <a:ext cx="762480" cy="57240"/>
          </a:xfrm>
          <a:custGeom>
            <a:avLst/>
            <a:gdLst/>
            <a:ahLst/>
            <a:cxnLst/>
            <a:rect l="0" t="0" r="r" b="b"/>
            <a:pathLst>
              <a:path w="2118" h="159">
                <a:moveTo>
                  <a:pt x="0" y="0"/>
                </a:moveTo>
                <a:lnTo>
                  <a:pt x="2118" y="0"/>
                </a:lnTo>
                <a:lnTo>
                  <a:pt x="2118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D4A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705720" y="1688040"/>
            <a:ext cx="3796560" cy="506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6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Core Competencies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6705720" y="294480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886800" y="2887920"/>
            <a:ext cx="46036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HK IPO Market Leader: </a:t>
            </a:r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13 IPOs underwritten (US$2.866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886800" y="3192480"/>
            <a:ext cx="31323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billion), 20.01% market share (Dealogic)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705720" y="379260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886800" y="3735360"/>
            <a:ext cx="44600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International Presence: </a:t>
            </a:r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31.37% overseas revenue, Dubai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886800" y="4040280"/>
            <a:ext cx="46933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branch established, US$130 billion foreign capital introduced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705720" y="4640400"/>
            <a:ext cx="190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1" i="0" u="none" strike="noStrike">
                <a:solidFill>
                  <a:srgbClr val="0052D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886800" y="4583160"/>
            <a:ext cx="46231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Wealth Management: </a:t>
            </a:r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~RMB 400 billion AUM, over RMB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6886800" y="4888080"/>
            <a:ext cx="24346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100 billion in buy-side advisory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任意多边形 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" name="任意多边形 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57200" y="2729880"/>
            <a:ext cx="212112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Key Market Positions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57200" y="3377880"/>
            <a:ext cx="22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89760" y="3352320"/>
            <a:ext cx="4803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#1 in global IPO underwriting for Chinese enterprises </a:t>
            </a:r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(US$11.144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689760" y="3628800"/>
            <a:ext cx="5032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billion)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57200" y="4158720"/>
            <a:ext cx="22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89760" y="4133520"/>
            <a:ext cx="48837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8-year consecutive leadership </a:t>
            </a:r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in HK IPO sponsorship among Chinese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89760" y="4409640"/>
            <a:ext cx="5126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brokers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457200" y="4949280"/>
            <a:ext cx="22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689760" y="4924080"/>
            <a:ext cx="4088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#4 in domestic bond underwriting </a:t>
            </a:r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(RMB 415.784 billion)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7785000" y="62247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[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829280" y="6220080"/>
            <a:ext cx="716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数据来源：中金公司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9029520" y="6224760"/>
            <a:ext cx="266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2025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9296280" y="6220080"/>
            <a:ext cx="557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年核心数据摘要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6" name="图片 95"/>
          <p:cNvPicPr/>
          <p:nvPr/>
        </p:nvPicPr>
        <p:blipFill>
          <a:blip r:embed="rId1"/>
          <a:stretch>
            <a:fillRect/>
          </a:stretch>
        </p:blipFill>
        <p:spPr>
          <a:xfrm>
            <a:off x="6324480" y="1523880"/>
            <a:ext cx="5409720" cy="453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任意多边形 96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cxn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10229760" y="622476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457200" y="456480"/>
            <a:ext cx="29448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Industry Landscape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Tencent Holdings Ltd. Research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任意多边形 1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" name="任意多边形 1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917720" y="610092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[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962000" y="6096240"/>
            <a:ext cx="716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数据来源：中金公司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162240" y="6100920"/>
            <a:ext cx="2660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2025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429000" y="6096240"/>
            <a:ext cx="5576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年核心数据摘要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362480" y="6100920"/>
            <a:ext cx="1328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05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" name="任意多边形 108"/>
          <p:cNvSpPr/>
          <p:nvPr/>
        </p:nvSpPr>
        <p:spPr>
          <a:xfrm>
            <a:off x="6324480" y="372420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58"/>
                </a:moveTo>
                <a:cubicBezTo>
                  <a:pt x="318" y="169"/>
                  <a:pt x="317" y="179"/>
                  <a:pt x="315" y="189"/>
                </a:cubicBezTo>
                <a:cubicBezTo>
                  <a:pt x="313" y="200"/>
                  <a:pt x="310" y="210"/>
                  <a:pt x="306" y="219"/>
                </a:cubicBezTo>
                <a:cubicBezTo>
                  <a:pt x="302" y="229"/>
                  <a:pt x="297" y="238"/>
                  <a:pt x="292" y="247"/>
                </a:cubicBezTo>
                <a:cubicBezTo>
                  <a:pt x="286" y="255"/>
                  <a:pt x="279" y="263"/>
                  <a:pt x="272" y="271"/>
                </a:cubicBezTo>
                <a:cubicBezTo>
                  <a:pt x="264" y="279"/>
                  <a:pt x="256" y="286"/>
                  <a:pt x="248" y="291"/>
                </a:cubicBezTo>
                <a:cubicBezTo>
                  <a:pt x="239" y="297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7"/>
                  <a:pt x="71" y="291"/>
                </a:cubicBezTo>
                <a:cubicBezTo>
                  <a:pt x="63" y="286"/>
                  <a:pt x="55" y="279"/>
                  <a:pt x="47" y="271"/>
                </a:cubicBezTo>
                <a:cubicBezTo>
                  <a:pt x="40" y="263"/>
                  <a:pt x="33" y="255"/>
                  <a:pt x="28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8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2"/>
                  <a:pt x="71" y="26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2"/>
                </a:cubicBezTo>
                <a:cubicBezTo>
                  <a:pt x="230" y="16"/>
                  <a:pt x="239" y="21"/>
                  <a:pt x="248" y="26"/>
                </a:cubicBezTo>
                <a:cubicBezTo>
                  <a:pt x="256" y="32"/>
                  <a:pt x="264" y="39"/>
                  <a:pt x="272" y="46"/>
                </a:cubicBezTo>
                <a:cubicBezTo>
                  <a:pt x="279" y="54"/>
                  <a:pt x="286" y="62"/>
                  <a:pt x="292" y="70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7"/>
                  <a:pt x="313" y="117"/>
                  <a:pt x="315" y="127"/>
                </a:cubicBezTo>
                <a:cubicBezTo>
                  <a:pt x="317" y="138"/>
                  <a:pt x="318" y="148"/>
                  <a:pt x="318" y="158"/>
                </a:cubicBez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324480" y="3012480"/>
            <a:ext cx="340668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25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Revenue Structure Analysis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6591240" y="3678480"/>
            <a:ext cx="2455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Wealth Management:</a:t>
            </a:r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32.58%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" name="任意多边形 111"/>
          <p:cNvSpPr/>
          <p:nvPr/>
        </p:nvSpPr>
        <p:spPr>
          <a:xfrm>
            <a:off x="6324480" y="422892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0"/>
                </a:cubicBezTo>
                <a:cubicBezTo>
                  <a:pt x="302" y="230"/>
                  <a:pt x="297" y="239"/>
                  <a:pt x="292" y="248"/>
                </a:cubicBezTo>
                <a:cubicBezTo>
                  <a:pt x="286" y="257"/>
                  <a:pt x="279" y="265"/>
                  <a:pt x="272" y="272"/>
                </a:cubicBezTo>
                <a:cubicBezTo>
                  <a:pt x="264" y="279"/>
                  <a:pt x="256" y="286"/>
                  <a:pt x="248" y="292"/>
                </a:cubicBezTo>
                <a:cubicBezTo>
                  <a:pt x="239" y="298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8"/>
                  <a:pt x="71" y="292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5"/>
                  <a:pt x="33" y="257"/>
                  <a:pt x="28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8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2"/>
                </a:cubicBezTo>
                <a:cubicBezTo>
                  <a:pt x="230" y="16"/>
                  <a:pt x="239" y="21"/>
                  <a:pt x="248" y="27"/>
                </a:cubicBezTo>
                <a:cubicBezTo>
                  <a:pt x="256" y="33"/>
                  <a:pt x="264" y="39"/>
                  <a:pt x="272" y="46"/>
                </a:cubicBezTo>
                <a:cubicBezTo>
                  <a:pt x="279" y="54"/>
                  <a:pt x="286" y="62"/>
                  <a:pt x="292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9"/>
                  <a:pt x="318" y="160"/>
                </a:cubicBezTo>
                <a:close/>
              </a:path>
            </a:pathLst>
          </a:custGeom>
          <a:solidFill>
            <a:srgbClr val="D4A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9112320" y="3695400"/>
            <a:ext cx="11408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(+41.11% YoY)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6591240" y="4183200"/>
            <a:ext cx="216036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Equities Business:</a:t>
            </a:r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25.78%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" name="任意多边形 114"/>
          <p:cNvSpPr/>
          <p:nvPr/>
        </p:nvSpPr>
        <p:spPr>
          <a:xfrm>
            <a:off x="6324480" y="473364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0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7" y="240"/>
                  <a:pt x="292" y="248"/>
                </a:cubicBezTo>
                <a:cubicBezTo>
                  <a:pt x="286" y="257"/>
                  <a:pt x="279" y="265"/>
                  <a:pt x="272" y="272"/>
                </a:cubicBezTo>
                <a:cubicBezTo>
                  <a:pt x="264" y="280"/>
                  <a:pt x="256" y="286"/>
                  <a:pt x="248" y="292"/>
                </a:cubicBezTo>
                <a:cubicBezTo>
                  <a:pt x="239" y="298"/>
                  <a:pt x="230" y="303"/>
                  <a:pt x="220" y="307"/>
                </a:cubicBezTo>
                <a:cubicBezTo>
                  <a:pt x="211" y="311"/>
                  <a:pt x="201" y="314"/>
                  <a:pt x="191" y="316"/>
                </a:cubicBezTo>
                <a:cubicBezTo>
                  <a:pt x="180" y="318"/>
                  <a:pt x="170" y="319"/>
                  <a:pt x="160" y="319"/>
                </a:cubicBezTo>
                <a:cubicBezTo>
                  <a:pt x="149" y="319"/>
                  <a:pt x="139" y="318"/>
                  <a:pt x="129" y="316"/>
                </a:cubicBezTo>
                <a:cubicBezTo>
                  <a:pt x="118" y="314"/>
                  <a:pt x="108" y="311"/>
                  <a:pt x="99" y="307"/>
                </a:cubicBezTo>
                <a:cubicBezTo>
                  <a:pt x="89" y="303"/>
                  <a:pt x="80" y="298"/>
                  <a:pt x="71" y="292"/>
                </a:cubicBezTo>
                <a:cubicBezTo>
                  <a:pt x="63" y="286"/>
                  <a:pt x="55" y="280"/>
                  <a:pt x="47" y="272"/>
                </a:cubicBezTo>
                <a:cubicBezTo>
                  <a:pt x="40" y="265"/>
                  <a:pt x="33" y="257"/>
                  <a:pt x="28" y="248"/>
                </a:cubicBezTo>
                <a:cubicBezTo>
                  <a:pt x="21" y="240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0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8" y="72"/>
                </a:cubicBezTo>
                <a:cubicBezTo>
                  <a:pt x="33" y="63"/>
                  <a:pt x="40" y="55"/>
                  <a:pt x="47" y="48"/>
                </a:cubicBezTo>
                <a:cubicBezTo>
                  <a:pt x="55" y="40"/>
                  <a:pt x="63" y="34"/>
                  <a:pt x="71" y="28"/>
                </a:cubicBezTo>
                <a:cubicBezTo>
                  <a:pt x="80" y="22"/>
                  <a:pt x="89" y="17"/>
                  <a:pt x="99" y="13"/>
                </a:cubicBezTo>
                <a:cubicBezTo>
                  <a:pt x="108" y="9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9"/>
                  <a:pt x="220" y="13"/>
                </a:cubicBezTo>
                <a:cubicBezTo>
                  <a:pt x="230" y="17"/>
                  <a:pt x="239" y="22"/>
                  <a:pt x="248" y="28"/>
                </a:cubicBezTo>
                <a:cubicBezTo>
                  <a:pt x="256" y="34"/>
                  <a:pt x="264" y="40"/>
                  <a:pt x="272" y="48"/>
                </a:cubicBezTo>
                <a:cubicBezTo>
                  <a:pt x="279" y="55"/>
                  <a:pt x="286" y="63"/>
                  <a:pt x="292" y="72"/>
                </a:cubicBezTo>
                <a:cubicBezTo>
                  <a:pt x="297" y="81"/>
                  <a:pt x="302" y="90"/>
                  <a:pt x="306" y="99"/>
                </a:cubicBezTo>
                <a:cubicBezTo>
                  <a:pt x="310" y="109"/>
                  <a:pt x="313" y="119"/>
                  <a:pt x="315" y="129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A62A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827200" y="4200120"/>
            <a:ext cx="1226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(+106.43% YoY)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6591240" y="4687920"/>
            <a:ext cx="2392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Investment Banking:</a:t>
            </a:r>
            <a:r>
              <a:rPr lang="en-US" sz="150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11.26%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8" name="图片 117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647720"/>
            <a:ext cx="5409720" cy="428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任意多边形 118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cxn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9052560" y="4704840"/>
            <a:ext cx="1226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(+149.70% YoY)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457200" y="456480"/>
            <a:ext cx="39625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Revenue Structure 2025H1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304920" y="6350760"/>
            <a:ext cx="1405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CICC Research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任意多边形 1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" name="任意多边形 1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457200" y="2615760"/>
            <a:ext cx="25844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Key Strategic Focus Areas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57200" y="327636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631800" y="3238200"/>
            <a:ext cx="52156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Digital Transformation:</a:t>
            </a:r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 AI wealth advisor covering 390,000 clients, RMB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631800" y="3524040"/>
            <a:ext cx="1698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24.5 billion online AUM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457200" y="406692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631800" y="4028760"/>
            <a:ext cx="51411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International Expansion:</a:t>
            </a:r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 Dubai branch operational, serving 90+ overseas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631800" y="4304880"/>
            <a:ext cx="270288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central banks and sovereign institutions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457200" y="4847760"/>
            <a:ext cx="1710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631800" y="4809600"/>
            <a:ext cx="4883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Green Finance:</a:t>
            </a:r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 #2 in domestic green bond underwriting, ESG product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35" name="图片 134"/>
          <p:cNvPicPr/>
          <p:nvPr/>
        </p:nvPicPr>
        <p:blipFill>
          <a:blip r:embed="rId1"/>
          <a:stretch>
            <a:fillRect/>
          </a:stretch>
        </p:blipFill>
        <p:spPr>
          <a:xfrm>
            <a:off x="6322320" y="2057400"/>
            <a:ext cx="541440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任意多边形 135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cxn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631800" y="5095440"/>
            <a:ext cx="2200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scale exceeding RMB 33 billion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57200" y="456480"/>
            <a:ext cx="286704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Strategic Initiatives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Tencent Holdings Ltd. Research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11810880" y="635076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任意多边形 1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" name="任意多边形 1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" name="任意多边形 142"/>
          <p:cNvSpPr/>
          <p:nvPr/>
        </p:nvSpPr>
        <p:spPr>
          <a:xfrm>
            <a:off x="609480" y="1104840"/>
            <a:ext cx="609840" cy="38160"/>
          </a:xfrm>
          <a:custGeom>
            <a:avLst/>
            <a:gdLst/>
            <a:ahLst/>
            <a:cxnLst/>
            <a:rect l="0" t="0" r="r" b="b"/>
            <a:pathLst>
              <a:path w="1694" h="106">
                <a:moveTo>
                  <a:pt x="0" y="0"/>
                </a:moveTo>
                <a:lnTo>
                  <a:pt x="1694" y="0"/>
                </a:lnTo>
                <a:lnTo>
                  <a:pt x="1694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D4AF3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" name="任意多边形 143"/>
          <p:cNvSpPr/>
          <p:nvPr/>
        </p:nvSpPr>
        <p:spPr>
          <a:xfrm>
            <a:off x="1828440" y="2533320"/>
            <a:ext cx="2848680" cy="19440"/>
          </a:xfrm>
          <a:custGeom>
            <a:avLst/>
            <a:gdLst/>
            <a:ahLst/>
            <a:cxnLst/>
            <a:rect l="0" t="0" r="r" b="b"/>
            <a:pathLst>
              <a:path w="7913" h="54">
                <a:moveTo>
                  <a:pt x="0" y="0"/>
                </a:moveTo>
                <a:lnTo>
                  <a:pt x="7913" y="0"/>
                </a:lnTo>
                <a:lnTo>
                  <a:pt x="791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" name="任意多边形 144"/>
          <p:cNvSpPr/>
          <p:nvPr/>
        </p:nvSpPr>
        <p:spPr>
          <a:xfrm>
            <a:off x="4676760" y="2533320"/>
            <a:ext cx="5686560" cy="19440"/>
          </a:xfrm>
          <a:custGeom>
            <a:avLst/>
            <a:gdLst/>
            <a:ahLst/>
            <a:cxnLst/>
            <a:rect l="0" t="0" r="r" b="b"/>
            <a:pathLst>
              <a:path w="15796" h="54">
                <a:moveTo>
                  <a:pt x="0" y="0"/>
                </a:moveTo>
                <a:lnTo>
                  <a:pt x="15796" y="0"/>
                </a:lnTo>
                <a:lnTo>
                  <a:pt x="1579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" name="任意多边形 145"/>
          <p:cNvSpPr/>
          <p:nvPr/>
        </p:nvSpPr>
        <p:spPr>
          <a:xfrm>
            <a:off x="1828440" y="3200040"/>
            <a:ext cx="2848680" cy="10080"/>
          </a:xfrm>
          <a:custGeom>
            <a:avLst/>
            <a:gdLst/>
            <a:ahLst/>
            <a:cxnLst/>
            <a:rect l="0" t="0" r="r" b="b"/>
            <a:pathLst>
              <a:path w="7913" h="28">
                <a:moveTo>
                  <a:pt x="0" y="0"/>
                </a:moveTo>
                <a:lnTo>
                  <a:pt x="7913" y="0"/>
                </a:lnTo>
                <a:lnTo>
                  <a:pt x="79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" name="任意多边形 146"/>
          <p:cNvSpPr/>
          <p:nvPr/>
        </p:nvSpPr>
        <p:spPr>
          <a:xfrm>
            <a:off x="4676760" y="3200040"/>
            <a:ext cx="5686560" cy="10080"/>
          </a:xfrm>
          <a:custGeom>
            <a:avLst/>
            <a:gdLst/>
            <a:ahLst/>
            <a:cxnLst/>
            <a:rect l="0" t="0" r="r" b="b"/>
            <a:pathLst>
              <a:path w="15796" h="28">
                <a:moveTo>
                  <a:pt x="0" y="0"/>
                </a:moveTo>
                <a:lnTo>
                  <a:pt x="15796" y="0"/>
                </a:lnTo>
                <a:lnTo>
                  <a:pt x="157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" name="任意多边形 147"/>
          <p:cNvSpPr/>
          <p:nvPr/>
        </p:nvSpPr>
        <p:spPr>
          <a:xfrm>
            <a:off x="1828440" y="3857400"/>
            <a:ext cx="2848680" cy="10080"/>
          </a:xfrm>
          <a:custGeom>
            <a:avLst/>
            <a:gdLst/>
            <a:ahLst/>
            <a:cxnLst/>
            <a:rect l="0" t="0" r="r" b="b"/>
            <a:pathLst>
              <a:path w="7913" h="28">
                <a:moveTo>
                  <a:pt x="0" y="0"/>
                </a:moveTo>
                <a:lnTo>
                  <a:pt x="7913" y="0"/>
                </a:lnTo>
                <a:lnTo>
                  <a:pt x="79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" name="任意多边形 148"/>
          <p:cNvSpPr/>
          <p:nvPr/>
        </p:nvSpPr>
        <p:spPr>
          <a:xfrm>
            <a:off x="4676760" y="3857400"/>
            <a:ext cx="5686560" cy="10080"/>
          </a:xfrm>
          <a:custGeom>
            <a:avLst/>
            <a:gdLst/>
            <a:ahLst/>
            <a:cxnLst/>
            <a:rect l="0" t="0" r="r" b="b"/>
            <a:pathLst>
              <a:path w="15796" h="28">
                <a:moveTo>
                  <a:pt x="0" y="0"/>
                </a:moveTo>
                <a:lnTo>
                  <a:pt x="15796" y="0"/>
                </a:lnTo>
                <a:lnTo>
                  <a:pt x="157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" name="任意多边形 149"/>
          <p:cNvSpPr/>
          <p:nvPr/>
        </p:nvSpPr>
        <p:spPr>
          <a:xfrm>
            <a:off x="1828440" y="4514760"/>
            <a:ext cx="2848680" cy="9720"/>
          </a:xfrm>
          <a:custGeom>
            <a:avLst/>
            <a:gdLst/>
            <a:ahLst/>
            <a:cxnLst/>
            <a:rect l="0" t="0" r="r" b="b"/>
            <a:pathLst>
              <a:path w="7913" h="27">
                <a:moveTo>
                  <a:pt x="0" y="0"/>
                </a:moveTo>
                <a:lnTo>
                  <a:pt x="7913" y="0"/>
                </a:lnTo>
                <a:lnTo>
                  <a:pt x="79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" name="任意多边形 150"/>
          <p:cNvSpPr/>
          <p:nvPr/>
        </p:nvSpPr>
        <p:spPr>
          <a:xfrm>
            <a:off x="4676760" y="4514760"/>
            <a:ext cx="5686560" cy="9720"/>
          </a:xfrm>
          <a:custGeom>
            <a:avLst/>
            <a:gdLst/>
            <a:ahLst/>
            <a:cxnLst/>
            <a:rect l="0" t="0" r="r" b="b"/>
            <a:pathLst>
              <a:path w="15796" h="27">
                <a:moveTo>
                  <a:pt x="0" y="0"/>
                </a:moveTo>
                <a:lnTo>
                  <a:pt x="15796" y="0"/>
                </a:lnTo>
                <a:lnTo>
                  <a:pt x="15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609480" y="608760"/>
            <a:ext cx="401940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DCF Valuation Parameters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1981080" y="2101320"/>
            <a:ext cx="104148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i="1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Parameter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4825800" y="2101320"/>
            <a:ext cx="14547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i="1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Value (Source)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2019240" y="2773440"/>
            <a:ext cx="604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1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WACC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4863960" y="2773440"/>
            <a:ext cx="19159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1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10.54%</a:t>
            </a:r>
            <a:r>
              <a:rPr lang="en-US" sz="1500" b="0" i="1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 (2025 Feb Data)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2019240" y="3430800"/>
            <a:ext cx="19051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1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Perpetual Growth Rate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4863960" y="3430800"/>
            <a:ext cx="17568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1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3% (Industry Average)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2019240" y="4087800"/>
            <a:ext cx="13654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1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2025E Net Profit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4863960" y="4087800"/>
            <a:ext cx="26676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1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RMB 8.005bn (Caitong Securities)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2019240" y="4745160"/>
            <a:ext cx="10213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1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Target Price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4863960" y="4745160"/>
            <a:ext cx="29635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1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HK$17.3</a:t>
            </a:r>
            <a:r>
              <a:rPr lang="en-US" sz="1500" b="0" i="1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 (BofA Securities, Mar 2025)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7875360" y="5426640"/>
            <a:ext cx="5126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1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Source: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8417160" y="5421240"/>
            <a:ext cx="3776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40" b="0" i="1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中金公司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8991360" y="5426640"/>
            <a:ext cx="3056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1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2025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9331560" y="5421240"/>
            <a:ext cx="660240" cy="18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240" b="0" i="1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年核心数据摘要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609480" y="604584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1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Tencent Holdings Ltd. Research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11506320" y="6045840"/>
            <a:ext cx="151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任意多边形 1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0" name="任意多边形 1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71" name="图片 170"/>
          <p:cNvPicPr/>
          <p:nvPr/>
        </p:nvPicPr>
        <p:blipFill>
          <a:blip r:embed="rId1"/>
          <a:stretch>
            <a:fillRect/>
          </a:stretch>
        </p:blipFill>
        <p:spPr>
          <a:xfrm>
            <a:off x="453600" y="1819440"/>
            <a:ext cx="5416920" cy="428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文本框 171"/>
          <p:cNvSpPr txBox="1"/>
          <p:nvPr/>
        </p:nvSpPr>
        <p:spPr>
          <a:xfrm>
            <a:off x="6324480" y="2488680"/>
            <a:ext cx="194976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25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Key Projections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6324480" y="3187080"/>
            <a:ext cx="22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6557040" y="3173400"/>
            <a:ext cx="43020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Continued leadership in HK IPO market with expanding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6557040" y="3478320"/>
            <a:ext cx="16776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international footprint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6324480" y="4034880"/>
            <a:ext cx="22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6557040" y="4021200"/>
            <a:ext cx="485208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Wealth management AUM to exceed RMB 500 billion by 2026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6324480" y="4606560"/>
            <a:ext cx="22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6557040" y="4592880"/>
            <a:ext cx="483732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Green finance business growth rate projected at 25%+ annually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6324480" y="5177880"/>
            <a:ext cx="2282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1" name="任意多边形 180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cxn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557040" y="5164200"/>
            <a:ext cx="33656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2025E adjusted net profit CAGR of 18-22%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457200" y="456480"/>
            <a:ext cx="271476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9E1F3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Financial Forecast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304920" y="6350760"/>
            <a:ext cx="2425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0" u="none" strike="noStrike">
                <a:solidFill>
                  <a:srgbClr val="D4AF37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Tencent Holdings Ltd. Research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11734920" y="6350760"/>
            <a:ext cx="153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D4AF37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任意多边形 18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7" name="任意多边形 18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57200" y="3168000"/>
            <a:ext cx="212184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1" i="0" u="none" strike="noStrike">
                <a:solidFill>
                  <a:srgbClr val="0052D9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Summary of Findings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57200" y="3714480"/>
            <a:ext cx="4719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CICC's strong market position in investment banking, leading wealth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57200" y="3990600"/>
            <a:ext cx="5257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management capabilities, and strategic international expansion position it for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457200" y="4266720"/>
            <a:ext cx="4964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sustained growth. DCF valuation indicates potential upside supported by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92" name="图片 191"/>
          <p:cNvPicPr/>
          <p:nvPr/>
        </p:nvPicPr>
        <p:blipFill>
          <a:blip r:embed="rId1"/>
          <a:stretch>
            <a:fillRect/>
          </a:stretch>
        </p:blipFill>
        <p:spPr>
          <a:xfrm>
            <a:off x="6322320" y="2057400"/>
            <a:ext cx="541440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任意多边形 192"/>
          <p:cNvSpPr/>
          <p:nvPr/>
        </p:nvSpPr>
        <p:spPr>
          <a:xfrm>
            <a:off x="456840" y="914040"/>
            <a:ext cx="610200" cy="38520"/>
          </a:xfrm>
          <a:custGeom>
            <a:avLst/>
            <a:gdLst/>
            <a:ahLst/>
            <a:cxnLst/>
            <a:rect l="0" t="0" r="r" b="b"/>
            <a:pathLst>
              <a:path w="1695" h="107">
                <a:moveTo>
                  <a:pt x="0" y="0"/>
                </a:moveTo>
                <a:lnTo>
                  <a:pt x="1695" y="0"/>
                </a:lnTo>
                <a:lnTo>
                  <a:pt x="169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52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457200" y="4543200"/>
            <a:ext cx="3574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0" i="0" u="none" strike="noStrike">
                <a:solidFill>
                  <a:srgbClr val="333333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robust financial performance and industry tailwinds.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457200" y="456480"/>
            <a:ext cx="39355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002B5C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Conclusion &amp; Key Insights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304920" y="6350760"/>
            <a:ext cx="1405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CICC Research 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11740320" y="6350760"/>
            <a:ext cx="153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Times New Roman" panose="02020603050405020304"/>
                <a:ea typeface="Times New Roman" panose="02020603050405020304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任意多边形 1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9" name="任意多边形 1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2B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00" name="图片 19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任意多边形 200"/>
          <p:cNvSpPr/>
          <p:nvPr/>
        </p:nvSpPr>
        <p:spPr>
          <a:xfrm>
            <a:off x="0" y="0"/>
            <a:ext cx="12192120" cy="76320"/>
          </a:xfrm>
          <a:custGeom>
            <a:avLst/>
            <a:gdLst/>
            <a:ahLst/>
            <a:cxn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2" name="任意多边形 201"/>
          <p:cNvSpPr/>
          <p:nvPr/>
        </p:nvSpPr>
        <p:spPr>
          <a:xfrm>
            <a:off x="8124480" y="4571640"/>
            <a:ext cx="4067640" cy="2286360"/>
          </a:xfrm>
          <a:custGeom>
            <a:avLst/>
            <a:gdLst/>
            <a:ahLst/>
            <a:cxnLst/>
            <a:rect l="0" t="0" r="r" b="b"/>
            <a:pathLst>
              <a:path w="11299" h="6351">
                <a:moveTo>
                  <a:pt x="0" y="0"/>
                </a:moveTo>
                <a:lnTo>
                  <a:pt x="11299" y="0"/>
                </a:lnTo>
                <a:lnTo>
                  <a:pt x="11299" y="212"/>
                </a:lnTo>
                <a:lnTo>
                  <a:pt x="0" y="212"/>
                </a:lnTo>
                <a:lnTo>
                  <a:pt x="0" y="0"/>
                </a:lnTo>
                <a:moveTo>
                  <a:pt x="0" y="0"/>
                </a:moveTo>
                <a:lnTo>
                  <a:pt x="212" y="0"/>
                </a:lnTo>
                <a:lnTo>
                  <a:pt x="212" y="6351"/>
                </a:lnTo>
                <a:lnTo>
                  <a:pt x="0" y="6351"/>
                </a:lnTo>
                <a:lnTo>
                  <a:pt x="0" y="0"/>
                </a:lnTo>
                <a:close/>
              </a:path>
            </a:pathLst>
          </a:custGeom>
          <a:solidFill>
            <a:srgbClr val="D4AF37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3" name="任意多边形 202"/>
          <p:cNvSpPr/>
          <p:nvPr/>
        </p:nvSpPr>
        <p:spPr>
          <a:xfrm>
            <a:off x="5714640" y="3533760"/>
            <a:ext cx="762480" cy="57240"/>
          </a:xfrm>
          <a:custGeom>
            <a:avLst/>
            <a:gdLst/>
            <a:ahLst/>
            <a:cxnLst/>
            <a:rect l="0" t="0" r="r" b="b"/>
            <a:pathLst>
              <a:path w="2118" h="159">
                <a:moveTo>
                  <a:pt x="0" y="0"/>
                </a:moveTo>
                <a:lnTo>
                  <a:pt x="2118" y="0"/>
                </a:lnTo>
                <a:lnTo>
                  <a:pt x="2118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9E1F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4223880" y="2624400"/>
            <a:ext cx="3509280" cy="632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45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THANK YOU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4991040" y="3920760"/>
            <a:ext cx="2210760" cy="25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i="0" u="none" strike="noStrike">
                <a:solidFill>
                  <a:srgbClr val="FFFFFF">
                    <a:alpha val="90000"/>
                  </a:srgbClr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Questions &amp; Discussion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3171</Words>
  <Application>WPS 演示</Application>
  <PresentationFormat/>
  <Paragraphs>274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Arial</vt:lpstr>
      <vt:lpstr>Symbol</vt:lpstr>
      <vt:lpstr>Kingsoft Sign</vt:lpstr>
      <vt:lpstr>Times New Roman</vt:lpstr>
      <vt:lpstr>Noto Sans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DejaVu Sans</vt:lpstr>
      <vt:lpstr>苹方-简</vt:lpstr>
      <vt:lpstr>Times New Roman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陈浩霖</cp:lastModifiedBy>
  <cp:revision>1</cp:revision>
  <dcterms:created xsi:type="dcterms:W3CDTF">2025-09-18T07:27:35Z</dcterms:created>
  <dcterms:modified xsi:type="dcterms:W3CDTF">2025-09-18T07:27:35Z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C7C6570A05E50C9266B4CB689027EEDF_42</vt:lpwstr>
  </property>
  <property fmtid="{D5CDD505-2E9C-101B-9397-08002B2CF9AE}" pid="3" name="KSOProductBuildVer">
    <vt:lpwstr>2052-12.1.22553.22553</vt:lpwstr>
  </property>
</Properties>
</file>