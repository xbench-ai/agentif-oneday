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7772400" cy="10058400"/>
  <p:embeddedFontLst>
    <p:embeddedFont>
      <p:font typeface="Noto Sans SC"/>
      <p:regular r:id="rId17"/>
      <p:bold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?>
<Relationships xmlns="http://schemas.openxmlformats.org/package/2006/relationships"><Relationship Id="rId1" Type="http://schemas.openxmlformats.org/officeDocument/2006/relationships/theme" Target="theme/theme1.xml" /><Relationship Id="rId2" Type="http://schemas.openxmlformats.org/officeDocument/2006/relationships/slideMaster" Target="slideMasters/slideMaster1.xml" /><Relationship Id="rId3" Type="http://schemas.openxmlformats.org/officeDocument/2006/relationships/slide" Target="slides/slide1.xml" /><Relationship Id="rId4" Type="http://schemas.openxmlformats.org/officeDocument/2006/relationships/slide" Target="slides/slide2.xml" /><Relationship Id="rId5" Type="http://schemas.openxmlformats.org/officeDocument/2006/relationships/slide" Target="slides/slide3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presProps" Target="presProps.xml" /><Relationship Id="rId17" Type="http://schemas.openxmlformats.org/officeDocument/2006/relationships/font" Target="fonts/font1.fntdata" /><Relationship Id="rId18" Type="http://schemas.openxmlformats.org/officeDocument/2006/relationships/font" Target="fonts/font2.fntdata" 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2b5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6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" name=""/>
          <p:cNvSpPr/>
          <p:nvPr/>
        </p:nvSpPr>
        <p:spPr>
          <a:xfrm>
            <a:off x="0" y="0"/>
            <a:ext cx="4067280" cy="6858000"/>
          </a:xfrm>
          <a:custGeom>
            <a:avLst/>
            <a:gdLst/>
            <a:ahLst/>
            <a:rect l="0" t="0" r="r" b="b"/>
            <a:pathLst>
              <a:path w="11298" h="19050">
                <a:moveTo>
                  <a:pt x="0" y="0"/>
                </a:moveTo>
                <a:lnTo>
                  <a:pt x="11298" y="0"/>
                </a:lnTo>
                <a:lnTo>
                  <a:pt x="7249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52d9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9143640" y="5143320"/>
            <a:ext cx="3048480" cy="1714680"/>
          </a:xfrm>
          <a:custGeom>
            <a:avLst/>
            <a:gdLst/>
            <a:ahLst/>
            <a:rect l="0" t="0" r="r" b="b"/>
            <a:pathLst>
              <a:path w="8468" h="4763">
                <a:moveTo>
                  <a:pt x="8256" y="0"/>
                </a:moveTo>
                <a:lnTo>
                  <a:pt x="8468" y="0"/>
                </a:lnTo>
                <a:lnTo>
                  <a:pt x="8468" y="4763"/>
                </a:lnTo>
                <a:lnTo>
                  <a:pt x="8256" y="4763"/>
                </a:lnTo>
                <a:lnTo>
                  <a:pt x="8256" y="0"/>
                </a:lnTo>
                <a:moveTo>
                  <a:pt x="0" y="4552"/>
                </a:moveTo>
                <a:lnTo>
                  <a:pt x="8468" y="4552"/>
                </a:lnTo>
                <a:lnTo>
                  <a:pt x="8468" y="4763"/>
                </a:lnTo>
                <a:lnTo>
                  <a:pt x="0" y="4763"/>
                </a:lnTo>
                <a:lnTo>
                  <a:pt x="0" y="4552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761760" y="3657240"/>
            <a:ext cx="914760" cy="57600"/>
          </a:xfrm>
          <a:custGeom>
            <a:avLst/>
            <a:gdLst/>
            <a:ahLst/>
            <a:rect l="0" t="0" r="r" b="b"/>
            <a:pathLst>
              <a:path w="2541" h="160">
                <a:moveTo>
                  <a:pt x="0" y="0"/>
                </a:moveTo>
                <a:lnTo>
                  <a:pt x="2541" y="0"/>
                </a:lnTo>
                <a:lnTo>
                  <a:pt x="2541" y="160"/>
                </a:lnTo>
                <a:lnTo>
                  <a:pt x="0" y="160"/>
                </a:lnTo>
                <a:lnTo>
                  <a:pt x="0" y="0"/>
                </a:lnTo>
                <a:close/>
              </a:path>
            </a:pathLst>
          </a:custGeom>
          <a:solidFill>
            <a:srgbClr val="00a4e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762120" y="1760760"/>
            <a:ext cx="3316320" cy="75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5400" strike="noStrike" u="none" i="0">
                <a:solidFill>
                  <a:srgbClr val="ffffff"/>
                </a:solidFill>
                <a:effectLst/>
                <a:uFillTx/>
                <a:latin typeface="Noto Sans SC"/>
                <a:ea typeface="Noto Sans SC"/>
              </a:rPr>
              <a:t>TENCENT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762120" y="2617920"/>
            <a:ext cx="5450400" cy="75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5400" strike="noStrike" u="none" i="0">
                <a:solidFill>
                  <a:srgbClr val="ffffff"/>
                </a:solidFill>
                <a:effectLst/>
                <a:uFillTx/>
                <a:latin typeface="Noto Sans SC"/>
                <a:ea typeface="Noto Sans SC"/>
              </a:rPr>
              <a:t>HOLDINGS LTD.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762120" y="3955320"/>
            <a:ext cx="2546640" cy="31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250" strike="noStrike" u="none" i="0">
                <a:solidFill>
                  <a:srgbClr val="ffffff">
                    <a:alpha val="90000"/>
                  </a:srgbClr>
                </a:solidFill>
                <a:effectLst/>
                <a:uFillTx/>
                <a:latin typeface="Noto Sans SC"/>
                <a:ea typeface="Noto Sans SC"/>
              </a:rPr>
              <a:t>Research Report 2025</a:t>
            </a:r>
            <a:endParaRPr b="0" lang="en-US" sz="22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762120" y="4628880"/>
            <a:ext cx="63266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ffffff">
                    <a:alpha val="70000"/>
                  </a:srgbClr>
                </a:solidFill>
                <a:effectLst/>
                <a:uFillTx/>
                <a:latin typeface="Noto Sans SC"/>
                <a:ea typeface="Noto Sans SC"/>
              </a:rPr>
              <a:t>A comprehensive analysis of Tencent's fundamentals, industry position, business operations,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762120" y="4905000"/>
            <a:ext cx="52722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ffffff">
                    <a:alpha val="70000"/>
                  </a:srgbClr>
                </a:solidFill>
                <a:effectLst/>
                <a:uFillTx/>
                <a:latin typeface="Noto Sans SC"/>
                <a:ea typeface="Noto Sans SC"/>
              </a:rPr>
              <a:t>and valuation, providing insights into its growth drivers and future prospects.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609480" y="1180800"/>
            <a:ext cx="762120" cy="38520"/>
          </a:xfrm>
          <a:custGeom>
            <a:avLst/>
            <a:gdLst/>
            <a:ahLst/>
            <a:rect l="0" t="0" r="r" b="b"/>
            <a:pathLst>
              <a:path w="2117" h="107">
                <a:moveTo>
                  <a:pt x="0" y="0"/>
                </a:moveTo>
                <a:lnTo>
                  <a:pt x="2117" y="0"/>
                </a:lnTo>
                <a:lnTo>
                  <a:pt x="2117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52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609480" y="583200"/>
            <a:ext cx="1499400" cy="506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600" strike="noStrike" u="none" i="0">
                <a:solidFill>
                  <a:srgbClr val="002b5c"/>
                </a:solidFill>
                <a:effectLst/>
                <a:uFillTx/>
                <a:latin typeface="Noto Sans SC"/>
                <a:ea typeface="Noto Sans SC"/>
              </a:rPr>
              <a:t>Agenda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666720" y="2056680"/>
            <a:ext cx="34380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700" strike="noStrike" u="none" i="0">
                <a:solidFill>
                  <a:srgbClr val="0052d9"/>
                </a:solidFill>
                <a:effectLst/>
                <a:uFillTx/>
                <a:latin typeface="Noto Sans SC"/>
                <a:ea typeface="Noto Sans SC"/>
              </a:rPr>
              <a:t>01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1295280" y="1968120"/>
            <a:ext cx="329076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Company Fundamentals Analysis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666720" y="2971080"/>
            <a:ext cx="34380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700" strike="noStrike" u="none" i="0">
                <a:solidFill>
                  <a:srgbClr val="0052d9"/>
                </a:solidFill>
                <a:effectLst/>
                <a:uFillTx/>
                <a:latin typeface="Noto Sans SC"/>
                <a:ea typeface="Noto Sans SC"/>
              </a:rPr>
              <a:t>02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1295280" y="2882520"/>
            <a:ext cx="28465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Industry Landscape Analysis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666720" y="3885480"/>
            <a:ext cx="34380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700" strike="noStrike" u="none" i="0">
                <a:solidFill>
                  <a:srgbClr val="0052d9"/>
                </a:solidFill>
                <a:effectLst/>
                <a:uFillTx/>
                <a:latin typeface="Noto Sans SC"/>
                <a:ea typeface="Noto Sans SC"/>
              </a:rPr>
              <a:t>03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1295280" y="3796920"/>
            <a:ext cx="28717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Business Operations Analysis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666720" y="4799880"/>
            <a:ext cx="34380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700" strike="noStrike" u="none" i="0">
                <a:solidFill>
                  <a:srgbClr val="0052d9"/>
                </a:solidFill>
                <a:effectLst/>
                <a:uFillTx/>
                <a:latin typeface="Noto Sans SC"/>
                <a:ea typeface="Noto Sans SC"/>
              </a:rPr>
              <a:t>04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1295280" y="4711320"/>
            <a:ext cx="360720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DCF Valuation &amp; Financial Forecast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9168120" y="6045840"/>
            <a:ext cx="24256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9ca3af"/>
                </a:solidFill>
                <a:effectLst/>
                <a:uFillTx/>
                <a:latin typeface="Times New Roman"/>
                <a:ea typeface="Times New Roman"/>
              </a:rPr>
              <a:t>Tencent Holdings Ltd. Research Report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1295280" y="2323800"/>
            <a:ext cx="42804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333333">
                    <a:alpha val="70000"/>
                  </a:srgbClr>
                </a:solidFill>
                <a:effectLst/>
                <a:uFillTx/>
                <a:latin typeface="Noto Sans SC"/>
                <a:ea typeface="Noto Sans SC"/>
              </a:rPr>
              <a:t>Company overview, financial performance, core competencies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1295280" y="3238200"/>
            <a:ext cx="34941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333333">
                    <a:alpha val="70000"/>
                  </a:srgbClr>
                </a:solidFill>
                <a:effectLst/>
                <a:uFillTx/>
                <a:latin typeface="Noto Sans SC"/>
                <a:ea typeface="Noto Sans SC"/>
              </a:rPr>
              <a:t>Market size, competitive dynamics, industry trends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1295280" y="4152600"/>
            <a:ext cx="39207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333333">
                    <a:alpha val="70000"/>
                  </a:srgbClr>
                </a:solidFill>
                <a:effectLst/>
                <a:uFillTx/>
                <a:latin typeface="Noto Sans SC"/>
                <a:ea typeface="Noto Sans SC"/>
              </a:rPr>
              <a:t>Business model, revenue breakdown, operating strategies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1295280" y="5067000"/>
            <a:ext cx="43192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333333">
                    <a:alpha val="70000"/>
                  </a:srgbClr>
                </a:solidFill>
                <a:effectLst/>
                <a:uFillTx/>
                <a:latin typeface="Noto Sans SC"/>
                <a:ea typeface="Noto Sans SC"/>
              </a:rPr>
              <a:t>Valuation methodology, key assumptions, financial projections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457200" y="3161880"/>
            <a:ext cx="48308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Founded in 1998, headquartered in Shenzhen, a leading global internet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457200" y="3438000"/>
            <a:ext cx="49734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technology company with core businesses in social, gaming, advertising,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456840" y="4314600"/>
            <a:ext cx="48240" cy="47880"/>
          </a:xfrm>
          <a:custGeom>
            <a:avLst/>
            <a:gdLst/>
            <a:ahLst/>
            <a:rect l="0" t="0" r="r" b="b"/>
            <a:pathLst>
              <a:path w="134" h="133">
                <a:moveTo>
                  <a:pt x="134" y="66"/>
                </a:moveTo>
                <a:cubicBezTo>
                  <a:pt x="134" y="75"/>
                  <a:pt x="132" y="83"/>
                  <a:pt x="129" y="92"/>
                </a:cubicBezTo>
                <a:cubicBezTo>
                  <a:pt x="125" y="101"/>
                  <a:pt x="121" y="108"/>
                  <a:pt x="113" y="114"/>
                </a:cubicBezTo>
                <a:cubicBezTo>
                  <a:pt x="107" y="120"/>
                  <a:pt x="100" y="125"/>
                  <a:pt x="92" y="128"/>
                </a:cubicBezTo>
                <a:cubicBezTo>
                  <a:pt x="84" y="132"/>
                  <a:pt x="75" y="133"/>
                  <a:pt x="67" y="133"/>
                </a:cubicBezTo>
                <a:cubicBezTo>
                  <a:pt x="58" y="133"/>
                  <a:pt x="49" y="132"/>
                  <a:pt x="41" y="128"/>
                </a:cubicBezTo>
                <a:cubicBezTo>
                  <a:pt x="33" y="125"/>
                  <a:pt x="26" y="120"/>
                  <a:pt x="20" y="114"/>
                </a:cubicBezTo>
                <a:cubicBezTo>
                  <a:pt x="14" y="108"/>
                  <a:pt x="9" y="101"/>
                  <a:pt x="6" y="92"/>
                </a:cubicBezTo>
                <a:cubicBezTo>
                  <a:pt x="2" y="83"/>
                  <a:pt x="0" y="75"/>
                  <a:pt x="0" y="66"/>
                </a:cubicBezTo>
                <a:cubicBezTo>
                  <a:pt x="0" y="57"/>
                  <a:pt x="2" y="49"/>
                  <a:pt x="6" y="41"/>
                </a:cubicBezTo>
                <a:cubicBezTo>
                  <a:pt x="9" y="33"/>
                  <a:pt x="14" y="26"/>
                  <a:pt x="20" y="19"/>
                </a:cubicBezTo>
                <a:cubicBezTo>
                  <a:pt x="26" y="13"/>
                  <a:pt x="33" y="9"/>
                  <a:pt x="41" y="5"/>
                </a:cubicBezTo>
                <a:cubicBezTo>
                  <a:pt x="49" y="2"/>
                  <a:pt x="58" y="0"/>
                  <a:pt x="67" y="0"/>
                </a:cubicBezTo>
                <a:cubicBezTo>
                  <a:pt x="75" y="0"/>
                  <a:pt x="84" y="2"/>
                  <a:pt x="92" y="5"/>
                </a:cubicBezTo>
                <a:cubicBezTo>
                  <a:pt x="100" y="9"/>
                  <a:pt x="107" y="13"/>
                  <a:pt x="113" y="19"/>
                </a:cubicBezTo>
                <a:cubicBezTo>
                  <a:pt x="121" y="26"/>
                  <a:pt x="125" y="33"/>
                  <a:pt x="129" y="41"/>
                </a:cubicBezTo>
                <a:cubicBezTo>
                  <a:pt x="132" y="49"/>
                  <a:pt x="134" y="57"/>
                  <a:pt x="134" y="66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457200" y="3723840"/>
            <a:ext cx="215712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fintech, and enterprise services.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456840" y="4657680"/>
            <a:ext cx="48240" cy="47880"/>
          </a:xfrm>
          <a:custGeom>
            <a:avLst/>
            <a:gdLst/>
            <a:ahLst/>
            <a:rect l="0" t="0" r="r" b="b"/>
            <a:pathLst>
              <a:path w="134" h="133">
                <a:moveTo>
                  <a:pt x="134" y="67"/>
                </a:moveTo>
                <a:cubicBezTo>
                  <a:pt x="134" y="76"/>
                  <a:pt x="132" y="84"/>
                  <a:pt x="129" y="92"/>
                </a:cubicBezTo>
                <a:cubicBezTo>
                  <a:pt x="125" y="100"/>
                  <a:pt x="121" y="107"/>
                  <a:pt x="113" y="114"/>
                </a:cubicBezTo>
                <a:cubicBezTo>
                  <a:pt x="107" y="120"/>
                  <a:pt x="100" y="125"/>
                  <a:pt x="92" y="128"/>
                </a:cubicBezTo>
                <a:cubicBezTo>
                  <a:pt x="84" y="131"/>
                  <a:pt x="75" y="133"/>
                  <a:pt x="67" y="133"/>
                </a:cubicBezTo>
                <a:cubicBezTo>
                  <a:pt x="58" y="133"/>
                  <a:pt x="49" y="131"/>
                  <a:pt x="41" y="128"/>
                </a:cubicBezTo>
                <a:cubicBezTo>
                  <a:pt x="33" y="125"/>
                  <a:pt x="26" y="120"/>
                  <a:pt x="20" y="114"/>
                </a:cubicBezTo>
                <a:cubicBezTo>
                  <a:pt x="14" y="107"/>
                  <a:pt x="9" y="100"/>
                  <a:pt x="6" y="92"/>
                </a:cubicBezTo>
                <a:cubicBezTo>
                  <a:pt x="2" y="84"/>
                  <a:pt x="0" y="76"/>
                  <a:pt x="0" y="67"/>
                </a:cubicBezTo>
                <a:cubicBezTo>
                  <a:pt x="0" y="57"/>
                  <a:pt x="2" y="49"/>
                  <a:pt x="6" y="40"/>
                </a:cubicBezTo>
                <a:cubicBezTo>
                  <a:pt x="9" y="32"/>
                  <a:pt x="14" y="25"/>
                  <a:pt x="20" y="19"/>
                </a:cubicBezTo>
                <a:cubicBezTo>
                  <a:pt x="26" y="13"/>
                  <a:pt x="33" y="8"/>
                  <a:pt x="41" y="5"/>
                </a:cubicBezTo>
                <a:cubicBezTo>
                  <a:pt x="49" y="1"/>
                  <a:pt x="58" y="0"/>
                  <a:pt x="67" y="0"/>
                </a:cubicBezTo>
                <a:cubicBezTo>
                  <a:pt x="75" y="0"/>
                  <a:pt x="84" y="1"/>
                  <a:pt x="92" y="5"/>
                </a:cubicBezTo>
                <a:cubicBezTo>
                  <a:pt x="100" y="8"/>
                  <a:pt x="107" y="13"/>
                  <a:pt x="113" y="19"/>
                </a:cubicBezTo>
                <a:cubicBezTo>
                  <a:pt x="121" y="25"/>
                  <a:pt x="125" y="32"/>
                  <a:pt x="129" y="40"/>
                </a:cubicBezTo>
                <a:cubicBezTo>
                  <a:pt x="132" y="49"/>
                  <a:pt x="134" y="57"/>
                  <a:pt x="134" y="67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685800" y="4228560"/>
            <a:ext cx="17262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Mission</a:t>
            </a:r>
            <a:r>
              <a:rPr b="0" lang="en-US" sz="135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: 'Tech for Good'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0" name="" descr=""/>
          <p:cNvPicPr/>
          <p:nvPr/>
        </p:nvPicPr>
        <p:blipFill>
          <a:blip r:embed="rId1"/>
          <a:stretch/>
        </p:blipFill>
        <p:spPr>
          <a:xfrm>
            <a:off x="6324480" y="2428920"/>
            <a:ext cx="5409720" cy="306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"/>
          <p:cNvSpPr/>
          <p:nvPr/>
        </p:nvSpPr>
        <p:spPr>
          <a:xfrm>
            <a:off x="456840" y="914040"/>
            <a:ext cx="610200" cy="38520"/>
          </a:xfrm>
          <a:custGeom>
            <a:avLst/>
            <a:gdLst/>
            <a:ahLst/>
            <a:rect l="0" t="0" r="r" b="b"/>
            <a:pathLst>
              <a:path w="1695" h="107">
                <a:moveTo>
                  <a:pt x="0" y="0"/>
                </a:moveTo>
                <a:lnTo>
                  <a:pt x="1695" y="0"/>
                </a:lnTo>
                <a:lnTo>
                  <a:pt x="1695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52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685800" y="4571640"/>
            <a:ext cx="30441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Global Presence</a:t>
            </a:r>
            <a:r>
              <a:rPr b="0" lang="en-US" sz="135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: Over 20 countries/regions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457200" y="456480"/>
            <a:ext cx="292464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700" strike="noStrike" u="none" i="0">
                <a:solidFill>
                  <a:srgbClr val="002b5c"/>
                </a:solidFill>
                <a:effectLst/>
                <a:uFillTx/>
                <a:latin typeface="Noto Sans SC"/>
                <a:ea typeface="Noto Sans SC"/>
              </a:rPr>
              <a:t>Company Overview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304920" y="6350760"/>
            <a:ext cx="24256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9ca3af"/>
                </a:solidFill>
                <a:effectLst/>
                <a:uFillTx/>
                <a:latin typeface="Noto Sans SC"/>
                <a:ea typeface="Noto Sans SC"/>
              </a:rPr>
              <a:t>Tencent Holdings Ltd. Research Report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11810880" y="6350760"/>
            <a:ext cx="151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9ca3af"/>
                </a:solidFill>
                <a:effectLst/>
                <a:uFillTx/>
                <a:latin typeface="Times New Roman"/>
                <a:ea typeface="Times New Roman"/>
              </a:rPr>
              <a:t>3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456840" y="914040"/>
            <a:ext cx="610200" cy="38520"/>
          </a:xfrm>
          <a:custGeom>
            <a:avLst/>
            <a:gdLst/>
            <a:ahLst/>
            <a:rect l="0" t="0" r="r" b="b"/>
            <a:pathLst>
              <a:path w="1695" h="107">
                <a:moveTo>
                  <a:pt x="0" y="0"/>
                </a:moveTo>
                <a:lnTo>
                  <a:pt x="1695" y="0"/>
                </a:lnTo>
                <a:lnTo>
                  <a:pt x="1695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52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461880" y="1461960"/>
            <a:ext cx="5401080" cy="1190880"/>
          </a:xfrm>
          <a:custGeom>
            <a:avLst/>
            <a:gdLst/>
            <a:ahLst/>
            <a:rect l="0" t="0" r="r" b="b"/>
            <a:pathLst>
              <a:path w="15003" h="3308">
                <a:moveTo>
                  <a:pt x="0" y="3110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14804" y="0"/>
                </a:lnTo>
                <a:cubicBezTo>
                  <a:pt x="14817" y="0"/>
                  <a:pt x="14830" y="1"/>
                  <a:pt x="14843" y="4"/>
                </a:cubicBezTo>
                <a:cubicBezTo>
                  <a:pt x="14856" y="6"/>
                  <a:pt x="14868" y="10"/>
                  <a:pt x="14880" y="15"/>
                </a:cubicBezTo>
                <a:cubicBezTo>
                  <a:pt x="14892" y="20"/>
                  <a:pt x="14904" y="26"/>
                  <a:pt x="14914" y="33"/>
                </a:cubicBezTo>
                <a:cubicBezTo>
                  <a:pt x="14925" y="41"/>
                  <a:pt x="14935" y="49"/>
                  <a:pt x="14944" y="58"/>
                </a:cubicBezTo>
                <a:cubicBezTo>
                  <a:pt x="14954" y="67"/>
                  <a:pt x="14962" y="77"/>
                  <a:pt x="14969" y="88"/>
                </a:cubicBezTo>
                <a:cubicBezTo>
                  <a:pt x="14976" y="99"/>
                  <a:pt x="14983" y="110"/>
                  <a:pt x="14987" y="122"/>
                </a:cubicBezTo>
                <a:cubicBezTo>
                  <a:pt x="14992" y="134"/>
                  <a:pt x="14996" y="147"/>
                  <a:pt x="14999" y="160"/>
                </a:cubicBezTo>
                <a:cubicBezTo>
                  <a:pt x="15001" y="172"/>
                  <a:pt x="15003" y="185"/>
                  <a:pt x="15003" y="198"/>
                </a:cubicBezTo>
                <a:lnTo>
                  <a:pt x="15003" y="3110"/>
                </a:lnTo>
                <a:cubicBezTo>
                  <a:pt x="15003" y="3123"/>
                  <a:pt x="15001" y="3136"/>
                  <a:pt x="14999" y="3148"/>
                </a:cubicBezTo>
                <a:cubicBezTo>
                  <a:pt x="14996" y="3161"/>
                  <a:pt x="14992" y="3174"/>
                  <a:pt x="14987" y="3186"/>
                </a:cubicBezTo>
                <a:cubicBezTo>
                  <a:pt x="14983" y="3198"/>
                  <a:pt x="14976" y="3209"/>
                  <a:pt x="14969" y="3220"/>
                </a:cubicBezTo>
                <a:cubicBezTo>
                  <a:pt x="14962" y="3231"/>
                  <a:pt x="14954" y="3241"/>
                  <a:pt x="14944" y="3250"/>
                </a:cubicBezTo>
                <a:cubicBezTo>
                  <a:pt x="14935" y="3259"/>
                  <a:pt x="14925" y="3267"/>
                  <a:pt x="14914" y="3275"/>
                </a:cubicBezTo>
                <a:cubicBezTo>
                  <a:pt x="14904" y="3282"/>
                  <a:pt x="14892" y="3288"/>
                  <a:pt x="14880" y="3293"/>
                </a:cubicBezTo>
                <a:cubicBezTo>
                  <a:pt x="14868" y="3298"/>
                  <a:pt x="14856" y="3302"/>
                  <a:pt x="14843" y="3304"/>
                </a:cubicBezTo>
                <a:cubicBezTo>
                  <a:pt x="14830" y="3307"/>
                  <a:pt x="14817" y="3308"/>
                  <a:pt x="14804" y="3308"/>
                </a:cubicBezTo>
                <a:lnTo>
                  <a:pt x="198" y="3308"/>
                </a:lnTo>
                <a:cubicBezTo>
                  <a:pt x="185" y="3308"/>
                  <a:pt x="172" y="3307"/>
                  <a:pt x="159" y="3304"/>
                </a:cubicBezTo>
                <a:cubicBezTo>
                  <a:pt x="147" y="3302"/>
                  <a:pt x="134" y="3298"/>
                  <a:pt x="122" y="3293"/>
                </a:cubicBezTo>
                <a:cubicBezTo>
                  <a:pt x="110" y="3288"/>
                  <a:pt x="99" y="3282"/>
                  <a:pt x="88" y="3275"/>
                </a:cubicBezTo>
                <a:cubicBezTo>
                  <a:pt x="77" y="3267"/>
                  <a:pt x="67" y="3259"/>
                  <a:pt x="58" y="3250"/>
                </a:cubicBezTo>
                <a:cubicBezTo>
                  <a:pt x="49" y="3241"/>
                  <a:pt x="40" y="3231"/>
                  <a:pt x="33" y="3220"/>
                </a:cubicBezTo>
                <a:cubicBezTo>
                  <a:pt x="26" y="3209"/>
                  <a:pt x="20" y="3198"/>
                  <a:pt x="15" y="3186"/>
                </a:cubicBezTo>
                <a:cubicBezTo>
                  <a:pt x="10" y="3174"/>
                  <a:pt x="6" y="3161"/>
                  <a:pt x="4" y="3148"/>
                </a:cubicBezTo>
                <a:cubicBezTo>
                  <a:pt x="1" y="3136"/>
                  <a:pt x="0" y="3123"/>
                  <a:pt x="0" y="3110"/>
                </a:cubicBez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461880" y="1461960"/>
            <a:ext cx="5401080" cy="1190880"/>
          </a:xfrm>
          <a:custGeom>
            <a:avLst/>
            <a:gdLst/>
            <a:ahLst/>
            <a:rect l="0" t="0" r="r" b="b"/>
            <a:pathLst>
              <a:path fill="none" w="15003" h="3308">
                <a:moveTo>
                  <a:pt x="0" y="3110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14804" y="0"/>
                </a:lnTo>
                <a:cubicBezTo>
                  <a:pt x="14817" y="0"/>
                  <a:pt x="14830" y="1"/>
                  <a:pt x="14843" y="4"/>
                </a:cubicBezTo>
                <a:cubicBezTo>
                  <a:pt x="14856" y="6"/>
                  <a:pt x="14868" y="10"/>
                  <a:pt x="14880" y="15"/>
                </a:cubicBezTo>
                <a:cubicBezTo>
                  <a:pt x="14892" y="20"/>
                  <a:pt x="14904" y="26"/>
                  <a:pt x="14914" y="33"/>
                </a:cubicBezTo>
                <a:cubicBezTo>
                  <a:pt x="14925" y="41"/>
                  <a:pt x="14935" y="49"/>
                  <a:pt x="14944" y="58"/>
                </a:cubicBezTo>
                <a:cubicBezTo>
                  <a:pt x="14954" y="67"/>
                  <a:pt x="14962" y="77"/>
                  <a:pt x="14969" y="88"/>
                </a:cubicBezTo>
                <a:cubicBezTo>
                  <a:pt x="14976" y="99"/>
                  <a:pt x="14983" y="110"/>
                  <a:pt x="14987" y="122"/>
                </a:cubicBezTo>
                <a:cubicBezTo>
                  <a:pt x="14992" y="134"/>
                  <a:pt x="14996" y="147"/>
                  <a:pt x="14999" y="160"/>
                </a:cubicBezTo>
                <a:cubicBezTo>
                  <a:pt x="15001" y="172"/>
                  <a:pt x="15003" y="185"/>
                  <a:pt x="15003" y="198"/>
                </a:cubicBezTo>
                <a:lnTo>
                  <a:pt x="15003" y="3110"/>
                </a:lnTo>
                <a:cubicBezTo>
                  <a:pt x="15003" y="3123"/>
                  <a:pt x="15001" y="3136"/>
                  <a:pt x="14999" y="3148"/>
                </a:cubicBezTo>
                <a:cubicBezTo>
                  <a:pt x="14996" y="3161"/>
                  <a:pt x="14992" y="3174"/>
                  <a:pt x="14987" y="3186"/>
                </a:cubicBezTo>
                <a:cubicBezTo>
                  <a:pt x="14983" y="3198"/>
                  <a:pt x="14976" y="3209"/>
                  <a:pt x="14969" y="3220"/>
                </a:cubicBezTo>
                <a:cubicBezTo>
                  <a:pt x="14962" y="3231"/>
                  <a:pt x="14954" y="3241"/>
                  <a:pt x="14944" y="3250"/>
                </a:cubicBezTo>
                <a:cubicBezTo>
                  <a:pt x="14935" y="3259"/>
                  <a:pt x="14925" y="3267"/>
                  <a:pt x="14914" y="3275"/>
                </a:cubicBezTo>
                <a:cubicBezTo>
                  <a:pt x="14904" y="3282"/>
                  <a:pt x="14892" y="3288"/>
                  <a:pt x="14880" y="3293"/>
                </a:cubicBezTo>
                <a:cubicBezTo>
                  <a:pt x="14868" y="3298"/>
                  <a:pt x="14856" y="3302"/>
                  <a:pt x="14843" y="3304"/>
                </a:cubicBezTo>
                <a:cubicBezTo>
                  <a:pt x="14830" y="3307"/>
                  <a:pt x="14817" y="3308"/>
                  <a:pt x="14804" y="3308"/>
                </a:cubicBezTo>
                <a:lnTo>
                  <a:pt x="198" y="3308"/>
                </a:lnTo>
                <a:cubicBezTo>
                  <a:pt x="185" y="3308"/>
                  <a:pt x="172" y="3307"/>
                  <a:pt x="159" y="3304"/>
                </a:cubicBezTo>
                <a:cubicBezTo>
                  <a:pt x="147" y="3302"/>
                  <a:pt x="134" y="3298"/>
                  <a:pt x="122" y="3293"/>
                </a:cubicBezTo>
                <a:cubicBezTo>
                  <a:pt x="110" y="3288"/>
                  <a:pt x="99" y="3282"/>
                  <a:pt x="88" y="3275"/>
                </a:cubicBezTo>
                <a:cubicBezTo>
                  <a:pt x="77" y="3267"/>
                  <a:pt x="67" y="3259"/>
                  <a:pt x="58" y="3250"/>
                </a:cubicBezTo>
                <a:cubicBezTo>
                  <a:pt x="49" y="3241"/>
                  <a:pt x="40" y="3231"/>
                  <a:pt x="33" y="3220"/>
                </a:cubicBezTo>
                <a:cubicBezTo>
                  <a:pt x="26" y="3209"/>
                  <a:pt x="20" y="3198"/>
                  <a:pt x="15" y="3186"/>
                </a:cubicBezTo>
                <a:cubicBezTo>
                  <a:pt x="10" y="3174"/>
                  <a:pt x="6" y="3161"/>
                  <a:pt x="4" y="3148"/>
                </a:cubicBezTo>
                <a:cubicBezTo>
                  <a:pt x="1" y="3136"/>
                  <a:pt x="0" y="3123"/>
                  <a:pt x="0" y="3110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457200" y="456480"/>
            <a:ext cx="413352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700" strike="noStrike" u="none" i="0">
                <a:solidFill>
                  <a:srgbClr val="002b5c"/>
                </a:solidFill>
                <a:effectLst/>
                <a:uFillTx/>
                <a:latin typeface="Noto Sans SC"/>
                <a:ea typeface="Noto Sans SC"/>
              </a:rPr>
              <a:t>Financial Performance 2024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695160" y="1725840"/>
            <a:ext cx="6991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 i="0">
                <a:solidFill>
                  <a:srgbClr val="0052d9"/>
                </a:solidFill>
                <a:effectLst/>
                <a:uFillTx/>
                <a:latin typeface="Noto Sans SC"/>
                <a:ea typeface="Noto Sans SC"/>
              </a:rPr>
              <a:t>Revenue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695160" y="2139480"/>
            <a:ext cx="5659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RMB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1260720" y="2037600"/>
            <a:ext cx="77220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700" strike="noStrike" u="none" i="0">
                <a:solidFill>
                  <a:srgbClr val="002b5c"/>
                </a:solidFill>
                <a:effectLst/>
                <a:uFillTx/>
                <a:latin typeface="Noto Sans SC"/>
                <a:ea typeface="Noto Sans SC"/>
              </a:rPr>
              <a:t>660.3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6329160" y="1461960"/>
            <a:ext cx="5401080" cy="1190880"/>
          </a:xfrm>
          <a:custGeom>
            <a:avLst/>
            <a:gdLst/>
            <a:ahLst/>
            <a:rect l="0" t="0" r="r" b="b"/>
            <a:pathLst>
              <a:path w="15003" h="3308">
                <a:moveTo>
                  <a:pt x="0" y="3110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4" y="88"/>
                </a:cubicBezTo>
                <a:cubicBezTo>
                  <a:pt x="41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4"/>
                </a:cubicBezTo>
                <a:cubicBezTo>
                  <a:pt x="173" y="1"/>
                  <a:pt x="185" y="0"/>
                  <a:pt x="198" y="0"/>
                </a:cubicBezTo>
                <a:lnTo>
                  <a:pt x="14804" y="0"/>
                </a:lnTo>
                <a:cubicBezTo>
                  <a:pt x="14818" y="0"/>
                  <a:pt x="14830" y="1"/>
                  <a:pt x="14843" y="4"/>
                </a:cubicBezTo>
                <a:cubicBezTo>
                  <a:pt x="14856" y="6"/>
                  <a:pt x="14868" y="10"/>
                  <a:pt x="14880" y="15"/>
                </a:cubicBezTo>
                <a:cubicBezTo>
                  <a:pt x="14892" y="20"/>
                  <a:pt x="14904" y="26"/>
                  <a:pt x="14915" y="33"/>
                </a:cubicBezTo>
                <a:cubicBezTo>
                  <a:pt x="14926" y="41"/>
                  <a:pt x="14936" y="49"/>
                  <a:pt x="14945" y="58"/>
                </a:cubicBezTo>
                <a:cubicBezTo>
                  <a:pt x="14954" y="67"/>
                  <a:pt x="14962" y="77"/>
                  <a:pt x="14969" y="88"/>
                </a:cubicBezTo>
                <a:cubicBezTo>
                  <a:pt x="14977" y="99"/>
                  <a:pt x="14983" y="110"/>
                  <a:pt x="14988" y="122"/>
                </a:cubicBezTo>
                <a:cubicBezTo>
                  <a:pt x="14993" y="134"/>
                  <a:pt x="14997" y="147"/>
                  <a:pt x="14999" y="160"/>
                </a:cubicBezTo>
                <a:cubicBezTo>
                  <a:pt x="15002" y="172"/>
                  <a:pt x="15003" y="185"/>
                  <a:pt x="15003" y="198"/>
                </a:cubicBezTo>
                <a:lnTo>
                  <a:pt x="15003" y="3110"/>
                </a:lnTo>
                <a:cubicBezTo>
                  <a:pt x="15003" y="3123"/>
                  <a:pt x="15002" y="3136"/>
                  <a:pt x="14999" y="3148"/>
                </a:cubicBezTo>
                <a:cubicBezTo>
                  <a:pt x="14997" y="3161"/>
                  <a:pt x="14993" y="3174"/>
                  <a:pt x="14988" y="3186"/>
                </a:cubicBezTo>
                <a:cubicBezTo>
                  <a:pt x="14983" y="3198"/>
                  <a:pt x="14977" y="3209"/>
                  <a:pt x="14969" y="3220"/>
                </a:cubicBezTo>
                <a:cubicBezTo>
                  <a:pt x="14962" y="3231"/>
                  <a:pt x="14954" y="3241"/>
                  <a:pt x="14945" y="3250"/>
                </a:cubicBezTo>
                <a:cubicBezTo>
                  <a:pt x="14936" y="3259"/>
                  <a:pt x="14926" y="3267"/>
                  <a:pt x="14915" y="3275"/>
                </a:cubicBezTo>
                <a:cubicBezTo>
                  <a:pt x="14904" y="3282"/>
                  <a:pt x="14892" y="3288"/>
                  <a:pt x="14880" y="3293"/>
                </a:cubicBezTo>
                <a:cubicBezTo>
                  <a:pt x="14868" y="3298"/>
                  <a:pt x="14856" y="3302"/>
                  <a:pt x="14843" y="3304"/>
                </a:cubicBezTo>
                <a:cubicBezTo>
                  <a:pt x="14830" y="3307"/>
                  <a:pt x="14818" y="3308"/>
                  <a:pt x="14804" y="3308"/>
                </a:cubicBezTo>
                <a:lnTo>
                  <a:pt x="198" y="3308"/>
                </a:lnTo>
                <a:cubicBezTo>
                  <a:pt x="185" y="3308"/>
                  <a:pt x="173" y="3307"/>
                  <a:pt x="160" y="3304"/>
                </a:cubicBezTo>
                <a:cubicBezTo>
                  <a:pt x="147" y="3302"/>
                  <a:pt x="135" y="3298"/>
                  <a:pt x="123" y="3293"/>
                </a:cubicBezTo>
                <a:cubicBezTo>
                  <a:pt x="111" y="3288"/>
                  <a:pt x="99" y="3282"/>
                  <a:pt x="88" y="3275"/>
                </a:cubicBezTo>
                <a:cubicBezTo>
                  <a:pt x="77" y="3267"/>
                  <a:pt x="67" y="3259"/>
                  <a:pt x="58" y="3250"/>
                </a:cubicBezTo>
                <a:cubicBezTo>
                  <a:pt x="49" y="3241"/>
                  <a:pt x="41" y="3231"/>
                  <a:pt x="34" y="3220"/>
                </a:cubicBezTo>
                <a:cubicBezTo>
                  <a:pt x="26" y="3209"/>
                  <a:pt x="20" y="3198"/>
                  <a:pt x="15" y="3186"/>
                </a:cubicBezTo>
                <a:cubicBezTo>
                  <a:pt x="10" y="3174"/>
                  <a:pt x="6" y="3161"/>
                  <a:pt x="4" y="3148"/>
                </a:cubicBezTo>
                <a:cubicBezTo>
                  <a:pt x="1" y="3136"/>
                  <a:pt x="0" y="3123"/>
                  <a:pt x="0" y="3110"/>
                </a:cubicBez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6329160" y="1461960"/>
            <a:ext cx="5401080" cy="1190880"/>
          </a:xfrm>
          <a:custGeom>
            <a:avLst/>
            <a:gdLst/>
            <a:ahLst/>
            <a:rect l="0" t="0" r="r" b="b"/>
            <a:pathLst>
              <a:path fill="none" w="15003" h="3308">
                <a:moveTo>
                  <a:pt x="0" y="3110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4" y="88"/>
                </a:cubicBezTo>
                <a:cubicBezTo>
                  <a:pt x="41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4"/>
                </a:cubicBezTo>
                <a:cubicBezTo>
                  <a:pt x="173" y="1"/>
                  <a:pt x="185" y="0"/>
                  <a:pt x="198" y="0"/>
                </a:cubicBezTo>
                <a:lnTo>
                  <a:pt x="14804" y="0"/>
                </a:lnTo>
                <a:cubicBezTo>
                  <a:pt x="14818" y="0"/>
                  <a:pt x="14830" y="1"/>
                  <a:pt x="14843" y="4"/>
                </a:cubicBezTo>
                <a:cubicBezTo>
                  <a:pt x="14856" y="6"/>
                  <a:pt x="14868" y="10"/>
                  <a:pt x="14880" y="15"/>
                </a:cubicBezTo>
                <a:cubicBezTo>
                  <a:pt x="14892" y="20"/>
                  <a:pt x="14904" y="26"/>
                  <a:pt x="14915" y="33"/>
                </a:cubicBezTo>
                <a:cubicBezTo>
                  <a:pt x="14926" y="41"/>
                  <a:pt x="14936" y="49"/>
                  <a:pt x="14945" y="58"/>
                </a:cubicBezTo>
                <a:cubicBezTo>
                  <a:pt x="14954" y="67"/>
                  <a:pt x="14962" y="77"/>
                  <a:pt x="14969" y="88"/>
                </a:cubicBezTo>
                <a:cubicBezTo>
                  <a:pt x="14977" y="99"/>
                  <a:pt x="14983" y="110"/>
                  <a:pt x="14988" y="122"/>
                </a:cubicBezTo>
                <a:cubicBezTo>
                  <a:pt x="14993" y="134"/>
                  <a:pt x="14997" y="147"/>
                  <a:pt x="14999" y="160"/>
                </a:cubicBezTo>
                <a:cubicBezTo>
                  <a:pt x="15002" y="172"/>
                  <a:pt x="15003" y="185"/>
                  <a:pt x="15003" y="198"/>
                </a:cubicBezTo>
                <a:lnTo>
                  <a:pt x="15003" y="3110"/>
                </a:lnTo>
                <a:cubicBezTo>
                  <a:pt x="15003" y="3123"/>
                  <a:pt x="15002" y="3136"/>
                  <a:pt x="14999" y="3148"/>
                </a:cubicBezTo>
                <a:cubicBezTo>
                  <a:pt x="14997" y="3161"/>
                  <a:pt x="14993" y="3174"/>
                  <a:pt x="14988" y="3186"/>
                </a:cubicBezTo>
                <a:cubicBezTo>
                  <a:pt x="14983" y="3198"/>
                  <a:pt x="14977" y="3209"/>
                  <a:pt x="14969" y="3220"/>
                </a:cubicBezTo>
                <a:cubicBezTo>
                  <a:pt x="14962" y="3231"/>
                  <a:pt x="14954" y="3241"/>
                  <a:pt x="14945" y="3250"/>
                </a:cubicBezTo>
                <a:cubicBezTo>
                  <a:pt x="14936" y="3259"/>
                  <a:pt x="14926" y="3267"/>
                  <a:pt x="14915" y="3275"/>
                </a:cubicBezTo>
                <a:cubicBezTo>
                  <a:pt x="14904" y="3282"/>
                  <a:pt x="14892" y="3288"/>
                  <a:pt x="14880" y="3293"/>
                </a:cubicBezTo>
                <a:cubicBezTo>
                  <a:pt x="14868" y="3298"/>
                  <a:pt x="14856" y="3302"/>
                  <a:pt x="14843" y="3304"/>
                </a:cubicBezTo>
                <a:cubicBezTo>
                  <a:pt x="14830" y="3307"/>
                  <a:pt x="14818" y="3308"/>
                  <a:pt x="14804" y="3308"/>
                </a:cubicBezTo>
                <a:lnTo>
                  <a:pt x="198" y="3308"/>
                </a:lnTo>
                <a:cubicBezTo>
                  <a:pt x="185" y="3308"/>
                  <a:pt x="173" y="3307"/>
                  <a:pt x="160" y="3304"/>
                </a:cubicBezTo>
                <a:cubicBezTo>
                  <a:pt x="147" y="3302"/>
                  <a:pt x="135" y="3298"/>
                  <a:pt x="123" y="3293"/>
                </a:cubicBezTo>
                <a:cubicBezTo>
                  <a:pt x="111" y="3288"/>
                  <a:pt x="99" y="3282"/>
                  <a:pt x="88" y="3275"/>
                </a:cubicBezTo>
                <a:cubicBezTo>
                  <a:pt x="77" y="3267"/>
                  <a:pt x="67" y="3259"/>
                  <a:pt x="58" y="3250"/>
                </a:cubicBezTo>
                <a:cubicBezTo>
                  <a:pt x="49" y="3241"/>
                  <a:pt x="41" y="3231"/>
                  <a:pt x="34" y="3220"/>
                </a:cubicBezTo>
                <a:cubicBezTo>
                  <a:pt x="26" y="3209"/>
                  <a:pt x="20" y="3198"/>
                  <a:pt x="15" y="3186"/>
                </a:cubicBezTo>
                <a:cubicBezTo>
                  <a:pt x="10" y="3174"/>
                  <a:pt x="6" y="3161"/>
                  <a:pt x="4" y="3148"/>
                </a:cubicBezTo>
                <a:cubicBezTo>
                  <a:pt x="1" y="3136"/>
                  <a:pt x="0" y="3123"/>
                  <a:pt x="0" y="3110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2032200" y="2139480"/>
            <a:ext cx="712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billion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6562800" y="1725840"/>
            <a:ext cx="159840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 i="0">
                <a:solidFill>
                  <a:srgbClr val="0052d9"/>
                </a:solidFill>
                <a:effectLst/>
                <a:uFillTx/>
                <a:latin typeface="Noto Sans SC"/>
                <a:ea typeface="Noto Sans SC"/>
              </a:rPr>
              <a:t>Adjusted Net Profit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6562800" y="2139480"/>
            <a:ext cx="5659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RMB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7128000" y="2037600"/>
            <a:ext cx="77220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700" strike="noStrike" u="none" i="0">
                <a:solidFill>
                  <a:srgbClr val="002b5c"/>
                </a:solidFill>
                <a:effectLst/>
                <a:uFillTx/>
                <a:latin typeface="Noto Sans SC"/>
                <a:ea typeface="Noto Sans SC"/>
              </a:rPr>
              <a:t>222.7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461880" y="2966760"/>
            <a:ext cx="5401080" cy="1191240"/>
          </a:xfrm>
          <a:custGeom>
            <a:avLst/>
            <a:gdLst/>
            <a:ahLst/>
            <a:rect l="0" t="0" r="r" b="b"/>
            <a:pathLst>
              <a:path w="15003" h="3309">
                <a:moveTo>
                  <a:pt x="0" y="3110"/>
                </a:moveTo>
                <a:lnTo>
                  <a:pt x="0" y="200"/>
                </a:lnTo>
                <a:cubicBezTo>
                  <a:pt x="0" y="187"/>
                  <a:pt x="1" y="174"/>
                  <a:pt x="4" y="161"/>
                </a:cubicBezTo>
                <a:cubicBezTo>
                  <a:pt x="6" y="148"/>
                  <a:pt x="10" y="136"/>
                  <a:pt x="15" y="124"/>
                </a:cubicBezTo>
                <a:cubicBezTo>
                  <a:pt x="20" y="112"/>
                  <a:pt x="26" y="100"/>
                  <a:pt x="33" y="89"/>
                </a:cubicBezTo>
                <a:cubicBezTo>
                  <a:pt x="40" y="79"/>
                  <a:pt x="49" y="69"/>
                  <a:pt x="58" y="59"/>
                </a:cubicBezTo>
                <a:cubicBezTo>
                  <a:pt x="67" y="50"/>
                  <a:pt x="77" y="42"/>
                  <a:pt x="88" y="35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59" y="4"/>
                </a:cubicBezTo>
                <a:cubicBezTo>
                  <a:pt x="172" y="2"/>
                  <a:pt x="185" y="0"/>
                  <a:pt x="198" y="0"/>
                </a:cubicBezTo>
                <a:lnTo>
                  <a:pt x="14804" y="0"/>
                </a:lnTo>
                <a:cubicBezTo>
                  <a:pt x="14817" y="0"/>
                  <a:pt x="14830" y="2"/>
                  <a:pt x="14843" y="4"/>
                </a:cubicBezTo>
                <a:cubicBezTo>
                  <a:pt x="14856" y="7"/>
                  <a:pt x="14868" y="10"/>
                  <a:pt x="14880" y="15"/>
                </a:cubicBezTo>
                <a:cubicBezTo>
                  <a:pt x="14892" y="20"/>
                  <a:pt x="14904" y="26"/>
                  <a:pt x="14914" y="35"/>
                </a:cubicBezTo>
                <a:cubicBezTo>
                  <a:pt x="14925" y="42"/>
                  <a:pt x="14935" y="50"/>
                  <a:pt x="14944" y="59"/>
                </a:cubicBezTo>
                <a:cubicBezTo>
                  <a:pt x="14954" y="69"/>
                  <a:pt x="14962" y="79"/>
                  <a:pt x="14969" y="89"/>
                </a:cubicBezTo>
                <a:cubicBezTo>
                  <a:pt x="14976" y="100"/>
                  <a:pt x="14983" y="112"/>
                  <a:pt x="14987" y="124"/>
                </a:cubicBezTo>
                <a:cubicBezTo>
                  <a:pt x="14992" y="136"/>
                  <a:pt x="14996" y="148"/>
                  <a:pt x="14999" y="161"/>
                </a:cubicBezTo>
                <a:cubicBezTo>
                  <a:pt x="15001" y="174"/>
                  <a:pt x="15003" y="187"/>
                  <a:pt x="15003" y="200"/>
                </a:cubicBezTo>
                <a:lnTo>
                  <a:pt x="15003" y="3110"/>
                </a:lnTo>
                <a:cubicBezTo>
                  <a:pt x="15003" y="3123"/>
                  <a:pt x="15001" y="3136"/>
                  <a:pt x="14999" y="3149"/>
                </a:cubicBezTo>
                <a:cubicBezTo>
                  <a:pt x="14996" y="3162"/>
                  <a:pt x="14992" y="3174"/>
                  <a:pt x="14987" y="3186"/>
                </a:cubicBezTo>
                <a:cubicBezTo>
                  <a:pt x="14983" y="3198"/>
                  <a:pt x="14976" y="3210"/>
                  <a:pt x="14969" y="3220"/>
                </a:cubicBezTo>
                <a:cubicBezTo>
                  <a:pt x="14962" y="3231"/>
                  <a:pt x="14954" y="3241"/>
                  <a:pt x="14944" y="3250"/>
                </a:cubicBezTo>
                <a:cubicBezTo>
                  <a:pt x="14935" y="3260"/>
                  <a:pt x="14925" y="3268"/>
                  <a:pt x="14914" y="3275"/>
                </a:cubicBezTo>
                <a:cubicBezTo>
                  <a:pt x="14904" y="3282"/>
                  <a:pt x="14892" y="3288"/>
                  <a:pt x="14880" y="3293"/>
                </a:cubicBezTo>
                <a:cubicBezTo>
                  <a:pt x="14868" y="3298"/>
                  <a:pt x="14856" y="3302"/>
                  <a:pt x="14843" y="3305"/>
                </a:cubicBezTo>
                <a:cubicBezTo>
                  <a:pt x="14830" y="3307"/>
                  <a:pt x="14817" y="3309"/>
                  <a:pt x="14804" y="3309"/>
                </a:cubicBezTo>
                <a:lnTo>
                  <a:pt x="198" y="3309"/>
                </a:lnTo>
                <a:cubicBezTo>
                  <a:pt x="185" y="3309"/>
                  <a:pt x="172" y="3307"/>
                  <a:pt x="159" y="3305"/>
                </a:cubicBezTo>
                <a:cubicBezTo>
                  <a:pt x="147" y="3302"/>
                  <a:pt x="134" y="3298"/>
                  <a:pt x="122" y="3293"/>
                </a:cubicBezTo>
                <a:cubicBezTo>
                  <a:pt x="110" y="3288"/>
                  <a:pt x="99" y="3282"/>
                  <a:pt x="88" y="3275"/>
                </a:cubicBezTo>
                <a:cubicBezTo>
                  <a:pt x="77" y="3268"/>
                  <a:pt x="67" y="3260"/>
                  <a:pt x="58" y="3250"/>
                </a:cubicBezTo>
                <a:cubicBezTo>
                  <a:pt x="49" y="3241"/>
                  <a:pt x="40" y="3231"/>
                  <a:pt x="33" y="3220"/>
                </a:cubicBezTo>
                <a:cubicBezTo>
                  <a:pt x="26" y="3210"/>
                  <a:pt x="20" y="3198"/>
                  <a:pt x="15" y="3186"/>
                </a:cubicBezTo>
                <a:cubicBezTo>
                  <a:pt x="10" y="3174"/>
                  <a:pt x="6" y="3162"/>
                  <a:pt x="4" y="3149"/>
                </a:cubicBezTo>
                <a:cubicBezTo>
                  <a:pt x="1" y="3136"/>
                  <a:pt x="0" y="3123"/>
                  <a:pt x="0" y="3110"/>
                </a:cubicBez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461880" y="2966760"/>
            <a:ext cx="5401080" cy="1191240"/>
          </a:xfrm>
          <a:custGeom>
            <a:avLst/>
            <a:gdLst/>
            <a:ahLst/>
            <a:rect l="0" t="0" r="r" b="b"/>
            <a:pathLst>
              <a:path fill="none" w="15003" h="3309">
                <a:moveTo>
                  <a:pt x="0" y="3110"/>
                </a:moveTo>
                <a:lnTo>
                  <a:pt x="0" y="200"/>
                </a:lnTo>
                <a:cubicBezTo>
                  <a:pt x="0" y="187"/>
                  <a:pt x="1" y="174"/>
                  <a:pt x="4" y="161"/>
                </a:cubicBezTo>
                <a:cubicBezTo>
                  <a:pt x="6" y="148"/>
                  <a:pt x="10" y="136"/>
                  <a:pt x="15" y="124"/>
                </a:cubicBezTo>
                <a:cubicBezTo>
                  <a:pt x="20" y="112"/>
                  <a:pt x="26" y="100"/>
                  <a:pt x="33" y="89"/>
                </a:cubicBezTo>
                <a:cubicBezTo>
                  <a:pt x="40" y="79"/>
                  <a:pt x="49" y="69"/>
                  <a:pt x="58" y="59"/>
                </a:cubicBezTo>
                <a:cubicBezTo>
                  <a:pt x="67" y="50"/>
                  <a:pt x="77" y="42"/>
                  <a:pt x="88" y="35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59" y="4"/>
                </a:cubicBezTo>
                <a:cubicBezTo>
                  <a:pt x="172" y="2"/>
                  <a:pt x="185" y="0"/>
                  <a:pt x="198" y="0"/>
                </a:cubicBezTo>
                <a:lnTo>
                  <a:pt x="14804" y="0"/>
                </a:lnTo>
                <a:cubicBezTo>
                  <a:pt x="14817" y="0"/>
                  <a:pt x="14830" y="2"/>
                  <a:pt x="14843" y="4"/>
                </a:cubicBezTo>
                <a:cubicBezTo>
                  <a:pt x="14856" y="7"/>
                  <a:pt x="14868" y="10"/>
                  <a:pt x="14880" y="15"/>
                </a:cubicBezTo>
                <a:cubicBezTo>
                  <a:pt x="14892" y="20"/>
                  <a:pt x="14904" y="26"/>
                  <a:pt x="14914" y="35"/>
                </a:cubicBezTo>
                <a:cubicBezTo>
                  <a:pt x="14925" y="42"/>
                  <a:pt x="14935" y="50"/>
                  <a:pt x="14944" y="59"/>
                </a:cubicBezTo>
                <a:cubicBezTo>
                  <a:pt x="14954" y="69"/>
                  <a:pt x="14962" y="79"/>
                  <a:pt x="14969" y="89"/>
                </a:cubicBezTo>
                <a:cubicBezTo>
                  <a:pt x="14976" y="100"/>
                  <a:pt x="14983" y="112"/>
                  <a:pt x="14987" y="124"/>
                </a:cubicBezTo>
                <a:cubicBezTo>
                  <a:pt x="14992" y="136"/>
                  <a:pt x="14996" y="148"/>
                  <a:pt x="14999" y="161"/>
                </a:cubicBezTo>
                <a:cubicBezTo>
                  <a:pt x="15001" y="174"/>
                  <a:pt x="15003" y="187"/>
                  <a:pt x="15003" y="200"/>
                </a:cubicBezTo>
                <a:lnTo>
                  <a:pt x="15003" y="3110"/>
                </a:lnTo>
                <a:cubicBezTo>
                  <a:pt x="15003" y="3123"/>
                  <a:pt x="15001" y="3136"/>
                  <a:pt x="14999" y="3149"/>
                </a:cubicBezTo>
                <a:cubicBezTo>
                  <a:pt x="14996" y="3162"/>
                  <a:pt x="14992" y="3174"/>
                  <a:pt x="14987" y="3186"/>
                </a:cubicBezTo>
                <a:cubicBezTo>
                  <a:pt x="14983" y="3198"/>
                  <a:pt x="14976" y="3210"/>
                  <a:pt x="14969" y="3220"/>
                </a:cubicBezTo>
                <a:cubicBezTo>
                  <a:pt x="14962" y="3231"/>
                  <a:pt x="14954" y="3241"/>
                  <a:pt x="14944" y="3250"/>
                </a:cubicBezTo>
                <a:cubicBezTo>
                  <a:pt x="14935" y="3260"/>
                  <a:pt x="14925" y="3268"/>
                  <a:pt x="14914" y="3275"/>
                </a:cubicBezTo>
                <a:cubicBezTo>
                  <a:pt x="14904" y="3282"/>
                  <a:pt x="14892" y="3288"/>
                  <a:pt x="14880" y="3293"/>
                </a:cubicBezTo>
                <a:cubicBezTo>
                  <a:pt x="14868" y="3298"/>
                  <a:pt x="14856" y="3302"/>
                  <a:pt x="14843" y="3305"/>
                </a:cubicBezTo>
                <a:cubicBezTo>
                  <a:pt x="14830" y="3307"/>
                  <a:pt x="14817" y="3309"/>
                  <a:pt x="14804" y="3309"/>
                </a:cubicBezTo>
                <a:lnTo>
                  <a:pt x="198" y="3309"/>
                </a:lnTo>
                <a:cubicBezTo>
                  <a:pt x="185" y="3309"/>
                  <a:pt x="172" y="3307"/>
                  <a:pt x="159" y="3305"/>
                </a:cubicBezTo>
                <a:cubicBezTo>
                  <a:pt x="147" y="3302"/>
                  <a:pt x="134" y="3298"/>
                  <a:pt x="122" y="3293"/>
                </a:cubicBezTo>
                <a:cubicBezTo>
                  <a:pt x="110" y="3288"/>
                  <a:pt x="99" y="3282"/>
                  <a:pt x="88" y="3275"/>
                </a:cubicBezTo>
                <a:cubicBezTo>
                  <a:pt x="77" y="3268"/>
                  <a:pt x="67" y="3260"/>
                  <a:pt x="58" y="3250"/>
                </a:cubicBezTo>
                <a:cubicBezTo>
                  <a:pt x="49" y="3241"/>
                  <a:pt x="40" y="3231"/>
                  <a:pt x="33" y="3220"/>
                </a:cubicBezTo>
                <a:cubicBezTo>
                  <a:pt x="26" y="3210"/>
                  <a:pt x="20" y="3198"/>
                  <a:pt x="15" y="3186"/>
                </a:cubicBezTo>
                <a:cubicBezTo>
                  <a:pt x="10" y="3174"/>
                  <a:pt x="6" y="3162"/>
                  <a:pt x="4" y="3149"/>
                </a:cubicBezTo>
                <a:cubicBezTo>
                  <a:pt x="1" y="3136"/>
                  <a:pt x="0" y="3123"/>
                  <a:pt x="0" y="3110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7899480" y="2139480"/>
            <a:ext cx="712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billion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695160" y="3230640"/>
            <a:ext cx="99000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 i="0">
                <a:solidFill>
                  <a:srgbClr val="0052d9"/>
                </a:solidFill>
                <a:effectLst/>
                <a:uFillTx/>
                <a:latin typeface="Noto Sans SC"/>
                <a:ea typeface="Noto Sans SC"/>
              </a:rPr>
              <a:t>Q4 Revenue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695160" y="3644280"/>
            <a:ext cx="5659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RMB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1260720" y="3542400"/>
            <a:ext cx="77220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700" strike="noStrike" u="none" i="0">
                <a:solidFill>
                  <a:srgbClr val="002b5c"/>
                </a:solidFill>
                <a:effectLst/>
                <a:uFillTx/>
                <a:latin typeface="Noto Sans SC"/>
                <a:ea typeface="Noto Sans SC"/>
              </a:rPr>
              <a:t>174.2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6329160" y="2966760"/>
            <a:ext cx="5401080" cy="1191240"/>
          </a:xfrm>
          <a:custGeom>
            <a:avLst/>
            <a:gdLst/>
            <a:ahLst/>
            <a:rect l="0" t="0" r="r" b="b"/>
            <a:pathLst>
              <a:path w="15003" h="3309">
                <a:moveTo>
                  <a:pt x="0" y="3110"/>
                </a:moveTo>
                <a:lnTo>
                  <a:pt x="0" y="200"/>
                </a:lnTo>
                <a:cubicBezTo>
                  <a:pt x="0" y="187"/>
                  <a:pt x="1" y="174"/>
                  <a:pt x="4" y="161"/>
                </a:cubicBezTo>
                <a:cubicBezTo>
                  <a:pt x="6" y="148"/>
                  <a:pt x="10" y="136"/>
                  <a:pt x="15" y="124"/>
                </a:cubicBezTo>
                <a:cubicBezTo>
                  <a:pt x="20" y="112"/>
                  <a:pt x="26" y="100"/>
                  <a:pt x="34" y="89"/>
                </a:cubicBezTo>
                <a:cubicBezTo>
                  <a:pt x="41" y="79"/>
                  <a:pt x="49" y="69"/>
                  <a:pt x="58" y="59"/>
                </a:cubicBezTo>
                <a:cubicBezTo>
                  <a:pt x="67" y="50"/>
                  <a:pt x="77" y="42"/>
                  <a:pt x="88" y="35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7"/>
                  <a:pt x="160" y="4"/>
                </a:cubicBezTo>
                <a:cubicBezTo>
                  <a:pt x="173" y="2"/>
                  <a:pt x="185" y="0"/>
                  <a:pt x="198" y="0"/>
                </a:cubicBezTo>
                <a:lnTo>
                  <a:pt x="14804" y="0"/>
                </a:lnTo>
                <a:cubicBezTo>
                  <a:pt x="14818" y="0"/>
                  <a:pt x="14830" y="2"/>
                  <a:pt x="14843" y="4"/>
                </a:cubicBezTo>
                <a:cubicBezTo>
                  <a:pt x="14856" y="7"/>
                  <a:pt x="14868" y="10"/>
                  <a:pt x="14880" y="15"/>
                </a:cubicBezTo>
                <a:cubicBezTo>
                  <a:pt x="14892" y="20"/>
                  <a:pt x="14904" y="26"/>
                  <a:pt x="14915" y="35"/>
                </a:cubicBezTo>
                <a:cubicBezTo>
                  <a:pt x="14926" y="42"/>
                  <a:pt x="14936" y="50"/>
                  <a:pt x="14945" y="59"/>
                </a:cubicBezTo>
                <a:cubicBezTo>
                  <a:pt x="14954" y="69"/>
                  <a:pt x="14962" y="79"/>
                  <a:pt x="14969" y="89"/>
                </a:cubicBezTo>
                <a:cubicBezTo>
                  <a:pt x="14977" y="100"/>
                  <a:pt x="14983" y="112"/>
                  <a:pt x="14988" y="124"/>
                </a:cubicBezTo>
                <a:cubicBezTo>
                  <a:pt x="14993" y="136"/>
                  <a:pt x="14997" y="148"/>
                  <a:pt x="14999" y="161"/>
                </a:cubicBezTo>
                <a:cubicBezTo>
                  <a:pt x="15002" y="174"/>
                  <a:pt x="15003" y="187"/>
                  <a:pt x="15003" y="200"/>
                </a:cubicBezTo>
                <a:lnTo>
                  <a:pt x="15003" y="3110"/>
                </a:lnTo>
                <a:cubicBezTo>
                  <a:pt x="15003" y="3123"/>
                  <a:pt x="15002" y="3136"/>
                  <a:pt x="14999" y="3149"/>
                </a:cubicBezTo>
                <a:cubicBezTo>
                  <a:pt x="14997" y="3162"/>
                  <a:pt x="14993" y="3174"/>
                  <a:pt x="14988" y="3186"/>
                </a:cubicBezTo>
                <a:cubicBezTo>
                  <a:pt x="14983" y="3198"/>
                  <a:pt x="14977" y="3210"/>
                  <a:pt x="14969" y="3220"/>
                </a:cubicBezTo>
                <a:cubicBezTo>
                  <a:pt x="14962" y="3231"/>
                  <a:pt x="14954" y="3241"/>
                  <a:pt x="14945" y="3250"/>
                </a:cubicBezTo>
                <a:cubicBezTo>
                  <a:pt x="14936" y="3260"/>
                  <a:pt x="14926" y="3268"/>
                  <a:pt x="14915" y="3275"/>
                </a:cubicBezTo>
                <a:cubicBezTo>
                  <a:pt x="14904" y="3282"/>
                  <a:pt x="14892" y="3288"/>
                  <a:pt x="14880" y="3293"/>
                </a:cubicBezTo>
                <a:cubicBezTo>
                  <a:pt x="14868" y="3298"/>
                  <a:pt x="14856" y="3302"/>
                  <a:pt x="14843" y="3305"/>
                </a:cubicBezTo>
                <a:cubicBezTo>
                  <a:pt x="14830" y="3307"/>
                  <a:pt x="14818" y="3309"/>
                  <a:pt x="14804" y="3309"/>
                </a:cubicBezTo>
                <a:lnTo>
                  <a:pt x="198" y="3309"/>
                </a:lnTo>
                <a:cubicBezTo>
                  <a:pt x="185" y="3309"/>
                  <a:pt x="173" y="3307"/>
                  <a:pt x="160" y="3305"/>
                </a:cubicBezTo>
                <a:cubicBezTo>
                  <a:pt x="147" y="3302"/>
                  <a:pt x="135" y="3298"/>
                  <a:pt x="123" y="3293"/>
                </a:cubicBezTo>
                <a:cubicBezTo>
                  <a:pt x="111" y="3288"/>
                  <a:pt x="99" y="3282"/>
                  <a:pt x="88" y="3275"/>
                </a:cubicBezTo>
                <a:cubicBezTo>
                  <a:pt x="77" y="3268"/>
                  <a:pt x="67" y="3260"/>
                  <a:pt x="58" y="3250"/>
                </a:cubicBezTo>
                <a:cubicBezTo>
                  <a:pt x="49" y="3241"/>
                  <a:pt x="41" y="3231"/>
                  <a:pt x="34" y="3220"/>
                </a:cubicBezTo>
                <a:cubicBezTo>
                  <a:pt x="26" y="3210"/>
                  <a:pt x="20" y="3198"/>
                  <a:pt x="15" y="3186"/>
                </a:cubicBezTo>
                <a:cubicBezTo>
                  <a:pt x="10" y="3174"/>
                  <a:pt x="6" y="3162"/>
                  <a:pt x="4" y="3149"/>
                </a:cubicBezTo>
                <a:cubicBezTo>
                  <a:pt x="1" y="3136"/>
                  <a:pt x="0" y="3123"/>
                  <a:pt x="0" y="3110"/>
                </a:cubicBez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6329160" y="2966760"/>
            <a:ext cx="5401080" cy="1191240"/>
          </a:xfrm>
          <a:custGeom>
            <a:avLst/>
            <a:gdLst/>
            <a:ahLst/>
            <a:rect l="0" t="0" r="r" b="b"/>
            <a:pathLst>
              <a:path fill="none" w="15003" h="3309">
                <a:moveTo>
                  <a:pt x="0" y="3110"/>
                </a:moveTo>
                <a:lnTo>
                  <a:pt x="0" y="200"/>
                </a:lnTo>
                <a:cubicBezTo>
                  <a:pt x="0" y="187"/>
                  <a:pt x="1" y="174"/>
                  <a:pt x="4" y="161"/>
                </a:cubicBezTo>
                <a:cubicBezTo>
                  <a:pt x="6" y="148"/>
                  <a:pt x="10" y="136"/>
                  <a:pt x="15" y="124"/>
                </a:cubicBezTo>
                <a:cubicBezTo>
                  <a:pt x="20" y="112"/>
                  <a:pt x="26" y="100"/>
                  <a:pt x="34" y="89"/>
                </a:cubicBezTo>
                <a:cubicBezTo>
                  <a:pt x="41" y="79"/>
                  <a:pt x="49" y="69"/>
                  <a:pt x="58" y="59"/>
                </a:cubicBezTo>
                <a:cubicBezTo>
                  <a:pt x="67" y="50"/>
                  <a:pt x="77" y="42"/>
                  <a:pt x="88" y="35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7"/>
                  <a:pt x="160" y="4"/>
                </a:cubicBezTo>
                <a:cubicBezTo>
                  <a:pt x="173" y="2"/>
                  <a:pt x="185" y="0"/>
                  <a:pt x="198" y="0"/>
                </a:cubicBezTo>
                <a:lnTo>
                  <a:pt x="14804" y="0"/>
                </a:lnTo>
                <a:cubicBezTo>
                  <a:pt x="14818" y="0"/>
                  <a:pt x="14830" y="2"/>
                  <a:pt x="14843" y="4"/>
                </a:cubicBezTo>
                <a:cubicBezTo>
                  <a:pt x="14856" y="7"/>
                  <a:pt x="14868" y="10"/>
                  <a:pt x="14880" y="15"/>
                </a:cubicBezTo>
                <a:cubicBezTo>
                  <a:pt x="14892" y="20"/>
                  <a:pt x="14904" y="26"/>
                  <a:pt x="14915" y="35"/>
                </a:cubicBezTo>
                <a:cubicBezTo>
                  <a:pt x="14926" y="42"/>
                  <a:pt x="14936" y="50"/>
                  <a:pt x="14945" y="59"/>
                </a:cubicBezTo>
                <a:cubicBezTo>
                  <a:pt x="14954" y="69"/>
                  <a:pt x="14962" y="79"/>
                  <a:pt x="14969" y="89"/>
                </a:cubicBezTo>
                <a:cubicBezTo>
                  <a:pt x="14977" y="100"/>
                  <a:pt x="14983" y="112"/>
                  <a:pt x="14988" y="124"/>
                </a:cubicBezTo>
                <a:cubicBezTo>
                  <a:pt x="14993" y="136"/>
                  <a:pt x="14997" y="148"/>
                  <a:pt x="14999" y="161"/>
                </a:cubicBezTo>
                <a:cubicBezTo>
                  <a:pt x="15002" y="174"/>
                  <a:pt x="15003" y="187"/>
                  <a:pt x="15003" y="200"/>
                </a:cubicBezTo>
                <a:lnTo>
                  <a:pt x="15003" y="3110"/>
                </a:lnTo>
                <a:cubicBezTo>
                  <a:pt x="15003" y="3123"/>
                  <a:pt x="15002" y="3136"/>
                  <a:pt x="14999" y="3149"/>
                </a:cubicBezTo>
                <a:cubicBezTo>
                  <a:pt x="14997" y="3162"/>
                  <a:pt x="14993" y="3174"/>
                  <a:pt x="14988" y="3186"/>
                </a:cubicBezTo>
                <a:cubicBezTo>
                  <a:pt x="14983" y="3198"/>
                  <a:pt x="14977" y="3210"/>
                  <a:pt x="14969" y="3220"/>
                </a:cubicBezTo>
                <a:cubicBezTo>
                  <a:pt x="14962" y="3231"/>
                  <a:pt x="14954" y="3241"/>
                  <a:pt x="14945" y="3250"/>
                </a:cubicBezTo>
                <a:cubicBezTo>
                  <a:pt x="14936" y="3260"/>
                  <a:pt x="14926" y="3268"/>
                  <a:pt x="14915" y="3275"/>
                </a:cubicBezTo>
                <a:cubicBezTo>
                  <a:pt x="14904" y="3282"/>
                  <a:pt x="14892" y="3288"/>
                  <a:pt x="14880" y="3293"/>
                </a:cubicBezTo>
                <a:cubicBezTo>
                  <a:pt x="14868" y="3298"/>
                  <a:pt x="14856" y="3302"/>
                  <a:pt x="14843" y="3305"/>
                </a:cubicBezTo>
                <a:cubicBezTo>
                  <a:pt x="14830" y="3307"/>
                  <a:pt x="14818" y="3309"/>
                  <a:pt x="14804" y="3309"/>
                </a:cubicBezTo>
                <a:lnTo>
                  <a:pt x="198" y="3309"/>
                </a:lnTo>
                <a:cubicBezTo>
                  <a:pt x="185" y="3309"/>
                  <a:pt x="173" y="3307"/>
                  <a:pt x="160" y="3305"/>
                </a:cubicBezTo>
                <a:cubicBezTo>
                  <a:pt x="147" y="3302"/>
                  <a:pt x="135" y="3298"/>
                  <a:pt x="123" y="3293"/>
                </a:cubicBezTo>
                <a:cubicBezTo>
                  <a:pt x="111" y="3288"/>
                  <a:pt x="99" y="3282"/>
                  <a:pt x="88" y="3275"/>
                </a:cubicBezTo>
                <a:cubicBezTo>
                  <a:pt x="77" y="3268"/>
                  <a:pt x="67" y="3260"/>
                  <a:pt x="58" y="3250"/>
                </a:cubicBezTo>
                <a:cubicBezTo>
                  <a:pt x="49" y="3241"/>
                  <a:pt x="41" y="3231"/>
                  <a:pt x="34" y="3220"/>
                </a:cubicBezTo>
                <a:cubicBezTo>
                  <a:pt x="26" y="3210"/>
                  <a:pt x="20" y="3198"/>
                  <a:pt x="15" y="3186"/>
                </a:cubicBezTo>
                <a:cubicBezTo>
                  <a:pt x="10" y="3174"/>
                  <a:pt x="6" y="3162"/>
                  <a:pt x="4" y="3149"/>
                </a:cubicBezTo>
                <a:cubicBezTo>
                  <a:pt x="1" y="3136"/>
                  <a:pt x="0" y="3123"/>
                  <a:pt x="0" y="3110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2032200" y="3644280"/>
            <a:ext cx="712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billion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6562800" y="3230640"/>
            <a:ext cx="16678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 i="0">
                <a:solidFill>
                  <a:srgbClr val="0052d9"/>
                </a:solidFill>
                <a:effectLst/>
                <a:uFillTx/>
                <a:latin typeface="Noto Sans SC"/>
                <a:ea typeface="Noto Sans SC"/>
              </a:rPr>
              <a:t>Capital Expenditure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6562800" y="3644280"/>
            <a:ext cx="5659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RMB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7128000" y="3542400"/>
            <a:ext cx="60084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700" strike="noStrike" u="none" i="0">
                <a:solidFill>
                  <a:srgbClr val="002b5c"/>
                </a:solidFill>
                <a:effectLst/>
                <a:uFillTx/>
                <a:latin typeface="Noto Sans SC"/>
                <a:ea typeface="Noto Sans SC"/>
              </a:rPr>
              <a:t>76.8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461880" y="4471920"/>
            <a:ext cx="5401080" cy="1190880"/>
          </a:xfrm>
          <a:custGeom>
            <a:avLst/>
            <a:gdLst/>
            <a:ahLst/>
            <a:rect l="0" t="0" r="r" b="b"/>
            <a:pathLst>
              <a:path w="15003" h="3308">
                <a:moveTo>
                  <a:pt x="0" y="3110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3"/>
                </a:cubicBezTo>
                <a:cubicBezTo>
                  <a:pt x="172" y="1"/>
                  <a:pt x="185" y="0"/>
                  <a:pt x="198" y="0"/>
                </a:cubicBezTo>
                <a:lnTo>
                  <a:pt x="14804" y="0"/>
                </a:lnTo>
                <a:cubicBezTo>
                  <a:pt x="14817" y="0"/>
                  <a:pt x="14830" y="1"/>
                  <a:pt x="14843" y="3"/>
                </a:cubicBezTo>
                <a:cubicBezTo>
                  <a:pt x="14856" y="6"/>
                  <a:pt x="14868" y="10"/>
                  <a:pt x="14880" y="15"/>
                </a:cubicBezTo>
                <a:cubicBezTo>
                  <a:pt x="14892" y="20"/>
                  <a:pt x="14904" y="26"/>
                  <a:pt x="14914" y="33"/>
                </a:cubicBezTo>
                <a:cubicBezTo>
                  <a:pt x="14925" y="40"/>
                  <a:pt x="14935" y="49"/>
                  <a:pt x="14944" y="58"/>
                </a:cubicBezTo>
                <a:cubicBezTo>
                  <a:pt x="14954" y="67"/>
                  <a:pt x="14962" y="77"/>
                  <a:pt x="14969" y="88"/>
                </a:cubicBezTo>
                <a:cubicBezTo>
                  <a:pt x="14976" y="99"/>
                  <a:pt x="14983" y="110"/>
                  <a:pt x="14987" y="122"/>
                </a:cubicBezTo>
                <a:cubicBezTo>
                  <a:pt x="14992" y="134"/>
                  <a:pt x="14996" y="147"/>
                  <a:pt x="14999" y="159"/>
                </a:cubicBezTo>
                <a:cubicBezTo>
                  <a:pt x="15001" y="172"/>
                  <a:pt x="15003" y="185"/>
                  <a:pt x="15003" y="198"/>
                </a:cubicBezTo>
                <a:lnTo>
                  <a:pt x="15003" y="3110"/>
                </a:lnTo>
                <a:cubicBezTo>
                  <a:pt x="15003" y="3123"/>
                  <a:pt x="15001" y="3135"/>
                  <a:pt x="14999" y="3148"/>
                </a:cubicBezTo>
                <a:cubicBezTo>
                  <a:pt x="14996" y="3161"/>
                  <a:pt x="14992" y="3173"/>
                  <a:pt x="14987" y="3185"/>
                </a:cubicBezTo>
                <a:cubicBezTo>
                  <a:pt x="14983" y="3198"/>
                  <a:pt x="14976" y="3209"/>
                  <a:pt x="14969" y="3220"/>
                </a:cubicBezTo>
                <a:cubicBezTo>
                  <a:pt x="14962" y="3231"/>
                  <a:pt x="14954" y="3241"/>
                  <a:pt x="14944" y="3250"/>
                </a:cubicBezTo>
                <a:cubicBezTo>
                  <a:pt x="14935" y="3259"/>
                  <a:pt x="14925" y="3267"/>
                  <a:pt x="14914" y="3275"/>
                </a:cubicBezTo>
                <a:cubicBezTo>
                  <a:pt x="14904" y="3282"/>
                  <a:pt x="14892" y="3288"/>
                  <a:pt x="14880" y="3293"/>
                </a:cubicBezTo>
                <a:cubicBezTo>
                  <a:pt x="14868" y="3298"/>
                  <a:pt x="14856" y="3302"/>
                  <a:pt x="14843" y="3304"/>
                </a:cubicBezTo>
                <a:cubicBezTo>
                  <a:pt x="14830" y="3307"/>
                  <a:pt x="14817" y="3308"/>
                  <a:pt x="14804" y="3308"/>
                </a:cubicBezTo>
                <a:lnTo>
                  <a:pt x="198" y="3308"/>
                </a:lnTo>
                <a:cubicBezTo>
                  <a:pt x="185" y="3308"/>
                  <a:pt x="172" y="3307"/>
                  <a:pt x="159" y="3304"/>
                </a:cubicBezTo>
                <a:cubicBezTo>
                  <a:pt x="147" y="3302"/>
                  <a:pt x="134" y="3298"/>
                  <a:pt x="122" y="3293"/>
                </a:cubicBezTo>
                <a:cubicBezTo>
                  <a:pt x="110" y="3288"/>
                  <a:pt x="99" y="3282"/>
                  <a:pt x="88" y="3275"/>
                </a:cubicBezTo>
                <a:cubicBezTo>
                  <a:pt x="77" y="3267"/>
                  <a:pt x="67" y="3259"/>
                  <a:pt x="58" y="3250"/>
                </a:cubicBezTo>
                <a:cubicBezTo>
                  <a:pt x="49" y="3241"/>
                  <a:pt x="40" y="3231"/>
                  <a:pt x="33" y="3220"/>
                </a:cubicBezTo>
                <a:cubicBezTo>
                  <a:pt x="26" y="3209"/>
                  <a:pt x="20" y="3198"/>
                  <a:pt x="15" y="3185"/>
                </a:cubicBezTo>
                <a:cubicBezTo>
                  <a:pt x="10" y="3173"/>
                  <a:pt x="6" y="3161"/>
                  <a:pt x="4" y="3148"/>
                </a:cubicBezTo>
                <a:cubicBezTo>
                  <a:pt x="1" y="3135"/>
                  <a:pt x="0" y="3123"/>
                  <a:pt x="0" y="3110"/>
                </a:cubicBez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461880" y="4471920"/>
            <a:ext cx="5401080" cy="1190880"/>
          </a:xfrm>
          <a:custGeom>
            <a:avLst/>
            <a:gdLst/>
            <a:ahLst/>
            <a:rect l="0" t="0" r="r" b="b"/>
            <a:pathLst>
              <a:path fill="none" w="15003" h="3308">
                <a:moveTo>
                  <a:pt x="0" y="3110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3"/>
                </a:cubicBezTo>
                <a:cubicBezTo>
                  <a:pt x="172" y="1"/>
                  <a:pt x="185" y="0"/>
                  <a:pt x="198" y="0"/>
                </a:cubicBezTo>
                <a:lnTo>
                  <a:pt x="14804" y="0"/>
                </a:lnTo>
                <a:cubicBezTo>
                  <a:pt x="14817" y="0"/>
                  <a:pt x="14830" y="1"/>
                  <a:pt x="14843" y="3"/>
                </a:cubicBezTo>
                <a:cubicBezTo>
                  <a:pt x="14856" y="6"/>
                  <a:pt x="14868" y="10"/>
                  <a:pt x="14880" y="15"/>
                </a:cubicBezTo>
                <a:cubicBezTo>
                  <a:pt x="14892" y="20"/>
                  <a:pt x="14904" y="26"/>
                  <a:pt x="14914" y="33"/>
                </a:cubicBezTo>
                <a:cubicBezTo>
                  <a:pt x="14925" y="40"/>
                  <a:pt x="14935" y="49"/>
                  <a:pt x="14944" y="58"/>
                </a:cubicBezTo>
                <a:cubicBezTo>
                  <a:pt x="14954" y="67"/>
                  <a:pt x="14962" y="77"/>
                  <a:pt x="14969" y="88"/>
                </a:cubicBezTo>
                <a:cubicBezTo>
                  <a:pt x="14976" y="99"/>
                  <a:pt x="14983" y="110"/>
                  <a:pt x="14987" y="122"/>
                </a:cubicBezTo>
                <a:cubicBezTo>
                  <a:pt x="14992" y="134"/>
                  <a:pt x="14996" y="147"/>
                  <a:pt x="14999" y="159"/>
                </a:cubicBezTo>
                <a:cubicBezTo>
                  <a:pt x="15001" y="172"/>
                  <a:pt x="15003" y="185"/>
                  <a:pt x="15003" y="198"/>
                </a:cubicBezTo>
                <a:lnTo>
                  <a:pt x="15003" y="3110"/>
                </a:lnTo>
                <a:cubicBezTo>
                  <a:pt x="15003" y="3123"/>
                  <a:pt x="15001" y="3135"/>
                  <a:pt x="14999" y="3148"/>
                </a:cubicBezTo>
                <a:cubicBezTo>
                  <a:pt x="14996" y="3161"/>
                  <a:pt x="14992" y="3173"/>
                  <a:pt x="14987" y="3185"/>
                </a:cubicBezTo>
                <a:cubicBezTo>
                  <a:pt x="14983" y="3198"/>
                  <a:pt x="14976" y="3209"/>
                  <a:pt x="14969" y="3220"/>
                </a:cubicBezTo>
                <a:cubicBezTo>
                  <a:pt x="14962" y="3231"/>
                  <a:pt x="14954" y="3241"/>
                  <a:pt x="14944" y="3250"/>
                </a:cubicBezTo>
                <a:cubicBezTo>
                  <a:pt x="14935" y="3259"/>
                  <a:pt x="14925" y="3267"/>
                  <a:pt x="14914" y="3275"/>
                </a:cubicBezTo>
                <a:cubicBezTo>
                  <a:pt x="14904" y="3282"/>
                  <a:pt x="14892" y="3288"/>
                  <a:pt x="14880" y="3293"/>
                </a:cubicBezTo>
                <a:cubicBezTo>
                  <a:pt x="14868" y="3298"/>
                  <a:pt x="14856" y="3302"/>
                  <a:pt x="14843" y="3304"/>
                </a:cubicBezTo>
                <a:cubicBezTo>
                  <a:pt x="14830" y="3307"/>
                  <a:pt x="14817" y="3308"/>
                  <a:pt x="14804" y="3308"/>
                </a:cubicBezTo>
                <a:lnTo>
                  <a:pt x="198" y="3308"/>
                </a:lnTo>
                <a:cubicBezTo>
                  <a:pt x="185" y="3308"/>
                  <a:pt x="172" y="3307"/>
                  <a:pt x="159" y="3304"/>
                </a:cubicBezTo>
                <a:cubicBezTo>
                  <a:pt x="147" y="3302"/>
                  <a:pt x="134" y="3298"/>
                  <a:pt x="122" y="3293"/>
                </a:cubicBezTo>
                <a:cubicBezTo>
                  <a:pt x="110" y="3288"/>
                  <a:pt x="99" y="3282"/>
                  <a:pt x="88" y="3275"/>
                </a:cubicBezTo>
                <a:cubicBezTo>
                  <a:pt x="77" y="3267"/>
                  <a:pt x="67" y="3259"/>
                  <a:pt x="58" y="3250"/>
                </a:cubicBezTo>
                <a:cubicBezTo>
                  <a:pt x="49" y="3241"/>
                  <a:pt x="40" y="3231"/>
                  <a:pt x="33" y="3220"/>
                </a:cubicBezTo>
                <a:cubicBezTo>
                  <a:pt x="26" y="3209"/>
                  <a:pt x="20" y="3198"/>
                  <a:pt x="15" y="3185"/>
                </a:cubicBezTo>
                <a:cubicBezTo>
                  <a:pt x="10" y="3173"/>
                  <a:pt x="6" y="3161"/>
                  <a:pt x="4" y="3148"/>
                </a:cubicBezTo>
                <a:cubicBezTo>
                  <a:pt x="1" y="3135"/>
                  <a:pt x="0" y="3123"/>
                  <a:pt x="0" y="3110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7728120" y="3644280"/>
            <a:ext cx="712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billion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695160" y="4735800"/>
            <a:ext cx="22971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 i="0">
                <a:solidFill>
                  <a:srgbClr val="0052d9"/>
                </a:solidFill>
                <a:effectLst/>
                <a:uFillTx/>
                <a:latin typeface="Noto Sans SC"/>
                <a:ea typeface="Noto Sans SC"/>
              </a:rPr>
              <a:t>Proposed Share Repurchase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695160" y="5149440"/>
            <a:ext cx="55296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HKD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1247760" y="5047560"/>
            <a:ext cx="34380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700" strike="noStrike" u="none" i="0">
                <a:solidFill>
                  <a:srgbClr val="002b5c"/>
                </a:solidFill>
                <a:effectLst/>
                <a:uFillTx/>
                <a:latin typeface="Noto Sans SC"/>
                <a:ea typeface="Noto Sans SC"/>
              </a:rPr>
              <a:t>80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6329160" y="4471920"/>
            <a:ext cx="5401080" cy="1190880"/>
          </a:xfrm>
          <a:custGeom>
            <a:avLst/>
            <a:gdLst/>
            <a:ahLst/>
            <a:rect l="0" t="0" r="r" b="b"/>
            <a:pathLst>
              <a:path w="15003" h="3308">
                <a:moveTo>
                  <a:pt x="0" y="3110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4" y="88"/>
                </a:cubicBezTo>
                <a:cubicBezTo>
                  <a:pt x="41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3"/>
                </a:cubicBezTo>
                <a:cubicBezTo>
                  <a:pt x="173" y="1"/>
                  <a:pt x="185" y="0"/>
                  <a:pt x="198" y="0"/>
                </a:cubicBezTo>
                <a:lnTo>
                  <a:pt x="14804" y="0"/>
                </a:lnTo>
                <a:cubicBezTo>
                  <a:pt x="14818" y="0"/>
                  <a:pt x="14830" y="1"/>
                  <a:pt x="14843" y="3"/>
                </a:cubicBezTo>
                <a:cubicBezTo>
                  <a:pt x="14856" y="6"/>
                  <a:pt x="14868" y="10"/>
                  <a:pt x="14880" y="15"/>
                </a:cubicBezTo>
                <a:cubicBezTo>
                  <a:pt x="14892" y="20"/>
                  <a:pt x="14904" y="26"/>
                  <a:pt x="14915" y="33"/>
                </a:cubicBezTo>
                <a:cubicBezTo>
                  <a:pt x="14926" y="40"/>
                  <a:pt x="14936" y="49"/>
                  <a:pt x="14945" y="58"/>
                </a:cubicBezTo>
                <a:cubicBezTo>
                  <a:pt x="14954" y="67"/>
                  <a:pt x="14962" y="77"/>
                  <a:pt x="14969" y="88"/>
                </a:cubicBezTo>
                <a:cubicBezTo>
                  <a:pt x="14977" y="99"/>
                  <a:pt x="14983" y="110"/>
                  <a:pt x="14988" y="122"/>
                </a:cubicBezTo>
                <a:cubicBezTo>
                  <a:pt x="14993" y="134"/>
                  <a:pt x="14997" y="147"/>
                  <a:pt x="14999" y="159"/>
                </a:cubicBezTo>
                <a:cubicBezTo>
                  <a:pt x="15002" y="172"/>
                  <a:pt x="15003" y="185"/>
                  <a:pt x="15003" y="198"/>
                </a:cubicBezTo>
                <a:lnTo>
                  <a:pt x="15003" y="3110"/>
                </a:lnTo>
                <a:cubicBezTo>
                  <a:pt x="15003" y="3123"/>
                  <a:pt x="15002" y="3135"/>
                  <a:pt x="14999" y="3148"/>
                </a:cubicBezTo>
                <a:cubicBezTo>
                  <a:pt x="14997" y="3161"/>
                  <a:pt x="14993" y="3173"/>
                  <a:pt x="14988" y="3185"/>
                </a:cubicBezTo>
                <a:cubicBezTo>
                  <a:pt x="14983" y="3198"/>
                  <a:pt x="14977" y="3209"/>
                  <a:pt x="14969" y="3220"/>
                </a:cubicBezTo>
                <a:cubicBezTo>
                  <a:pt x="14962" y="3231"/>
                  <a:pt x="14954" y="3241"/>
                  <a:pt x="14945" y="3250"/>
                </a:cubicBezTo>
                <a:cubicBezTo>
                  <a:pt x="14936" y="3259"/>
                  <a:pt x="14926" y="3267"/>
                  <a:pt x="14915" y="3275"/>
                </a:cubicBezTo>
                <a:cubicBezTo>
                  <a:pt x="14904" y="3282"/>
                  <a:pt x="14892" y="3288"/>
                  <a:pt x="14880" y="3293"/>
                </a:cubicBezTo>
                <a:cubicBezTo>
                  <a:pt x="14868" y="3298"/>
                  <a:pt x="14856" y="3302"/>
                  <a:pt x="14843" y="3304"/>
                </a:cubicBezTo>
                <a:cubicBezTo>
                  <a:pt x="14830" y="3307"/>
                  <a:pt x="14818" y="3308"/>
                  <a:pt x="14804" y="3308"/>
                </a:cubicBezTo>
                <a:lnTo>
                  <a:pt x="198" y="3308"/>
                </a:lnTo>
                <a:cubicBezTo>
                  <a:pt x="185" y="3308"/>
                  <a:pt x="173" y="3307"/>
                  <a:pt x="160" y="3304"/>
                </a:cubicBezTo>
                <a:cubicBezTo>
                  <a:pt x="147" y="3302"/>
                  <a:pt x="135" y="3298"/>
                  <a:pt x="123" y="3293"/>
                </a:cubicBezTo>
                <a:cubicBezTo>
                  <a:pt x="111" y="3288"/>
                  <a:pt x="99" y="3282"/>
                  <a:pt x="88" y="3275"/>
                </a:cubicBezTo>
                <a:cubicBezTo>
                  <a:pt x="77" y="3267"/>
                  <a:pt x="67" y="3259"/>
                  <a:pt x="58" y="3250"/>
                </a:cubicBezTo>
                <a:cubicBezTo>
                  <a:pt x="49" y="3241"/>
                  <a:pt x="41" y="3231"/>
                  <a:pt x="34" y="3220"/>
                </a:cubicBezTo>
                <a:cubicBezTo>
                  <a:pt x="26" y="3209"/>
                  <a:pt x="20" y="3198"/>
                  <a:pt x="15" y="3185"/>
                </a:cubicBezTo>
                <a:cubicBezTo>
                  <a:pt x="10" y="3173"/>
                  <a:pt x="6" y="3161"/>
                  <a:pt x="4" y="3148"/>
                </a:cubicBezTo>
                <a:cubicBezTo>
                  <a:pt x="1" y="3135"/>
                  <a:pt x="0" y="3123"/>
                  <a:pt x="0" y="3110"/>
                </a:cubicBez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6329160" y="4471920"/>
            <a:ext cx="5401080" cy="1190880"/>
          </a:xfrm>
          <a:custGeom>
            <a:avLst/>
            <a:gdLst/>
            <a:ahLst/>
            <a:rect l="0" t="0" r="r" b="b"/>
            <a:pathLst>
              <a:path fill="none" w="15003" h="3308">
                <a:moveTo>
                  <a:pt x="0" y="3110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4" y="88"/>
                </a:cubicBezTo>
                <a:cubicBezTo>
                  <a:pt x="41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3"/>
                </a:cubicBezTo>
                <a:cubicBezTo>
                  <a:pt x="173" y="1"/>
                  <a:pt x="185" y="0"/>
                  <a:pt x="198" y="0"/>
                </a:cubicBezTo>
                <a:lnTo>
                  <a:pt x="14804" y="0"/>
                </a:lnTo>
                <a:cubicBezTo>
                  <a:pt x="14818" y="0"/>
                  <a:pt x="14830" y="1"/>
                  <a:pt x="14843" y="3"/>
                </a:cubicBezTo>
                <a:cubicBezTo>
                  <a:pt x="14856" y="6"/>
                  <a:pt x="14868" y="10"/>
                  <a:pt x="14880" y="15"/>
                </a:cubicBezTo>
                <a:cubicBezTo>
                  <a:pt x="14892" y="20"/>
                  <a:pt x="14904" y="26"/>
                  <a:pt x="14915" y="33"/>
                </a:cubicBezTo>
                <a:cubicBezTo>
                  <a:pt x="14926" y="40"/>
                  <a:pt x="14936" y="49"/>
                  <a:pt x="14945" y="58"/>
                </a:cubicBezTo>
                <a:cubicBezTo>
                  <a:pt x="14954" y="67"/>
                  <a:pt x="14962" y="77"/>
                  <a:pt x="14969" y="88"/>
                </a:cubicBezTo>
                <a:cubicBezTo>
                  <a:pt x="14977" y="99"/>
                  <a:pt x="14983" y="110"/>
                  <a:pt x="14988" y="122"/>
                </a:cubicBezTo>
                <a:cubicBezTo>
                  <a:pt x="14993" y="134"/>
                  <a:pt x="14997" y="147"/>
                  <a:pt x="14999" y="159"/>
                </a:cubicBezTo>
                <a:cubicBezTo>
                  <a:pt x="15002" y="172"/>
                  <a:pt x="15003" y="185"/>
                  <a:pt x="15003" y="198"/>
                </a:cubicBezTo>
                <a:lnTo>
                  <a:pt x="15003" y="3110"/>
                </a:lnTo>
                <a:cubicBezTo>
                  <a:pt x="15003" y="3123"/>
                  <a:pt x="15002" y="3135"/>
                  <a:pt x="14999" y="3148"/>
                </a:cubicBezTo>
                <a:cubicBezTo>
                  <a:pt x="14997" y="3161"/>
                  <a:pt x="14993" y="3173"/>
                  <a:pt x="14988" y="3185"/>
                </a:cubicBezTo>
                <a:cubicBezTo>
                  <a:pt x="14983" y="3198"/>
                  <a:pt x="14977" y="3209"/>
                  <a:pt x="14969" y="3220"/>
                </a:cubicBezTo>
                <a:cubicBezTo>
                  <a:pt x="14962" y="3231"/>
                  <a:pt x="14954" y="3241"/>
                  <a:pt x="14945" y="3250"/>
                </a:cubicBezTo>
                <a:cubicBezTo>
                  <a:pt x="14936" y="3259"/>
                  <a:pt x="14926" y="3267"/>
                  <a:pt x="14915" y="3275"/>
                </a:cubicBezTo>
                <a:cubicBezTo>
                  <a:pt x="14904" y="3282"/>
                  <a:pt x="14892" y="3288"/>
                  <a:pt x="14880" y="3293"/>
                </a:cubicBezTo>
                <a:cubicBezTo>
                  <a:pt x="14868" y="3298"/>
                  <a:pt x="14856" y="3302"/>
                  <a:pt x="14843" y="3304"/>
                </a:cubicBezTo>
                <a:cubicBezTo>
                  <a:pt x="14830" y="3307"/>
                  <a:pt x="14818" y="3308"/>
                  <a:pt x="14804" y="3308"/>
                </a:cubicBezTo>
                <a:lnTo>
                  <a:pt x="198" y="3308"/>
                </a:lnTo>
                <a:cubicBezTo>
                  <a:pt x="185" y="3308"/>
                  <a:pt x="173" y="3307"/>
                  <a:pt x="160" y="3304"/>
                </a:cubicBezTo>
                <a:cubicBezTo>
                  <a:pt x="147" y="3302"/>
                  <a:pt x="135" y="3298"/>
                  <a:pt x="123" y="3293"/>
                </a:cubicBezTo>
                <a:cubicBezTo>
                  <a:pt x="111" y="3288"/>
                  <a:pt x="99" y="3282"/>
                  <a:pt x="88" y="3275"/>
                </a:cubicBezTo>
                <a:cubicBezTo>
                  <a:pt x="77" y="3267"/>
                  <a:pt x="67" y="3259"/>
                  <a:pt x="58" y="3250"/>
                </a:cubicBezTo>
                <a:cubicBezTo>
                  <a:pt x="49" y="3241"/>
                  <a:pt x="41" y="3231"/>
                  <a:pt x="34" y="3220"/>
                </a:cubicBezTo>
                <a:cubicBezTo>
                  <a:pt x="26" y="3209"/>
                  <a:pt x="20" y="3198"/>
                  <a:pt x="15" y="3185"/>
                </a:cubicBezTo>
                <a:cubicBezTo>
                  <a:pt x="10" y="3173"/>
                  <a:pt x="6" y="3161"/>
                  <a:pt x="4" y="3148"/>
                </a:cubicBezTo>
                <a:cubicBezTo>
                  <a:pt x="1" y="3135"/>
                  <a:pt x="0" y="3123"/>
                  <a:pt x="0" y="3110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1590840" y="5149440"/>
            <a:ext cx="6548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billion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6562800" y="4735800"/>
            <a:ext cx="7419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 i="0">
                <a:solidFill>
                  <a:srgbClr val="0052d9"/>
                </a:solidFill>
                <a:effectLst/>
                <a:uFillTx/>
                <a:latin typeface="Noto Sans SC"/>
                <a:ea typeface="Noto Sans SC"/>
              </a:rPr>
              <a:t>Dividend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6562800" y="5149440"/>
            <a:ext cx="5659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RMB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7128000" y="5047560"/>
            <a:ext cx="34380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700" strike="noStrike" u="none" i="0">
                <a:solidFill>
                  <a:srgbClr val="002b5c"/>
                </a:solidFill>
                <a:effectLst/>
                <a:uFillTx/>
                <a:latin typeface="Noto Sans SC"/>
                <a:ea typeface="Noto Sans SC"/>
              </a:rPr>
              <a:t>41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7471080" y="5149440"/>
            <a:ext cx="712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billion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457200" y="6198480"/>
            <a:ext cx="24256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9ca3af"/>
                </a:solidFill>
                <a:effectLst/>
                <a:uFillTx/>
                <a:latin typeface="Noto Sans SC"/>
                <a:ea typeface="Noto Sans SC"/>
              </a:rPr>
              <a:t>Tencent Holdings Ltd. Research Report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11658600" y="6198480"/>
            <a:ext cx="151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9ca3af"/>
                </a:solidFill>
                <a:effectLst/>
                <a:uFillTx/>
                <a:latin typeface="Noto Sans SC"/>
                <a:ea typeface="Noto Sans SC"/>
              </a:rPr>
              <a:t>4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2819520" y="2190240"/>
            <a:ext cx="8128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(+8% YoY)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8687160" y="2190240"/>
            <a:ext cx="8982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(+41% YoY)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2819520" y="3695400"/>
            <a:ext cx="8982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(+11% YoY)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8515800" y="3695400"/>
            <a:ext cx="11948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(12% of revenue)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8258400" y="5200200"/>
            <a:ext cx="8982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(+28% YoY)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6857640" y="2400120"/>
            <a:ext cx="914760" cy="57600"/>
          </a:xfrm>
          <a:custGeom>
            <a:avLst/>
            <a:gdLst/>
            <a:ahLst/>
            <a:rect l="0" t="0" r="r" b="b"/>
            <a:pathLst>
              <a:path w="2541" h="160">
                <a:moveTo>
                  <a:pt x="0" y="0"/>
                </a:moveTo>
                <a:lnTo>
                  <a:pt x="2541" y="0"/>
                </a:lnTo>
                <a:lnTo>
                  <a:pt x="2541" y="160"/>
                </a:lnTo>
                <a:lnTo>
                  <a:pt x="0" y="160"/>
                </a:lnTo>
                <a:lnTo>
                  <a:pt x="0" y="0"/>
                </a:lnTo>
                <a:close/>
              </a:path>
            </a:pathLst>
          </a:custGeom>
          <a:solidFill>
            <a:srgbClr val="00a4e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6858000" y="1764360"/>
            <a:ext cx="3796560" cy="506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600" strike="noStrike" u="none" i="0">
                <a:solidFill>
                  <a:srgbClr val="002b5c"/>
                </a:solidFill>
                <a:effectLst/>
                <a:uFillTx/>
                <a:latin typeface="Noto Sans SC"/>
                <a:ea typeface="Noto Sans SC"/>
              </a:rPr>
              <a:t>Core Competencies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6858000" y="2868840"/>
            <a:ext cx="190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 i="0">
                <a:solidFill>
                  <a:srgbClr val="0052d9"/>
                </a:solidFill>
                <a:effectLst/>
                <a:uFillTx/>
                <a:latin typeface="Noto Sans SC"/>
                <a:ea typeface="Noto Sans SC"/>
              </a:rPr>
              <a:t>•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7039080" y="2811600"/>
            <a:ext cx="41385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50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WeChat Ecosystem: </a:t>
            </a:r>
            <a:r>
              <a:rPr b="0" lang="en-US" sz="150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1.382 billion MAU, 900 million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7039080" y="3116520"/>
            <a:ext cx="432900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50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Mini Programs DAU, 450 million Video Accounts DAU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6858000" y="3716640"/>
            <a:ext cx="190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 i="0">
                <a:solidFill>
                  <a:srgbClr val="0052d9"/>
                </a:solidFill>
                <a:effectLst/>
                <a:uFillTx/>
                <a:latin typeface="Noto Sans SC"/>
                <a:ea typeface="Noto Sans SC"/>
              </a:rPr>
              <a:t>•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7039080" y="3659400"/>
            <a:ext cx="42915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50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Gaming Leadership: </a:t>
            </a:r>
            <a:r>
              <a:rPr b="0" lang="en-US" sz="150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65% domestic market share, 30%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7039080" y="3963960"/>
            <a:ext cx="16138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50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international revenue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6858000" y="4564080"/>
            <a:ext cx="190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 i="0">
                <a:solidFill>
                  <a:srgbClr val="0052d9"/>
                </a:solidFill>
                <a:effectLst/>
                <a:uFillTx/>
                <a:latin typeface="Noto Sans SC"/>
                <a:ea typeface="Noto Sans SC"/>
              </a:rPr>
              <a:t>•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7039080" y="4507200"/>
            <a:ext cx="41907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50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AI &amp; Tech: </a:t>
            </a:r>
            <a:r>
              <a:rPr b="0" lang="en-US" sz="150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Hunyuan Large Model enhancing ad CTR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0" y="0"/>
            <a:ext cx="6096240" cy="6858000"/>
          </a:xfrm>
          <a:custGeom>
            <a:avLst/>
            <a:gdLst/>
            <a:ahLst/>
            <a:rect l="0" t="0" r="r" b="b"/>
            <a:pathLst>
              <a:path w="16934" h="19050">
                <a:moveTo>
                  <a:pt x="0" y="0"/>
                </a:moveTo>
                <a:lnTo>
                  <a:pt x="16934" y="0"/>
                </a:lnTo>
                <a:lnTo>
                  <a:pt x="16934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1182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0" y="0"/>
            <a:ext cx="7553880" cy="6858000"/>
          </a:xfrm>
          <a:custGeom>
            <a:avLst/>
            <a:gdLst/>
            <a:ahLst/>
            <a:rect l="0" t="0" r="r" b="b"/>
            <a:pathLst>
              <a:path w="20983" h="19050">
                <a:moveTo>
                  <a:pt x="0" y="0"/>
                </a:moveTo>
                <a:lnTo>
                  <a:pt x="16934" y="0"/>
                </a:lnTo>
                <a:lnTo>
                  <a:pt x="20983" y="19050"/>
                </a:lnTo>
                <a:lnTo>
                  <a:pt x="404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7" name="" descr=""/>
          <p:cNvPicPr/>
          <p:nvPr/>
        </p:nvPicPr>
        <p:blipFill>
          <a:blip r:embed="rId1"/>
          <a:stretch/>
        </p:blipFill>
        <p:spPr>
          <a:xfrm>
            <a:off x="298800" y="304920"/>
            <a:ext cx="5497560" cy="6248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"/>
          <p:cNvSpPr txBox="1"/>
          <p:nvPr/>
        </p:nvSpPr>
        <p:spPr>
          <a:xfrm>
            <a:off x="7039080" y="4811760"/>
            <a:ext cx="246600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50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by 18%, cloud retention by 15%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304920" y="6350760"/>
            <a:ext cx="24256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9ca3af"/>
                </a:solidFill>
                <a:effectLst/>
                <a:uFillTx/>
                <a:latin typeface="Noto Sans SC"/>
                <a:ea typeface="Noto Sans SC"/>
              </a:rPr>
              <a:t>Tencent Holdings Ltd. Research Report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11810880" y="6350760"/>
            <a:ext cx="151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9ca3af"/>
                </a:solidFill>
                <a:effectLst/>
                <a:uFillTx/>
                <a:latin typeface="Noto Sans SC"/>
                <a:ea typeface="Noto Sans SC"/>
              </a:rPr>
              <a:t>5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457200" y="2999880"/>
            <a:ext cx="501192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0052d9"/>
                </a:solidFill>
                <a:effectLst/>
                <a:uFillTx/>
                <a:latin typeface="Noto Sans SC"/>
                <a:ea typeface="Noto Sans SC"/>
              </a:rPr>
              <a:t>China Internet Market Size 2025:</a:t>
            </a:r>
            <a:r>
              <a:rPr b="0" lang="en-US" sz="135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 RMB 1.8 trillion (CAGR 14% 2025-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457200" y="3276360"/>
            <a:ext cx="3988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2030)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457200" y="3857400"/>
            <a:ext cx="52581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0052d9"/>
                </a:solidFill>
                <a:effectLst/>
                <a:uFillTx/>
                <a:latin typeface="Noto Sans SC"/>
                <a:ea typeface="Noto Sans SC"/>
              </a:rPr>
              <a:t>Key Segments:</a:t>
            </a:r>
            <a:r>
              <a:rPr b="0" lang="en-US" sz="135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 Online Entertainment (RMB 750 billion), Fintech (RMB 1.5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457200" y="4142880"/>
            <a:ext cx="305352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trillion), Smart Hardware (RMB 450 billion)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17" name="" descr=""/>
          <p:cNvPicPr/>
          <p:nvPr/>
        </p:nvPicPr>
        <p:blipFill>
          <a:blip r:embed="rId1"/>
          <a:stretch/>
        </p:blipFill>
        <p:spPr>
          <a:xfrm>
            <a:off x="6324480" y="2057400"/>
            <a:ext cx="5409720" cy="380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"/>
          <p:cNvSpPr/>
          <p:nvPr/>
        </p:nvSpPr>
        <p:spPr>
          <a:xfrm>
            <a:off x="456840" y="914040"/>
            <a:ext cx="610200" cy="38520"/>
          </a:xfrm>
          <a:custGeom>
            <a:avLst/>
            <a:gdLst/>
            <a:ahLst/>
            <a:rect l="0" t="0" r="r" b="b"/>
            <a:pathLst>
              <a:path w="1695" h="107">
                <a:moveTo>
                  <a:pt x="0" y="0"/>
                </a:moveTo>
                <a:lnTo>
                  <a:pt x="1695" y="0"/>
                </a:lnTo>
                <a:lnTo>
                  <a:pt x="1695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52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457200" y="4723920"/>
            <a:ext cx="39834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0052d9"/>
                </a:solidFill>
                <a:effectLst/>
                <a:uFillTx/>
                <a:latin typeface="Noto Sans SC"/>
                <a:ea typeface="Noto Sans SC"/>
              </a:rPr>
              <a:t>Growth Drivers:</a:t>
            </a:r>
            <a:r>
              <a:rPr b="0" lang="en-US" sz="135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 5G, AI, Cloud Computing, Smart Cities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457200" y="456480"/>
            <a:ext cx="294480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700" strike="noStrike" u="none" i="0">
                <a:solidFill>
                  <a:srgbClr val="002b5c"/>
                </a:solidFill>
                <a:effectLst/>
                <a:uFillTx/>
                <a:latin typeface="Noto Sans SC"/>
                <a:ea typeface="Noto Sans SC"/>
              </a:rPr>
              <a:t>Industry Landscape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304920" y="6350760"/>
            <a:ext cx="24256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9ca3af"/>
                </a:solidFill>
                <a:effectLst/>
                <a:uFillTx/>
                <a:latin typeface="Noto Sans SC"/>
                <a:ea typeface="Noto Sans SC"/>
              </a:rPr>
              <a:t>Tencent Holdings Ltd. Research Report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11810880" y="6350760"/>
            <a:ext cx="151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9ca3af"/>
                </a:solidFill>
                <a:effectLst/>
                <a:uFillTx/>
                <a:latin typeface="Times New Roman"/>
                <a:ea typeface="Times New Roman"/>
              </a:rPr>
              <a:t>6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609480" y="1104840"/>
            <a:ext cx="609840" cy="38160"/>
          </a:xfrm>
          <a:custGeom>
            <a:avLst/>
            <a:gdLst/>
            <a:ahLst/>
            <a:rect l="0" t="0" r="r" b="b"/>
            <a:pathLst>
              <a:path w="1694" h="106">
                <a:moveTo>
                  <a:pt x="0" y="0"/>
                </a:moveTo>
                <a:lnTo>
                  <a:pt x="1694" y="0"/>
                </a:lnTo>
                <a:lnTo>
                  <a:pt x="1694" y="106"/>
                </a:lnTo>
                <a:lnTo>
                  <a:pt x="0" y="106"/>
                </a:lnTo>
                <a:lnTo>
                  <a:pt x="0" y="0"/>
                </a:lnTo>
                <a:close/>
              </a:path>
            </a:pathLst>
          </a:custGeom>
          <a:solidFill>
            <a:srgbClr val="0052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609480" y="608760"/>
            <a:ext cx="332424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700" strike="noStrike" u="none" i="0">
                <a:solidFill>
                  <a:srgbClr val="002b5c"/>
                </a:solidFill>
                <a:effectLst/>
                <a:uFillTx/>
                <a:latin typeface="Noto Sans SC"/>
                <a:ea typeface="Noto Sans SC"/>
              </a:rPr>
              <a:t>Competitive Dynamics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609480" y="2526840"/>
            <a:ext cx="2379600" cy="31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250" strike="noStrike" u="none" i="0">
                <a:solidFill>
                  <a:srgbClr val="0052d9"/>
                </a:solidFill>
                <a:effectLst/>
                <a:uFillTx/>
                <a:latin typeface="Noto Sans SC"/>
                <a:ea typeface="Noto Sans SC"/>
              </a:rPr>
              <a:t>Major Competitors</a:t>
            </a:r>
            <a:endParaRPr b="0" lang="en-US" sz="22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609480" y="3059280"/>
            <a:ext cx="5518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50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ByteDance (Douyin, ad competition), Alibaba/Pinduoduo (e-commerce)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609480" y="3783960"/>
            <a:ext cx="2459520" cy="31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250" strike="noStrike" u="none" i="0">
                <a:solidFill>
                  <a:srgbClr val="0052d9"/>
                </a:solidFill>
                <a:effectLst/>
                <a:uFillTx/>
                <a:latin typeface="Noto Sans SC"/>
                <a:ea typeface="Noto Sans SC"/>
              </a:rPr>
              <a:t>Tencent's Strategies</a:t>
            </a:r>
            <a:endParaRPr b="0" lang="en-US" sz="22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609480" y="4316400"/>
            <a:ext cx="88495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50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Video Accounts ad load rate increased to 10% (RMB 50+ billion annual increment), SaaS tools revenue +40% YoY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609480" y="6045840"/>
            <a:ext cx="24256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9ca3af"/>
                </a:solidFill>
                <a:effectLst/>
                <a:uFillTx/>
                <a:latin typeface="Times New Roman"/>
                <a:ea typeface="Times New Roman"/>
              </a:rPr>
              <a:t>Tencent Holdings Ltd. Research Report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11506320" y="6045840"/>
            <a:ext cx="151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9ca3af"/>
                </a:solidFill>
                <a:effectLst/>
                <a:uFillTx/>
                <a:latin typeface="Times New Roman"/>
                <a:ea typeface="Times New Roman"/>
              </a:rPr>
              <a:t>7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457200" y="2558520"/>
            <a:ext cx="215316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 i="0">
                <a:solidFill>
                  <a:srgbClr val="0052d9"/>
                </a:solidFill>
                <a:effectLst/>
                <a:uFillTx/>
                <a:latin typeface="Noto Sans SC"/>
                <a:ea typeface="Noto Sans SC"/>
              </a:rPr>
              <a:t>Value-Added Services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457200" y="2952360"/>
            <a:ext cx="538632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RMB 319.2 billion (48.3%)</a:t>
            </a:r>
            <a:r>
              <a:rPr b="0" lang="en-US" sz="135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, including international gaming revenue </a:t>
            </a:r>
            <a:r>
              <a:rPr b="0" lang="en-US" sz="135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RMB 58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457200" y="3228480"/>
            <a:ext cx="13496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billion (+9% YoY)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457200" y="3796920"/>
            <a:ext cx="189900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 i="0">
                <a:solidFill>
                  <a:srgbClr val="0052d9"/>
                </a:solidFill>
                <a:effectLst/>
                <a:uFillTx/>
                <a:latin typeface="Noto Sans SC"/>
                <a:ea typeface="Noto Sans SC"/>
              </a:rPr>
              <a:t>Marketing Services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457200" y="4190760"/>
            <a:ext cx="47916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RMB 121.4 billion (18.4%)</a:t>
            </a:r>
            <a:r>
              <a:rPr b="0" lang="en-US" sz="135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, Video Accounts ad revenue </a:t>
            </a:r>
            <a:r>
              <a:rPr b="0" lang="en-US" sz="135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+60% YoY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457200" y="4758840"/>
            <a:ext cx="29401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 i="0">
                <a:solidFill>
                  <a:srgbClr val="0052d9"/>
                </a:solidFill>
                <a:effectLst/>
                <a:uFillTx/>
                <a:latin typeface="Noto Sans SC"/>
                <a:ea typeface="Noto Sans SC"/>
              </a:rPr>
              <a:t>Fintech &amp; Enterprise Services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457200" y="5152680"/>
            <a:ext cx="44949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RMB 212 billion (32.1%)</a:t>
            </a:r>
            <a:r>
              <a:rPr b="0" lang="en-US" sz="135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, WeChat Work revenue </a:t>
            </a:r>
            <a:r>
              <a:rPr b="0" lang="en-US" sz="135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doubled YoY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8051760" y="6224760"/>
            <a:ext cx="132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 i="0">
                <a:solidFill>
                  <a:srgbClr val="6b7280"/>
                </a:solidFill>
                <a:effectLst/>
                <a:uFillTx/>
                <a:latin typeface="Noto Sans SC"/>
                <a:ea typeface="Noto Sans SC"/>
              </a:rPr>
              <a:t>[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8096040" y="6220080"/>
            <a:ext cx="5576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 i="0">
                <a:solidFill>
                  <a:srgbClr val="6b7280"/>
                </a:solidFill>
                <a:effectLst/>
                <a:uFillTx/>
                <a:latin typeface="Noto Sans SC"/>
                <a:ea typeface="Noto Sans SC"/>
              </a:rPr>
              <a:t>数据来源：腾讯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9029520" y="6224760"/>
            <a:ext cx="2660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 i="0">
                <a:solidFill>
                  <a:srgbClr val="6b7280"/>
                </a:solidFill>
                <a:effectLst/>
                <a:uFillTx/>
                <a:latin typeface="Noto Sans SC"/>
                <a:ea typeface="Noto Sans SC"/>
              </a:rPr>
              <a:t>2024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9296280" y="6220080"/>
            <a:ext cx="398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 i="0">
                <a:solidFill>
                  <a:srgbClr val="6b7280"/>
                </a:solidFill>
                <a:effectLst/>
                <a:uFillTx/>
                <a:latin typeface="Noto Sans SC"/>
                <a:ea typeface="Noto Sans SC"/>
              </a:rPr>
              <a:t>三季报分析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6" name="" descr=""/>
          <p:cNvPicPr/>
          <p:nvPr/>
        </p:nvPicPr>
        <p:blipFill>
          <a:blip r:embed="rId1"/>
          <a:stretch/>
        </p:blipFill>
        <p:spPr>
          <a:xfrm>
            <a:off x="6324480" y="1523880"/>
            <a:ext cx="5409720" cy="453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" name=""/>
          <p:cNvSpPr/>
          <p:nvPr/>
        </p:nvSpPr>
        <p:spPr>
          <a:xfrm>
            <a:off x="456840" y="914040"/>
            <a:ext cx="610200" cy="38520"/>
          </a:xfrm>
          <a:custGeom>
            <a:avLst/>
            <a:gdLst/>
            <a:ahLst/>
            <a:rect l="0" t="0" r="r" b="b"/>
            <a:pathLst>
              <a:path w="1695" h="107">
                <a:moveTo>
                  <a:pt x="0" y="0"/>
                </a:moveTo>
                <a:lnTo>
                  <a:pt x="1695" y="0"/>
                </a:lnTo>
                <a:lnTo>
                  <a:pt x="1695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52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9963000" y="6224760"/>
            <a:ext cx="132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 i="0">
                <a:solidFill>
                  <a:srgbClr val="6b7280"/>
                </a:solidFill>
                <a:effectLst/>
                <a:uFillTx/>
                <a:latin typeface="Noto Sans SC"/>
                <a:ea typeface="Noto Sans SC"/>
              </a:rPr>
              <a:t>]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457200" y="456480"/>
            <a:ext cx="654480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700" strike="noStrike" u="none" i="0">
                <a:solidFill>
                  <a:srgbClr val="002b5c"/>
                </a:solidFill>
                <a:effectLst/>
                <a:uFillTx/>
                <a:latin typeface="Noto Sans SC"/>
                <a:ea typeface="Noto Sans SC"/>
              </a:rPr>
              <a:t>Business Model &amp; Revenue Breakdown 2024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304920" y="6350760"/>
            <a:ext cx="24256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9ca3af"/>
                </a:solidFill>
                <a:effectLst/>
                <a:uFillTx/>
                <a:latin typeface="Noto Sans SC"/>
                <a:ea typeface="Noto Sans SC"/>
              </a:rPr>
              <a:t>Tencent Holdings Ltd. Research Report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11810880" y="6350760"/>
            <a:ext cx="151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9ca3af"/>
                </a:solidFill>
                <a:effectLst/>
                <a:uFillTx/>
                <a:latin typeface="Noto Sans SC"/>
                <a:ea typeface="Noto Sans SC"/>
              </a:rPr>
              <a:t>8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4" name="" descr=""/>
          <p:cNvPicPr/>
          <p:nvPr/>
        </p:nvPicPr>
        <p:blipFill>
          <a:blip r:embed="rId1"/>
          <a:stretch/>
        </p:blipFill>
        <p:spPr>
          <a:xfrm>
            <a:off x="457200" y="2438280"/>
            <a:ext cx="5409720" cy="304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"/>
          <p:cNvSpPr txBox="1"/>
          <p:nvPr/>
        </p:nvSpPr>
        <p:spPr>
          <a:xfrm>
            <a:off x="6324480" y="2863440"/>
            <a:ext cx="223596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 i="0">
                <a:solidFill>
                  <a:srgbClr val="0052d9"/>
                </a:solidFill>
                <a:effectLst/>
                <a:uFillTx/>
                <a:latin typeface="Noto Sans SC"/>
                <a:ea typeface="Noto Sans SC"/>
              </a:rPr>
              <a:t>Three Growth Engines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6324480" y="3295440"/>
            <a:ext cx="48261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Intelligentization (Hunyuan Model), Internationalization (30% gaming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6324480" y="3571560"/>
            <a:ext cx="23896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revenue), Integration &amp; Innovation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6324480" y="4139640"/>
            <a:ext cx="142920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 i="0">
                <a:solidFill>
                  <a:srgbClr val="0052d9"/>
                </a:solidFill>
                <a:effectLst/>
                <a:uFillTx/>
                <a:latin typeface="Noto Sans SC"/>
                <a:ea typeface="Noto Sans SC"/>
              </a:rPr>
              <a:t>Key Initiatives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6324480" y="4571640"/>
            <a:ext cx="53708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AI commercialization, global gaming expansion, Video Accounts e-commerce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456840" y="914040"/>
            <a:ext cx="610200" cy="38520"/>
          </a:xfrm>
          <a:custGeom>
            <a:avLst/>
            <a:gdLst/>
            <a:ahLst/>
            <a:rect l="0" t="0" r="r" b="b"/>
            <a:pathLst>
              <a:path w="1695" h="107">
                <a:moveTo>
                  <a:pt x="0" y="0"/>
                </a:moveTo>
                <a:lnTo>
                  <a:pt x="1695" y="0"/>
                </a:lnTo>
                <a:lnTo>
                  <a:pt x="1695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52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6324480" y="4847760"/>
            <a:ext cx="27504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(GMV target RMB 300 billion by 2028)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457200" y="456480"/>
            <a:ext cx="303876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700" strike="noStrike" u="none" i="0">
                <a:solidFill>
                  <a:srgbClr val="002b5c"/>
                </a:solidFill>
                <a:effectLst/>
                <a:uFillTx/>
                <a:latin typeface="Noto Sans SC"/>
                <a:ea typeface="Noto Sans SC"/>
              </a:rPr>
              <a:t>Operating Strategies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304920" y="6350760"/>
            <a:ext cx="24256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9ca3af"/>
                </a:solidFill>
                <a:effectLst/>
                <a:uFillTx/>
                <a:latin typeface="Noto Sans SC"/>
                <a:ea typeface="Noto Sans SC"/>
              </a:rPr>
              <a:t>Tencent Holdings Ltd. Research Report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11810880" y="6350760"/>
            <a:ext cx="151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9ca3af"/>
                </a:solidFill>
                <a:effectLst/>
                <a:uFillTx/>
                <a:latin typeface="Times New Roman"/>
                <a:ea typeface="Times New Roman"/>
              </a:rPr>
              <a:t>9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457200" y="2847600"/>
            <a:ext cx="28738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0052d9"/>
                </a:solidFill>
                <a:effectLst/>
                <a:uFillTx/>
                <a:latin typeface="Noto Sans SC"/>
                <a:ea typeface="Noto Sans SC"/>
              </a:rPr>
              <a:t>Approach:</a:t>
            </a:r>
            <a:r>
              <a:rPr b="0" lang="en-US" sz="135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 Discounted Cash Flow (DCF)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457200" y="3428640"/>
            <a:ext cx="51714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0052d9"/>
                </a:solidFill>
                <a:effectLst/>
                <a:uFillTx/>
                <a:latin typeface="Noto Sans SC"/>
                <a:ea typeface="Noto Sans SC"/>
              </a:rPr>
              <a:t>Key Parameters:</a:t>
            </a:r>
            <a:r>
              <a:rPr b="0" lang="en-US" sz="135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 10-year forecast period, 10% discount rate, 3% perpetual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457200" y="3704760"/>
            <a:ext cx="7826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growth rate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457200" y="4295520"/>
            <a:ext cx="23000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0052d9"/>
                </a:solidFill>
                <a:effectLst/>
                <a:uFillTx/>
                <a:latin typeface="Noto Sans SC"/>
                <a:ea typeface="Noto Sans SC"/>
              </a:rPr>
              <a:t>2025-2030 FCF CAGR:</a:t>
            </a:r>
            <a:r>
              <a:rPr b="0" lang="en-US" sz="135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 10-15%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6324480" y="2057040"/>
            <a:ext cx="5410440" cy="3810600"/>
          </a:xfrm>
          <a:custGeom>
            <a:avLst/>
            <a:gdLst/>
            <a:ahLst/>
            <a:rect l="0" t="0" r="r" b="b"/>
            <a:pathLst>
              <a:path w="15029" h="10585">
                <a:moveTo>
                  <a:pt x="0" y="10373"/>
                </a:moveTo>
                <a:lnTo>
                  <a:pt x="0" y="212"/>
                </a:lnTo>
                <a:cubicBezTo>
                  <a:pt x="0" y="198"/>
                  <a:pt x="1" y="185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8"/>
                  <a:pt x="28" y="106"/>
                  <a:pt x="36" y="95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3"/>
                  <a:pt x="82" y="44"/>
                  <a:pt x="94" y="36"/>
                </a:cubicBezTo>
                <a:cubicBezTo>
                  <a:pt x="105" y="28"/>
                  <a:pt x="118" y="22"/>
                  <a:pt x="130" y="17"/>
                </a:cubicBezTo>
                <a:cubicBezTo>
                  <a:pt x="143" y="11"/>
                  <a:pt x="157" y="7"/>
                  <a:pt x="170" y="5"/>
                </a:cubicBezTo>
                <a:cubicBezTo>
                  <a:pt x="184" y="2"/>
                  <a:pt x="198" y="0"/>
                  <a:pt x="211" y="0"/>
                </a:cubicBezTo>
                <a:lnTo>
                  <a:pt x="14817" y="0"/>
                </a:lnTo>
                <a:cubicBezTo>
                  <a:pt x="14831" y="0"/>
                  <a:pt x="14845" y="2"/>
                  <a:pt x="14859" y="5"/>
                </a:cubicBezTo>
                <a:cubicBezTo>
                  <a:pt x="14872" y="7"/>
                  <a:pt x="14886" y="11"/>
                  <a:pt x="14898" y="17"/>
                </a:cubicBezTo>
                <a:cubicBezTo>
                  <a:pt x="14911" y="22"/>
                  <a:pt x="14924" y="28"/>
                  <a:pt x="14935" y="36"/>
                </a:cubicBezTo>
                <a:cubicBezTo>
                  <a:pt x="14947" y="44"/>
                  <a:pt x="14957" y="53"/>
                  <a:pt x="14967" y="62"/>
                </a:cubicBezTo>
                <a:cubicBezTo>
                  <a:pt x="14977" y="72"/>
                  <a:pt x="14986" y="83"/>
                  <a:pt x="14993" y="95"/>
                </a:cubicBezTo>
                <a:cubicBezTo>
                  <a:pt x="15001" y="106"/>
                  <a:pt x="15008" y="118"/>
                  <a:pt x="15013" y="131"/>
                </a:cubicBezTo>
                <a:cubicBezTo>
                  <a:pt x="15018" y="144"/>
                  <a:pt x="15022" y="157"/>
                  <a:pt x="15025" y="171"/>
                </a:cubicBezTo>
                <a:cubicBezTo>
                  <a:pt x="15028" y="185"/>
                  <a:pt x="15029" y="198"/>
                  <a:pt x="15029" y="212"/>
                </a:cubicBezTo>
                <a:lnTo>
                  <a:pt x="15029" y="10373"/>
                </a:lnTo>
                <a:cubicBezTo>
                  <a:pt x="15029" y="10387"/>
                  <a:pt x="15028" y="10401"/>
                  <a:pt x="15025" y="10414"/>
                </a:cubicBezTo>
                <a:cubicBezTo>
                  <a:pt x="15022" y="10428"/>
                  <a:pt x="15018" y="10441"/>
                  <a:pt x="15013" y="10454"/>
                </a:cubicBezTo>
                <a:cubicBezTo>
                  <a:pt x="15008" y="10467"/>
                  <a:pt x="15001" y="10479"/>
                  <a:pt x="14993" y="10491"/>
                </a:cubicBezTo>
                <a:cubicBezTo>
                  <a:pt x="14986" y="10502"/>
                  <a:pt x="14977" y="10513"/>
                  <a:pt x="14967" y="10523"/>
                </a:cubicBezTo>
                <a:cubicBezTo>
                  <a:pt x="14957" y="10533"/>
                  <a:pt x="14947" y="10541"/>
                  <a:pt x="14935" y="10549"/>
                </a:cubicBezTo>
                <a:cubicBezTo>
                  <a:pt x="14924" y="10557"/>
                  <a:pt x="14911" y="10563"/>
                  <a:pt x="14898" y="10569"/>
                </a:cubicBezTo>
                <a:cubicBezTo>
                  <a:pt x="14886" y="10574"/>
                  <a:pt x="14872" y="10578"/>
                  <a:pt x="14859" y="10581"/>
                </a:cubicBezTo>
                <a:cubicBezTo>
                  <a:pt x="14845" y="10583"/>
                  <a:pt x="14831" y="10585"/>
                  <a:pt x="14817" y="10585"/>
                </a:cubicBezTo>
                <a:lnTo>
                  <a:pt x="211" y="10585"/>
                </a:lnTo>
                <a:cubicBezTo>
                  <a:pt x="198" y="10585"/>
                  <a:pt x="184" y="10583"/>
                  <a:pt x="170" y="10581"/>
                </a:cubicBezTo>
                <a:cubicBezTo>
                  <a:pt x="157" y="10578"/>
                  <a:pt x="143" y="10574"/>
                  <a:pt x="130" y="10569"/>
                </a:cubicBezTo>
                <a:cubicBezTo>
                  <a:pt x="118" y="10563"/>
                  <a:pt x="105" y="10557"/>
                  <a:pt x="94" y="10549"/>
                </a:cubicBezTo>
                <a:cubicBezTo>
                  <a:pt x="82" y="10541"/>
                  <a:pt x="72" y="10533"/>
                  <a:pt x="62" y="10523"/>
                </a:cubicBezTo>
                <a:cubicBezTo>
                  <a:pt x="52" y="10513"/>
                  <a:pt x="43" y="10502"/>
                  <a:pt x="36" y="10491"/>
                </a:cubicBezTo>
                <a:cubicBezTo>
                  <a:pt x="28" y="10479"/>
                  <a:pt x="21" y="10467"/>
                  <a:pt x="16" y="10454"/>
                </a:cubicBezTo>
                <a:cubicBezTo>
                  <a:pt x="11" y="10441"/>
                  <a:pt x="7" y="10428"/>
                  <a:pt x="4" y="10414"/>
                </a:cubicBezTo>
                <a:cubicBezTo>
                  <a:pt x="1" y="10401"/>
                  <a:pt x="0" y="10387"/>
                  <a:pt x="0" y="1037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6324480" y="2057040"/>
            <a:ext cx="3333960" cy="533880"/>
          </a:xfrm>
          <a:custGeom>
            <a:avLst/>
            <a:gdLst/>
            <a:ahLst/>
            <a:rect l="0" t="0" r="r" b="b"/>
            <a:pathLst>
              <a:path w="9261" h="1483">
                <a:moveTo>
                  <a:pt x="16" y="131"/>
                </a:moveTo>
                <a:cubicBezTo>
                  <a:pt x="27" y="105"/>
                  <a:pt x="42" y="82"/>
                  <a:pt x="62" y="62"/>
                </a:cubicBezTo>
                <a:cubicBezTo>
                  <a:pt x="82" y="43"/>
                  <a:pt x="105" y="27"/>
                  <a:pt x="130" y="17"/>
                </a:cubicBezTo>
                <a:cubicBezTo>
                  <a:pt x="156" y="6"/>
                  <a:pt x="183" y="1"/>
                  <a:pt x="211" y="0"/>
                </a:cubicBezTo>
                <a:lnTo>
                  <a:pt x="9261" y="0"/>
                </a:lnTo>
                <a:lnTo>
                  <a:pt x="9261" y="1483"/>
                </a:lnTo>
                <a:lnTo>
                  <a:pt x="0" y="1483"/>
                </a:lnTo>
                <a:lnTo>
                  <a:pt x="0" y="212"/>
                </a:lnTo>
                <a:cubicBezTo>
                  <a:pt x="0" y="184"/>
                  <a:pt x="5" y="157"/>
                  <a:pt x="16" y="131"/>
                </a:cubicBezTo>
                <a:close/>
              </a:path>
            </a:pathLst>
          </a:custGeom>
          <a:solidFill>
            <a:srgbClr val="002b5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9658080" y="2057040"/>
            <a:ext cx="2076840" cy="533880"/>
          </a:xfrm>
          <a:custGeom>
            <a:avLst/>
            <a:gdLst/>
            <a:ahLst/>
            <a:rect l="0" t="0" r="r" b="b"/>
            <a:pathLst>
              <a:path w="5769" h="1483">
                <a:moveTo>
                  <a:pt x="5638" y="17"/>
                </a:moveTo>
                <a:cubicBezTo>
                  <a:pt x="5664" y="27"/>
                  <a:pt x="5687" y="43"/>
                  <a:pt x="5707" y="62"/>
                </a:cubicBezTo>
                <a:cubicBezTo>
                  <a:pt x="5727" y="82"/>
                  <a:pt x="5742" y="105"/>
                  <a:pt x="5753" y="131"/>
                </a:cubicBezTo>
                <a:cubicBezTo>
                  <a:pt x="5764" y="157"/>
                  <a:pt x="5769" y="184"/>
                  <a:pt x="5769" y="212"/>
                </a:cubicBezTo>
                <a:lnTo>
                  <a:pt x="5769" y="1483"/>
                </a:lnTo>
                <a:lnTo>
                  <a:pt x="0" y="1483"/>
                </a:lnTo>
                <a:lnTo>
                  <a:pt x="0" y="0"/>
                </a:lnTo>
                <a:lnTo>
                  <a:pt x="5558" y="0"/>
                </a:lnTo>
                <a:cubicBezTo>
                  <a:pt x="5586" y="1"/>
                  <a:pt x="5613" y="6"/>
                  <a:pt x="5638" y="17"/>
                </a:cubicBezTo>
                <a:close/>
              </a:path>
            </a:pathLst>
          </a:custGeom>
          <a:solidFill>
            <a:srgbClr val="002b5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6324480" y="5324400"/>
            <a:ext cx="3333960" cy="543240"/>
          </a:xfrm>
          <a:custGeom>
            <a:avLst/>
            <a:gdLst/>
            <a:ahLst/>
            <a:rect l="0" t="0" r="r" b="b"/>
            <a:pathLst>
              <a:path w="9261" h="1509">
                <a:moveTo>
                  <a:pt x="211" y="1509"/>
                </a:moveTo>
                <a:cubicBezTo>
                  <a:pt x="183" y="1509"/>
                  <a:pt x="156" y="1503"/>
                  <a:pt x="130" y="1493"/>
                </a:cubicBezTo>
                <a:cubicBezTo>
                  <a:pt x="105" y="1482"/>
                  <a:pt x="82" y="1467"/>
                  <a:pt x="62" y="1447"/>
                </a:cubicBezTo>
                <a:cubicBezTo>
                  <a:pt x="42" y="1427"/>
                  <a:pt x="27" y="1404"/>
                  <a:pt x="16" y="1378"/>
                </a:cubicBezTo>
                <a:cubicBezTo>
                  <a:pt x="5" y="1352"/>
                  <a:pt x="0" y="1325"/>
                  <a:pt x="0" y="1297"/>
                </a:cubicBezTo>
                <a:lnTo>
                  <a:pt x="0" y="0"/>
                </a:lnTo>
                <a:lnTo>
                  <a:pt x="9261" y="0"/>
                </a:lnTo>
                <a:lnTo>
                  <a:pt x="9261" y="1509"/>
                </a:lnTo>
                <a:lnTo>
                  <a:pt x="211" y="1509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9658080" y="5324400"/>
            <a:ext cx="2076840" cy="543240"/>
          </a:xfrm>
          <a:custGeom>
            <a:avLst/>
            <a:gdLst/>
            <a:ahLst/>
            <a:rect l="0" t="0" r="r" b="b"/>
            <a:pathLst>
              <a:path w="5769" h="1509">
                <a:moveTo>
                  <a:pt x="5769" y="1297"/>
                </a:moveTo>
                <a:cubicBezTo>
                  <a:pt x="5769" y="1325"/>
                  <a:pt x="5764" y="1352"/>
                  <a:pt x="5753" y="1378"/>
                </a:cubicBezTo>
                <a:cubicBezTo>
                  <a:pt x="5742" y="1404"/>
                  <a:pt x="5727" y="1427"/>
                  <a:pt x="5707" y="1447"/>
                </a:cubicBezTo>
                <a:cubicBezTo>
                  <a:pt x="5687" y="1467"/>
                  <a:pt x="5664" y="1482"/>
                  <a:pt x="5638" y="1493"/>
                </a:cubicBezTo>
                <a:cubicBezTo>
                  <a:pt x="5613" y="1503"/>
                  <a:pt x="5586" y="1509"/>
                  <a:pt x="5557" y="1509"/>
                </a:cubicBezTo>
                <a:lnTo>
                  <a:pt x="0" y="1509"/>
                </a:lnTo>
                <a:lnTo>
                  <a:pt x="0" y="0"/>
                </a:lnTo>
                <a:lnTo>
                  <a:pt x="5769" y="0"/>
                </a:lnTo>
                <a:lnTo>
                  <a:pt x="5769" y="1297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6324480" y="3124080"/>
            <a:ext cx="3333960" cy="9720"/>
          </a:xfrm>
          <a:custGeom>
            <a:avLst/>
            <a:gdLst/>
            <a:ahLst/>
            <a:rect l="0" t="0" r="r" b="b"/>
            <a:pathLst>
              <a:path w="9261" h="27">
                <a:moveTo>
                  <a:pt x="0" y="0"/>
                </a:moveTo>
                <a:lnTo>
                  <a:pt x="9261" y="0"/>
                </a:lnTo>
                <a:lnTo>
                  <a:pt x="926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9658080" y="3124080"/>
            <a:ext cx="2076840" cy="9720"/>
          </a:xfrm>
          <a:custGeom>
            <a:avLst/>
            <a:gdLst/>
            <a:ahLst/>
            <a:rect l="0" t="0" r="r" b="b"/>
            <a:pathLst>
              <a:path w="5769" h="27">
                <a:moveTo>
                  <a:pt x="5769" y="27"/>
                </a:moveTo>
                <a:lnTo>
                  <a:pt x="0" y="27"/>
                </a:lnTo>
                <a:lnTo>
                  <a:pt x="0" y="0"/>
                </a:lnTo>
                <a:lnTo>
                  <a:pt x="5769" y="0"/>
                </a:lnTo>
                <a:lnTo>
                  <a:pt x="5769" y="27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6324480" y="3676320"/>
            <a:ext cx="3333960" cy="10080"/>
          </a:xfrm>
          <a:custGeom>
            <a:avLst/>
            <a:gdLst/>
            <a:ahLst/>
            <a:rect l="0" t="0" r="r" b="b"/>
            <a:pathLst>
              <a:path w="9261" h="28">
                <a:moveTo>
                  <a:pt x="0" y="0"/>
                </a:moveTo>
                <a:lnTo>
                  <a:pt x="9261" y="0"/>
                </a:lnTo>
                <a:lnTo>
                  <a:pt x="926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9658080" y="3676320"/>
            <a:ext cx="2076840" cy="10080"/>
          </a:xfrm>
          <a:custGeom>
            <a:avLst/>
            <a:gdLst/>
            <a:ahLst/>
            <a:rect l="0" t="0" r="r" b="b"/>
            <a:pathLst>
              <a:path w="5769" h="28">
                <a:moveTo>
                  <a:pt x="5769" y="28"/>
                </a:moveTo>
                <a:lnTo>
                  <a:pt x="0" y="28"/>
                </a:lnTo>
                <a:lnTo>
                  <a:pt x="0" y="0"/>
                </a:lnTo>
                <a:lnTo>
                  <a:pt x="5769" y="0"/>
                </a:lnTo>
                <a:lnTo>
                  <a:pt x="5769" y="28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6324480" y="4219560"/>
            <a:ext cx="3333960" cy="9720"/>
          </a:xfrm>
          <a:custGeom>
            <a:avLst/>
            <a:gdLst/>
            <a:ahLst/>
            <a:rect l="0" t="0" r="r" b="b"/>
            <a:pathLst>
              <a:path w="9261" h="27">
                <a:moveTo>
                  <a:pt x="0" y="0"/>
                </a:moveTo>
                <a:lnTo>
                  <a:pt x="9261" y="0"/>
                </a:lnTo>
                <a:lnTo>
                  <a:pt x="926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9658080" y="4219560"/>
            <a:ext cx="2076840" cy="9720"/>
          </a:xfrm>
          <a:custGeom>
            <a:avLst/>
            <a:gdLst/>
            <a:ahLst/>
            <a:rect l="0" t="0" r="r" b="b"/>
            <a:pathLst>
              <a:path w="5769" h="27">
                <a:moveTo>
                  <a:pt x="5769" y="27"/>
                </a:moveTo>
                <a:lnTo>
                  <a:pt x="0" y="27"/>
                </a:lnTo>
                <a:lnTo>
                  <a:pt x="0" y="0"/>
                </a:lnTo>
                <a:lnTo>
                  <a:pt x="5769" y="0"/>
                </a:lnTo>
                <a:lnTo>
                  <a:pt x="5769" y="27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6324480" y="4771800"/>
            <a:ext cx="3333960" cy="10080"/>
          </a:xfrm>
          <a:custGeom>
            <a:avLst/>
            <a:gdLst/>
            <a:ahLst/>
            <a:rect l="0" t="0" r="r" b="b"/>
            <a:pathLst>
              <a:path w="9261" h="28">
                <a:moveTo>
                  <a:pt x="0" y="0"/>
                </a:moveTo>
                <a:lnTo>
                  <a:pt x="9261" y="0"/>
                </a:lnTo>
                <a:lnTo>
                  <a:pt x="926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9658080" y="4771800"/>
            <a:ext cx="2076840" cy="10080"/>
          </a:xfrm>
          <a:custGeom>
            <a:avLst/>
            <a:gdLst/>
            <a:ahLst/>
            <a:rect l="0" t="0" r="r" b="b"/>
            <a:pathLst>
              <a:path w="5769" h="28">
                <a:moveTo>
                  <a:pt x="5769" y="28"/>
                </a:moveTo>
                <a:lnTo>
                  <a:pt x="0" y="28"/>
                </a:lnTo>
                <a:lnTo>
                  <a:pt x="0" y="0"/>
                </a:lnTo>
                <a:lnTo>
                  <a:pt x="5769" y="0"/>
                </a:lnTo>
                <a:lnTo>
                  <a:pt x="5769" y="28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6324480" y="5314680"/>
            <a:ext cx="3333960" cy="10080"/>
          </a:xfrm>
          <a:custGeom>
            <a:avLst/>
            <a:gdLst/>
            <a:ahLst/>
            <a:rect l="0" t="0" r="r" b="b"/>
            <a:pathLst>
              <a:path w="9261" h="28">
                <a:moveTo>
                  <a:pt x="0" y="0"/>
                </a:moveTo>
                <a:lnTo>
                  <a:pt x="9261" y="0"/>
                </a:lnTo>
                <a:lnTo>
                  <a:pt x="926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9658080" y="5314680"/>
            <a:ext cx="2076840" cy="10080"/>
          </a:xfrm>
          <a:custGeom>
            <a:avLst/>
            <a:gdLst/>
            <a:ahLst/>
            <a:rect l="0" t="0" r="r" b="b"/>
            <a:pathLst>
              <a:path w="5769" h="28">
                <a:moveTo>
                  <a:pt x="5769" y="28"/>
                </a:moveTo>
                <a:lnTo>
                  <a:pt x="0" y="28"/>
                </a:lnTo>
                <a:lnTo>
                  <a:pt x="0" y="0"/>
                </a:lnTo>
                <a:lnTo>
                  <a:pt x="5769" y="0"/>
                </a:lnTo>
                <a:lnTo>
                  <a:pt x="5769" y="28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457200" y="4876560"/>
            <a:ext cx="42724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0052d9"/>
                </a:solidFill>
                <a:effectLst/>
                <a:uFillTx/>
                <a:latin typeface="Noto Sans SC"/>
                <a:ea typeface="Noto Sans SC"/>
              </a:rPr>
              <a:t>2035 Projected Operating Cash Flow:</a:t>
            </a:r>
            <a:r>
              <a:rPr b="0" lang="en-US" sz="135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 RMB 550-650 billion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6477120" y="2235960"/>
            <a:ext cx="1105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ffffff"/>
                </a:solidFill>
                <a:effectLst/>
                <a:uFillTx/>
                <a:latin typeface="Noto Sans SC"/>
                <a:ea typeface="Noto Sans SC"/>
              </a:rPr>
              <a:t>DCF Parameters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11215440" y="2235960"/>
            <a:ext cx="3816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ffffff"/>
                </a:solidFill>
                <a:effectLst/>
                <a:uFillTx/>
                <a:latin typeface="Noto Sans SC"/>
                <a:ea typeface="Noto Sans SC"/>
              </a:rPr>
              <a:t>Value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6477120" y="2769480"/>
            <a:ext cx="22233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2024 Free Cash Flow (RMB billion)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11125080" y="2769480"/>
            <a:ext cx="457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1,562.1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6477120" y="3321720"/>
            <a:ext cx="1482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Short-term Growth Rate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11379240" y="3321720"/>
            <a:ext cx="2037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7%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6477120" y="3864600"/>
            <a:ext cx="270504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Weighted Average Cost of Capital (WACC)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11379240" y="3864600"/>
            <a:ext cx="2037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9%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6477120" y="4417200"/>
            <a:ext cx="13971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Perpetual Growth Rate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11379240" y="4417200"/>
            <a:ext cx="2037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3%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6477120" y="4960080"/>
            <a:ext cx="276444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Terminal Value Present Value (RMB billion)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11163240" y="4960080"/>
            <a:ext cx="4197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24,713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6477120" y="5512680"/>
            <a:ext cx="17017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0052d9"/>
                </a:solidFill>
                <a:effectLst/>
                <a:uFillTx/>
                <a:latin typeface="Noto Sans SC"/>
                <a:ea typeface="Noto Sans SC"/>
              </a:rPr>
              <a:t>Terminal Value Calculation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10006560" y="5512680"/>
            <a:ext cx="2718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0052d9"/>
                </a:solidFill>
                <a:effectLst/>
                <a:uFillTx/>
                <a:latin typeface="Noto Sans SC"/>
                <a:ea typeface="Noto Sans SC"/>
              </a:rPr>
              <a:t>FCF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10277640" y="550692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0052d9"/>
                </a:solidFill>
                <a:effectLst/>
                <a:uFillTx/>
                <a:latin typeface="NotoSansMono"/>
                <a:ea typeface="NotoSansMono"/>
              </a:rPr>
              <a:t>ₙ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456840" y="914040"/>
            <a:ext cx="610200" cy="38520"/>
          </a:xfrm>
          <a:custGeom>
            <a:avLst/>
            <a:gdLst/>
            <a:ahLst/>
            <a:rect l="0" t="0" r="r" b="b"/>
            <a:pathLst>
              <a:path w="1695" h="107">
                <a:moveTo>
                  <a:pt x="0" y="0"/>
                </a:moveTo>
                <a:lnTo>
                  <a:pt x="1695" y="0"/>
                </a:lnTo>
                <a:lnTo>
                  <a:pt x="1695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52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10369080" y="5512680"/>
            <a:ext cx="123084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0052d9"/>
                </a:solidFill>
                <a:effectLst/>
                <a:uFillTx/>
                <a:latin typeface="Noto Sans SC"/>
                <a:ea typeface="Noto Sans SC"/>
              </a:rPr>
              <a:t>× (1+g)/(WACC-g)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457200" y="456480"/>
            <a:ext cx="424908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700" strike="noStrike" u="none" i="0">
                <a:solidFill>
                  <a:srgbClr val="002b5c"/>
                </a:solidFill>
                <a:effectLst/>
                <a:uFillTx/>
                <a:latin typeface="Noto Sans SC"/>
                <a:ea typeface="Noto Sans SC"/>
              </a:rPr>
              <a:t>DCF Valuation Methodology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304920" y="6350760"/>
            <a:ext cx="24256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9ca3af"/>
                </a:solidFill>
                <a:effectLst/>
                <a:uFillTx/>
                <a:latin typeface="Noto Sans SC"/>
                <a:ea typeface="Noto Sans SC"/>
              </a:rPr>
              <a:t>Tencent Holdings Ltd. Research Report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11734920" y="6350760"/>
            <a:ext cx="153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9ca3af"/>
                </a:solidFill>
                <a:effectLst/>
                <a:uFillTx/>
                <a:latin typeface="Noto Sans SC"/>
                <a:ea typeface="Noto Sans SC"/>
              </a:rPr>
              <a:t>10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457200" y="2962080"/>
            <a:ext cx="30963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0052d9"/>
                </a:solidFill>
                <a:effectLst/>
                <a:uFillTx/>
                <a:latin typeface="Noto Sans SC"/>
                <a:ea typeface="Noto Sans SC"/>
              </a:rPr>
              <a:t>2025 FCF Projection:</a:t>
            </a:r>
            <a:r>
              <a:rPr b="0" lang="en-US" sz="135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 RMB 180-200 billion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457200" y="3466800"/>
            <a:ext cx="32104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0052d9"/>
                </a:solidFill>
                <a:effectLst/>
                <a:uFillTx/>
                <a:latin typeface="Noto Sans SC"/>
                <a:ea typeface="Noto Sans SC"/>
              </a:rPr>
              <a:t>2025 Adjusted Net Profit:</a:t>
            </a:r>
            <a:r>
              <a:rPr b="0" lang="en-US" sz="135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 RMB 240.5 billion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457200" y="3971520"/>
            <a:ext cx="49960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0052d9"/>
                </a:solidFill>
                <a:effectLst/>
                <a:uFillTx/>
                <a:latin typeface="Noto Sans SC"/>
                <a:ea typeface="Noto Sans SC"/>
              </a:rPr>
              <a:t>Long-term Drivers:</a:t>
            </a:r>
            <a:r>
              <a:rPr b="0" lang="en-US" sz="135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 AI (ad/cloud), global gaming (40% revenue target),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457200" y="4257360"/>
            <a:ext cx="19911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333333"/>
                </a:solidFill>
                <a:effectLst/>
                <a:uFillTx/>
                <a:latin typeface="Times New Roman"/>
                <a:ea typeface="Times New Roman"/>
              </a:rPr>
              <a:t>Video Accounts e-commerce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457200" y="4762080"/>
            <a:ext cx="23000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0052d9"/>
                </a:solidFill>
                <a:effectLst/>
                <a:uFillTx/>
                <a:latin typeface="Noto Sans SC"/>
                <a:ea typeface="Noto Sans SC"/>
              </a:rPr>
              <a:t>2025-2030 FCF CAGR:</a:t>
            </a:r>
            <a:r>
              <a:rPr b="0" lang="en-US" sz="135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 10-15%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6324480" y="6224760"/>
            <a:ext cx="132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 i="0">
                <a:solidFill>
                  <a:srgbClr val="6b7280"/>
                </a:solidFill>
                <a:effectLst/>
                <a:uFillTx/>
                <a:latin typeface="Noto Sans SC"/>
                <a:ea typeface="Noto Sans SC"/>
              </a:rPr>
              <a:t>[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6369120" y="6220080"/>
            <a:ext cx="8758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 i="0">
                <a:solidFill>
                  <a:srgbClr val="6b7280"/>
                </a:solidFill>
                <a:effectLst/>
                <a:uFillTx/>
                <a:latin typeface="Noto Sans SC"/>
                <a:ea typeface="Noto Sans SC"/>
              </a:rPr>
              <a:t>数据来源：预测腾讯未来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7836120" y="6224760"/>
            <a:ext cx="1332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 i="0">
                <a:solidFill>
                  <a:srgbClr val="6b7280"/>
                </a:solidFill>
                <a:effectLst/>
                <a:uFillTx/>
                <a:latin typeface="Noto Sans SC"/>
                <a:ea typeface="Noto Sans SC"/>
              </a:rPr>
              <a:t>10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7969320" y="6220080"/>
            <a:ext cx="5576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 i="0">
                <a:solidFill>
                  <a:srgbClr val="6b7280"/>
                </a:solidFill>
                <a:effectLst/>
                <a:uFillTx/>
                <a:latin typeface="Noto Sans SC"/>
                <a:ea typeface="Noto Sans SC"/>
              </a:rPr>
              <a:t>年的自由现金流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18" name="" descr=""/>
          <p:cNvPicPr/>
          <p:nvPr/>
        </p:nvPicPr>
        <p:blipFill>
          <a:blip r:embed="rId1"/>
          <a:stretch/>
        </p:blipFill>
        <p:spPr>
          <a:xfrm>
            <a:off x="6324480" y="1523880"/>
            <a:ext cx="5409720" cy="453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9" name=""/>
          <p:cNvSpPr/>
          <p:nvPr/>
        </p:nvSpPr>
        <p:spPr>
          <a:xfrm>
            <a:off x="456840" y="914040"/>
            <a:ext cx="610200" cy="38520"/>
          </a:xfrm>
          <a:custGeom>
            <a:avLst/>
            <a:gdLst/>
            <a:ahLst/>
            <a:rect l="0" t="0" r="r" b="b"/>
            <a:pathLst>
              <a:path w="1695" h="107">
                <a:moveTo>
                  <a:pt x="0" y="0"/>
                </a:moveTo>
                <a:lnTo>
                  <a:pt x="1695" y="0"/>
                </a:lnTo>
                <a:lnTo>
                  <a:pt x="1695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52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8902800" y="6224760"/>
            <a:ext cx="132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 i="0">
                <a:solidFill>
                  <a:srgbClr val="6b7280"/>
                </a:solidFill>
                <a:effectLst/>
                <a:uFillTx/>
                <a:latin typeface="Noto Sans SC"/>
                <a:ea typeface="Noto Sans SC"/>
              </a:rPr>
              <a:t>]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457200" y="456480"/>
            <a:ext cx="428616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700" strike="noStrike" u="none" i="0">
                <a:solidFill>
                  <a:srgbClr val="002b5c"/>
                </a:solidFill>
                <a:effectLst/>
                <a:uFillTx/>
                <a:latin typeface="Noto Sans SC"/>
                <a:ea typeface="Noto Sans SC"/>
              </a:rPr>
              <a:t>Financial Forecast 2025-2030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304920" y="6350760"/>
            <a:ext cx="24256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9ca3af"/>
                </a:solidFill>
                <a:effectLst/>
                <a:uFillTx/>
                <a:latin typeface="Times New Roman"/>
                <a:ea typeface="Times New Roman"/>
              </a:rPr>
              <a:t>Tencent Holdings Ltd. Research Report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11740320" y="6350760"/>
            <a:ext cx="153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9ca3af"/>
                </a:solidFill>
                <a:effectLst/>
                <a:uFillTx/>
                <a:latin typeface="Noto Sans SC"/>
                <a:ea typeface="Noto Sans SC"/>
              </a:rPr>
              <a:t>11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26" name="" descr=""/>
          <p:cNvPicPr/>
          <p:nvPr/>
        </p:nvPicPr>
        <p:blipFill>
          <a:blip r:embed="rId1"/>
          <a:stretch/>
        </p:blipFill>
        <p:spPr>
          <a:xfrm>
            <a:off x="457200" y="2438280"/>
            <a:ext cx="5409720" cy="304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7" name=""/>
          <p:cNvSpPr txBox="1"/>
          <p:nvPr/>
        </p:nvSpPr>
        <p:spPr>
          <a:xfrm>
            <a:off x="6324480" y="3168000"/>
            <a:ext cx="21218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 i="0">
                <a:solidFill>
                  <a:srgbClr val="0052d9"/>
                </a:solidFill>
                <a:effectLst/>
                <a:uFillTx/>
                <a:latin typeface="Noto Sans SC"/>
                <a:ea typeface="Noto Sans SC"/>
              </a:rPr>
              <a:t>Summary of Findings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6324480" y="3714480"/>
            <a:ext cx="53546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Tencent's strong fundamentals, leading market position, and strategic focus on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6324480" y="3990600"/>
            <a:ext cx="51105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AI, internationalization, and ecosystem integration position it for sustained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6324480" y="4266720"/>
            <a:ext cx="47984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growth. DCF valuation indicates potential upside, supported by robust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456840" y="914040"/>
            <a:ext cx="610200" cy="38520"/>
          </a:xfrm>
          <a:custGeom>
            <a:avLst/>
            <a:gdLst/>
            <a:ahLst/>
            <a:rect l="0" t="0" r="r" b="b"/>
            <a:pathLst>
              <a:path w="1695" h="107">
                <a:moveTo>
                  <a:pt x="0" y="0"/>
                </a:moveTo>
                <a:lnTo>
                  <a:pt x="1695" y="0"/>
                </a:lnTo>
                <a:lnTo>
                  <a:pt x="1695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52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6324480" y="4543200"/>
            <a:ext cx="28494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333333"/>
                </a:solidFill>
                <a:effectLst/>
                <a:uFillTx/>
                <a:latin typeface="Noto Sans SC"/>
                <a:ea typeface="Noto Sans SC"/>
              </a:rPr>
              <a:t>financial forecasts and industry tailwinds.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457200" y="456480"/>
            <a:ext cx="393552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700" strike="noStrike" u="none" i="0">
                <a:solidFill>
                  <a:srgbClr val="002b5c"/>
                </a:solidFill>
                <a:effectLst/>
                <a:uFillTx/>
                <a:latin typeface="Noto Sans SC"/>
                <a:ea typeface="Noto Sans SC"/>
              </a:rPr>
              <a:t>Conclusion &amp; Key Insights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304920" y="6350760"/>
            <a:ext cx="24256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9ca3af"/>
                </a:solidFill>
                <a:effectLst/>
                <a:uFillTx/>
                <a:latin typeface="Noto Sans SC"/>
                <a:ea typeface="Noto Sans SC"/>
              </a:rPr>
              <a:t>Tencent Holdings Ltd. Research Report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11734920" y="6350760"/>
            <a:ext cx="153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9ca3af"/>
                </a:solidFill>
                <a:effectLst/>
                <a:uFillTx/>
                <a:latin typeface="Times New Roman"/>
                <a:ea typeface="Times New Roman"/>
              </a:rPr>
              <a:t>12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2b5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38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9" name=""/>
          <p:cNvSpPr/>
          <p:nvPr/>
        </p:nvSpPr>
        <p:spPr>
          <a:xfrm>
            <a:off x="0" y="0"/>
            <a:ext cx="12192120" cy="76320"/>
          </a:xfrm>
          <a:custGeom>
            <a:avLst/>
            <a:gdLst/>
            <a:ahLst/>
            <a:rect l="0" t="0" r="r" b="b"/>
            <a:pathLst>
              <a:path w="33867" h="212">
                <a:moveTo>
                  <a:pt x="0" y="0"/>
                </a:moveTo>
                <a:lnTo>
                  <a:pt x="33867" y="0"/>
                </a:lnTo>
                <a:lnTo>
                  <a:pt x="33867" y="212"/>
                </a:lnTo>
                <a:lnTo>
                  <a:pt x="0" y="212"/>
                </a:lnTo>
                <a:lnTo>
                  <a:pt x="0" y="0"/>
                </a:lnTo>
                <a:close/>
              </a:path>
            </a:pathLst>
          </a:custGeom>
          <a:solidFill>
            <a:srgbClr val="00a4e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8124480" y="4571640"/>
            <a:ext cx="4067640" cy="2286360"/>
          </a:xfrm>
          <a:custGeom>
            <a:avLst/>
            <a:gdLst/>
            <a:ahLst/>
            <a:rect l="0" t="0" r="r" b="b"/>
            <a:pathLst>
              <a:path w="11299" h="6351">
                <a:moveTo>
                  <a:pt x="0" y="0"/>
                </a:moveTo>
                <a:lnTo>
                  <a:pt x="11299" y="0"/>
                </a:lnTo>
                <a:lnTo>
                  <a:pt x="11299" y="212"/>
                </a:lnTo>
                <a:lnTo>
                  <a:pt x="0" y="212"/>
                </a:lnTo>
                <a:lnTo>
                  <a:pt x="0" y="0"/>
                </a:lnTo>
                <a:moveTo>
                  <a:pt x="0" y="0"/>
                </a:moveTo>
                <a:lnTo>
                  <a:pt x="212" y="0"/>
                </a:lnTo>
                <a:lnTo>
                  <a:pt x="212" y="6351"/>
                </a:lnTo>
                <a:lnTo>
                  <a:pt x="0" y="63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5714640" y="3514680"/>
            <a:ext cx="762480" cy="57240"/>
          </a:xfrm>
          <a:custGeom>
            <a:avLst/>
            <a:gdLst/>
            <a:ahLst/>
            <a:rect l="0" t="0" r="r" b="b"/>
            <a:pathLst>
              <a:path w="2118" h="159">
                <a:moveTo>
                  <a:pt x="0" y="0"/>
                </a:moveTo>
                <a:lnTo>
                  <a:pt x="2118" y="0"/>
                </a:lnTo>
                <a:lnTo>
                  <a:pt x="2118" y="159"/>
                </a:lnTo>
                <a:lnTo>
                  <a:pt x="0" y="159"/>
                </a:lnTo>
                <a:lnTo>
                  <a:pt x="0" y="0"/>
                </a:lnTo>
                <a:close/>
              </a:path>
            </a:pathLst>
          </a:custGeom>
          <a:solidFill>
            <a:srgbClr val="00a4e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4223880" y="2605320"/>
            <a:ext cx="3509280" cy="632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500" strike="noStrike" u="none" i="0">
                <a:solidFill>
                  <a:srgbClr val="ffffff"/>
                </a:solidFill>
                <a:effectLst/>
                <a:uFillTx/>
                <a:latin typeface="Noto Sans SC"/>
                <a:ea typeface="Noto Sans SC"/>
              </a:rPr>
              <a:t>THANK YOU</a:t>
            </a:r>
            <a:endParaRPr b="0" lang="en-US" sz="4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4714560" y="3888720"/>
            <a:ext cx="2770560" cy="31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250" strike="noStrike" u="none" i="0">
                <a:solidFill>
                  <a:srgbClr val="ffffff">
                    <a:alpha val="90000"/>
                  </a:srgbClr>
                </a:solidFill>
                <a:effectLst/>
                <a:uFillTx/>
                <a:latin typeface="Noto Sans SC"/>
                <a:ea typeface="Noto Sans SC"/>
              </a:rPr>
              <a:t>Questions &amp; Discussion</a:t>
            </a:r>
            <a:endParaRPr b="0" lang="en-US" sz="22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LibreOffice_project/bbb074479178df812d175f709636b368952c2ce3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