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Montserrat" pitchFamily="34" charset="0"/>
      <p:bold r:id="rId18"/>
    </p:embeddedFont>
    <p:embeddedFont>
      <p:font typeface="Montserrat" pitchFamily="34" charset="-122"/>
      <p:bold r:id="rId19"/>
    </p:embeddedFont>
    <p:embeddedFont>
      <p:font typeface="Montserrat" pitchFamily="34" charset="-120"/>
      <p:bold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  <p:embeddedFont>
      <p:font typeface="MiSans Bold" panose="00000800000000000000" charset="-122"/>
      <p:bold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6160" cy="73406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44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661536" y="0"/>
            <a:ext cx="3566160" cy="73406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44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3896341"/>
            <a:ext cx="3566160" cy="7340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44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661536" y="13896341"/>
            <a:ext cx="3566160" cy="7340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4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5.png"/><Relationship Id="rId4" Type="http://schemas.openxmlformats.org/officeDocument/2006/relationships/tags" Target="../tags/tag3.xml"/><Relationship Id="rId3" Type="http://schemas.openxmlformats.org/officeDocument/2006/relationships/image" Target="../media/image4.png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3.xml"/><Relationship Id="rId20" Type="http://schemas.openxmlformats.org/officeDocument/2006/relationships/tags" Target="../tags/tag18.xml"/><Relationship Id="rId2" Type="http://schemas.openxmlformats.org/officeDocument/2006/relationships/tags" Target="../tags/tag2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402092"/>
            <a:ext cx="7627382" cy="14254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花的语言：用花诉说心声的秘密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26669"/>
            <a:ext cx="5701546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花语的起源与意义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072646"/>
            <a:ext cx="13113782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花语是人们用花朵表达情感和心意的隐秘语言，每一种花，甚至每一种颜色、枝数，都承载着不同的含义。古今中外，花语都是爱、友情、祝福与哀愁的载体。</a:t>
            </a:r>
            <a:endParaRPr lang="en-US" sz="17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758309" y="4334708"/>
            <a:ext cx="4226838" cy="1968222"/>
          </a:xfrm>
          <a:prstGeom prst="roundRect">
            <a:avLst>
              <a:gd name="adj" fmla="val 7433"/>
            </a:avLst>
          </a:prstGeom>
          <a:solidFill>
            <a:srgbClr val="FFFFFF"/>
          </a:solidFill>
        </p:spPr>
      </p:sp>
      <p:pic>
        <p:nvPicPr>
          <p:cNvPr id="5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8309" y="4304228"/>
            <a:ext cx="4226838" cy="1219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546687" y="4009787"/>
            <a:ext cx="649962" cy="649962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6"/>
            </p:custDataLst>
          </p:nvPr>
        </p:nvSpPr>
        <p:spPr>
          <a:xfrm>
            <a:off x="2741712" y="4172307"/>
            <a:ext cx="259913" cy="324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1</a:t>
            </a:r>
            <a:endParaRPr lang="en-US" sz="2000" dirty="0"/>
          </a:p>
        </p:txBody>
      </p:sp>
      <p:sp>
        <p:nvSpPr>
          <p:cNvPr id="8" name="Text 4"/>
          <p:cNvSpPr/>
          <p:nvPr>
            <p:custDataLst>
              <p:tags r:id="rId7"/>
            </p:custDataLst>
          </p:nvPr>
        </p:nvSpPr>
        <p:spPr>
          <a:xfrm>
            <a:off x="1005364" y="4876324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隐秘的语言</a:t>
            </a:r>
            <a:endParaRPr lang="en-US" sz="2200" dirty="0"/>
          </a:p>
        </p:txBody>
      </p:sp>
      <p:sp>
        <p:nvSpPr>
          <p:cNvPr id="9" name="Text 5"/>
          <p:cNvSpPr/>
          <p:nvPr>
            <p:custDataLst>
              <p:tags r:id="rId8"/>
            </p:custDataLst>
          </p:nvPr>
        </p:nvSpPr>
        <p:spPr>
          <a:xfrm>
            <a:off x="1005364" y="5362456"/>
            <a:ext cx="3732728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用花朵传递只有彼此才懂的秘密心意。</a:t>
            </a:r>
            <a:endParaRPr lang="en-US" sz="1700" dirty="0"/>
          </a:p>
        </p:txBody>
      </p:sp>
      <p:sp>
        <p:nvSpPr>
          <p:cNvPr id="10" name="Shape 6"/>
          <p:cNvSpPr/>
          <p:nvPr>
            <p:custDataLst>
              <p:tags r:id="rId9"/>
            </p:custDataLst>
          </p:nvPr>
        </p:nvSpPr>
        <p:spPr>
          <a:xfrm>
            <a:off x="5201722" y="4334708"/>
            <a:ext cx="4226838" cy="1968222"/>
          </a:xfrm>
          <a:prstGeom prst="roundRect">
            <a:avLst>
              <a:gd name="adj" fmla="val 7433"/>
            </a:avLst>
          </a:prstGeom>
          <a:solidFill>
            <a:srgbClr val="FFFFFF"/>
          </a:solidFill>
        </p:spPr>
      </p:sp>
      <p:pic>
        <p:nvPicPr>
          <p:cNvPr id="11" name="Image 2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201722" y="4304228"/>
            <a:ext cx="4226838" cy="12192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990100" y="4009787"/>
            <a:ext cx="649962" cy="649962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7185124" y="4172307"/>
            <a:ext cx="259913" cy="324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2</a:t>
            </a:r>
            <a:endParaRPr lang="en-US" sz="20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5448776" y="4876324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多重含义</a:t>
            </a:r>
            <a:endParaRPr lang="en-US" sz="2200" dirty="0"/>
          </a:p>
        </p:txBody>
      </p:sp>
      <p:sp>
        <p:nvSpPr>
          <p:cNvPr id="15" name="Text 9"/>
          <p:cNvSpPr/>
          <p:nvPr>
            <p:custDataLst>
              <p:tags r:id="rId14"/>
            </p:custDataLst>
          </p:nvPr>
        </p:nvSpPr>
        <p:spPr>
          <a:xfrm>
            <a:off x="5448776" y="5362456"/>
            <a:ext cx="3732728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花种、颜色、枝数共同构成丰富的花语体系。</a:t>
            </a:r>
            <a:endParaRPr lang="en-US" sz="1700" dirty="0"/>
          </a:p>
        </p:txBody>
      </p:sp>
      <p:sp>
        <p:nvSpPr>
          <p:cNvPr id="16" name="Shape 10"/>
          <p:cNvSpPr/>
          <p:nvPr>
            <p:custDataLst>
              <p:tags r:id="rId15"/>
            </p:custDataLst>
          </p:nvPr>
        </p:nvSpPr>
        <p:spPr>
          <a:xfrm>
            <a:off x="9645134" y="4334708"/>
            <a:ext cx="4226957" cy="1968222"/>
          </a:xfrm>
          <a:prstGeom prst="roundRect">
            <a:avLst>
              <a:gd name="adj" fmla="val 7433"/>
            </a:avLst>
          </a:prstGeom>
          <a:solidFill>
            <a:srgbClr val="FFFFFF"/>
          </a:solidFill>
        </p:spPr>
      </p:sp>
      <p:pic>
        <p:nvPicPr>
          <p:cNvPr id="17" name="Image 4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45134" y="4304228"/>
            <a:ext cx="4226957" cy="121920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33631" y="4009787"/>
            <a:ext cx="649962" cy="649962"/>
          </a:xfrm>
          <a:prstGeom prst="rect">
            <a:avLst/>
          </a:prstGeom>
        </p:spPr>
      </p:pic>
      <p:sp>
        <p:nvSpPr>
          <p:cNvPr id="19" name="Text 11"/>
          <p:cNvSpPr/>
          <p:nvPr>
            <p:custDataLst>
              <p:tags r:id="rId18"/>
            </p:custDataLst>
          </p:nvPr>
        </p:nvSpPr>
        <p:spPr>
          <a:xfrm>
            <a:off x="11628656" y="4172307"/>
            <a:ext cx="259913" cy="324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3</a:t>
            </a:r>
            <a:endParaRPr lang="en-US" sz="2000" dirty="0"/>
          </a:p>
        </p:txBody>
      </p:sp>
      <p:sp>
        <p:nvSpPr>
          <p:cNvPr id="20" name="Text 12"/>
          <p:cNvSpPr/>
          <p:nvPr>
            <p:custDataLst>
              <p:tags r:id="rId19"/>
            </p:custDataLst>
          </p:nvPr>
        </p:nvSpPr>
        <p:spPr>
          <a:xfrm>
            <a:off x="9892189" y="4876324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情感载体</a:t>
            </a:r>
            <a:endParaRPr lang="en-US" sz="2200" dirty="0"/>
          </a:p>
        </p:txBody>
      </p:sp>
      <p:sp>
        <p:nvSpPr>
          <p:cNvPr id="21" name="Text 13"/>
          <p:cNvSpPr/>
          <p:nvPr>
            <p:custDataLst>
              <p:tags r:id="rId20"/>
            </p:custDataLst>
          </p:nvPr>
        </p:nvSpPr>
        <p:spPr>
          <a:xfrm>
            <a:off x="9892189" y="5362456"/>
            <a:ext cx="3732848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古今中外，花语承载着人类的喜怒哀乐。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31294"/>
            <a:ext cx="6270784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玫瑰花语：爱的多彩表达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1977271"/>
            <a:ext cx="131137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玫瑰是爱情的象征，其丰富的颜色代表着爱的不同阶段和形式。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811423"/>
            <a:ext cx="2881908" cy="28819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309" y="5937052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红玫瑰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58309" y="6509861"/>
            <a:ext cx="2881908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热恋与激情，代表“我爱你”。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474" y="2811423"/>
            <a:ext cx="2881908" cy="28819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76474" y="5937052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白玫瑰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176474" y="6509861"/>
            <a:ext cx="2881908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纯洁高贵，象征真挚无瑕的爱。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640" y="2811423"/>
            <a:ext cx="2881908" cy="28819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94640" y="5937052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黄玫瑰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594640" y="6509861"/>
            <a:ext cx="2881908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纯洁友谊，也有失恋与等待的含义。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2805" y="2811423"/>
            <a:ext cx="2881908" cy="28819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012805" y="5937052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紫玫瑰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1012805" y="6509861"/>
            <a:ext cx="2881908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成熟浪漫，寓意“你的幸福比我重要”。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526268"/>
            <a:ext cx="5701546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花朵数量的秘密语言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672245"/>
            <a:ext cx="131137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除了花的种类和颜色，花朵的数量也能传递深层的情感。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4370903"/>
            <a:ext cx="3075384" cy="7149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58309" y="5356503"/>
            <a:ext cx="3075384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你是我的唯一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04442" y="4370903"/>
            <a:ext cx="3075384" cy="7149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9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104442" y="5356503"/>
            <a:ext cx="3075384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长相守，坚定不移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50574" y="4370903"/>
            <a:ext cx="3075384" cy="7149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99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450574" y="5356503"/>
            <a:ext cx="3075384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天长地久，永恒不变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796707" y="4370903"/>
            <a:ext cx="3075384" cy="7149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1314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10796707" y="5356503"/>
            <a:ext cx="3075384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一生一世，永不分离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30523"/>
            <a:ext cx="5701546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中国文化中的经典花语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476500"/>
            <a:ext cx="131137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在中国传统文化中，一些花卉被赋予了独特的精神象征。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3066931"/>
            <a:ext cx="541615" cy="541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309" y="3879294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梅花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58309" y="4365427"/>
            <a:ext cx="6421517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坚韧与纯洁，寒冬中绽放的生命力象征。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574" y="3066931"/>
            <a:ext cx="541615" cy="5416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0574" y="3879294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莲花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0574" y="4365427"/>
            <a:ext cx="6421517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出淤泥而不染，象征心灵的纯净与超脱。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5253752"/>
            <a:ext cx="541615" cy="5416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8309" y="6066115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菊花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58309" y="6552248"/>
            <a:ext cx="6421517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高洁与长寿，秋天的坚强代表。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574" y="5253752"/>
            <a:ext cx="541615" cy="54161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0574" y="6066115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牡丹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50574" y="6552248"/>
            <a:ext cx="6421517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富贵与美丽，被誉为“花王”，象征繁荣与荣耀。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95488"/>
            <a:ext cx="5701546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其他常见花卉花语精选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141464"/>
            <a:ext cx="131137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除了玫瑰和中国传统名花，许多其他花卉也拥有美丽的寓意。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3731895"/>
            <a:ext cx="13113782" cy="2502218"/>
          </a:xfrm>
          <a:prstGeom prst="roundRect">
            <a:avLst>
              <a:gd name="adj" fmla="val 1298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929" y="3739515"/>
            <a:ext cx="13098542" cy="62174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982623" y="3877032"/>
            <a:ext cx="3492579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百合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915972" y="3877032"/>
            <a:ext cx="8731925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纯洁、高贵，婚礼中象征百年好合。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5929" y="4361259"/>
            <a:ext cx="13098542" cy="621744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982623" y="4498777"/>
            <a:ext cx="3492579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郁金香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15972" y="4498777"/>
            <a:ext cx="8731925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热情与爱的告白，颜色不同寓意各异。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65929" y="4983004"/>
            <a:ext cx="13098542" cy="62174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982623" y="5120521"/>
            <a:ext cx="3492579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康乃馨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15972" y="5120521"/>
            <a:ext cx="8731925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母爱伟大，白色代表纯洁真情。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65929" y="5604748"/>
            <a:ext cx="13098542" cy="621744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982623" y="5742265"/>
            <a:ext cx="3492579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蓝色妖姬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15972" y="5742265"/>
            <a:ext cx="8731925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神秘纯净，代表深沉的爱恋。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11298"/>
            <a:ext cx="5701546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花语中的情感故事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957274"/>
            <a:ext cx="131137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每一朵花都承载着一个独特的故事，传递着深刻的情感。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3547705"/>
            <a:ext cx="6448544" cy="1326952"/>
          </a:xfrm>
          <a:prstGeom prst="roundRect">
            <a:avLst>
              <a:gd name="adj" fmla="val 11026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829" y="3547705"/>
            <a:ext cx="121920" cy="13269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6804" y="3794760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玫瑰的刺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6804" y="4280892"/>
            <a:ext cx="5862995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象征爱情的痛苦与坚持，美丽伴随着挑战。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23428" y="3547705"/>
            <a:ext cx="6448663" cy="1326952"/>
          </a:xfrm>
          <a:prstGeom prst="roundRect">
            <a:avLst>
              <a:gd name="adj" fmla="val 11026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2948" y="3547705"/>
            <a:ext cx="121920" cy="13269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61923" y="3794760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雏菊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761923" y="4280892"/>
            <a:ext cx="5863114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代表纯真与新的开始，适合表达希望与天真。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58309" y="5091232"/>
            <a:ext cx="6448544" cy="1326952"/>
          </a:xfrm>
          <a:prstGeom prst="roundRect">
            <a:avLst>
              <a:gd name="adj" fmla="val 11026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829" y="5091232"/>
            <a:ext cx="121920" cy="13269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6804" y="5338286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向日葵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096804" y="5824418"/>
            <a:ext cx="5862995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象征沉默的爱与坚定的守护，永远追随阳光。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7423428" y="5091232"/>
            <a:ext cx="6448663" cy="1326952"/>
          </a:xfrm>
          <a:prstGeom prst="roundRect">
            <a:avLst>
              <a:gd name="adj" fmla="val 11026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2948" y="5091232"/>
            <a:ext cx="121920" cy="13269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61923" y="5338286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牵牛花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761923" y="5824418"/>
            <a:ext cx="5863114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寓意爱情永固，坚贞不渝，缠绵的爱恋。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439591"/>
            <a:ext cx="6840855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花语的现代应用与文化传承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585567"/>
            <a:ext cx="131137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花语在现代社会中依然扮演着重要角色，并在文化艺术中得到体现。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4175998"/>
            <a:ext cx="131137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送花时选择合适花语，传递精准情感。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598432"/>
            <a:ext cx="131137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现代婚礼、节日、纪念日中花语的巧妙运用。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5020866"/>
            <a:ext cx="131137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花语在诗歌、艺术、设计中的文化体现。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443299"/>
            <a:ext cx="131137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保护与传承花语文化，赋予花朵新的生命力。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234" y="571381"/>
            <a:ext cx="5468660" cy="6835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2E3C4E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花语视觉盛宴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854" y="1804868"/>
            <a:ext cx="4276130" cy="249364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195" y="1804868"/>
            <a:ext cx="4276130" cy="249364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536" y="1804868"/>
            <a:ext cx="4276130" cy="249364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54" y="4464725"/>
            <a:ext cx="4276130" cy="249364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7195" y="4464725"/>
            <a:ext cx="4276130" cy="249364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9536" y="4464725"/>
            <a:ext cx="4276130" cy="2493645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727234" y="7326511"/>
            <a:ext cx="13175933" cy="3324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通过视觉与文字的结合，更直观地感受花语的魅力。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786301"/>
            <a:ext cx="7980998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MiSans Bold" panose="00000800000000000000" charset="-122"/>
                <a:ea typeface="MiSans Bold" panose="00000800000000000000" charset="-122"/>
                <a:cs typeface="MiSans Bold" panose="00000800000000000000" charset="-122"/>
              </a:rPr>
              <a:t>结语：让花语成为你心灵的桥梁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932277"/>
            <a:ext cx="131137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花朵不仅是自然的美丽，更是情感的载体。掌握花语，能帮助我们更真挚地表达情感，连接人与人之间的心。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4522708"/>
            <a:ext cx="13113782" cy="920472"/>
          </a:xfrm>
          <a:prstGeom prst="roundRect">
            <a:avLst>
              <a:gd name="adj" fmla="val 35307"/>
            </a:avLst>
          </a:prstGeom>
          <a:solidFill>
            <a:srgbClr val="B6FCB8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884" y="4855250"/>
            <a:ext cx="270748" cy="2165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2207" y="4793337"/>
            <a:ext cx="12193310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用花的语言，讲述属于你的故事，绽放生命的美丽。</a:t>
            </a:r>
            <a:endParaRPr lang="en-US" sz="17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0.56244094488187,&quot;left&quot;:59.70937007874015,&quot;top&quot;:315.7312598425197,&quot;width&quot;:1032.5812598425196}"/>
</p:tagLst>
</file>

<file path=ppt/tags/tag2.xml><?xml version="1.0" encoding="utf-8"?>
<p:tagLst xmlns:p="http://schemas.openxmlformats.org/presentationml/2006/main">
  <p:tag name="KSO_WM_DIAGRAM_VIRTUALLY_FRAME" val="{&quot;height&quot;:180.56244094488187,&quot;left&quot;:59.70937007874015,&quot;top&quot;:315.7312598425197,&quot;width&quot;:1032.5812598425196}"/>
</p:tagLst>
</file>

<file path=ppt/tags/tag3.xml><?xml version="1.0" encoding="utf-8"?>
<p:tagLst xmlns:p="http://schemas.openxmlformats.org/presentationml/2006/main">
  <p:tag name="KSO_WM_DIAGRAM_VIRTUALLY_FRAME" val="{&quot;height&quot;:180.56244094488187,&quot;left&quot;:59.70937007874015,&quot;top&quot;:315.7312598425197,&quot;width&quot;:1032.5812598425196}"/>
</p:tagLst>
</file>

<file path=ppt/tags/tag4.xml><?xml version="1.0" encoding="utf-8"?>
<p:tagLst xmlns:p="http://schemas.openxmlformats.org/presentationml/2006/main">
  <p:tag name="KSO_WM_DIAGRAM_VIRTUALLY_FRAME" val="{&quot;height&quot;:180.56244094488187,&quot;left&quot;:59.70937007874015,&quot;top&quot;:315.7312598425197,&quot;width&quot;:1032.5812598425196}"/>
</p:tagLst>
</file>

<file path=ppt/tags/tag5.xml><?xml version="1.0" encoding="utf-8"?>
<p:tagLst xmlns:p="http://schemas.openxmlformats.org/presentationml/2006/main">
  <p:tag name="KSO_WM_DIAGRAM_VIRTUALLY_FRAME" val="{&quot;height&quot;:180.56244094488187,&quot;left&quot;:59.70937007874015,&quot;top&quot;:315.7312598425197,&quot;width&quot;:1032.5812598425196}"/>
</p:tagLst>
</file>

<file path=ppt/tags/tag6.xml><?xml version="1.0" encoding="utf-8"?>
<p:tagLst xmlns:p="http://schemas.openxmlformats.org/presentationml/2006/main">
  <p:tag name="KSO_WM_DIAGRAM_VIRTUALLY_FRAME" val="{&quot;height&quot;:180.56244094488187,&quot;left&quot;:59.70937007874015,&quot;top&quot;:315.7312598425197,&quot;width&quot;:1032.5812598425196}"/>
</p:tagLst>
</file>

<file path=ppt/tags/tag7.xml><?xml version="1.0" encoding="utf-8"?>
<p:tagLst xmlns:p="http://schemas.openxmlformats.org/presentationml/2006/main">
  <p:tag name="KSO_WM_DIAGRAM_VIRTUALLY_FRAME" val="{&quot;height&quot;:180.56244094488187,&quot;left&quot;:59.70937007874015,&quot;top&quot;:315.7312598425197,&quot;width&quot;:1032.5812598425196}"/>
</p:tagLst>
</file>

<file path=ppt/tags/tag8.xml><?xml version="1.0" encoding="utf-8"?>
<p:tagLst xmlns:p="http://schemas.openxmlformats.org/presentationml/2006/main">
  <p:tag name="KSO_WM_DIAGRAM_VIRTUALLY_FRAME" val="{&quot;height&quot;:180.56244094488187,&quot;left&quot;:59.70937007874015,&quot;top&quot;:315.7312598425197,&quot;width&quot;:1032.5812598425196}"/>
</p:tagLst>
</file>

<file path=ppt/tags/tag9.xml><?xml version="1.0" encoding="utf-8"?>
<p:tagLst xmlns:p="http://schemas.openxmlformats.org/presentationml/2006/main">
  <p:tag name="KSO_WM_DIAGRAM_VIRTUALLY_FRAME" val="{&quot;height&quot;:180.56244094488187,&quot;left&quot;:59.70937007874015,&quot;top&quot;:315.7312598425197,&quot;width&quot;:1032.5812598425196}"/>
</p:tagLst>
</file>

<file path=ppt/tags/tag10.xml><?xml version="1.0" encoding="utf-8"?>
<p:tagLst xmlns:p="http://schemas.openxmlformats.org/presentationml/2006/main">
  <p:tag name="KSO_WM_DIAGRAM_VIRTUALLY_FRAME" val="{&quot;height&quot;:180.56244094488187,&quot;left&quot;:59.70937007874015,&quot;top&quot;:315.7312598425197,&quot;width&quot;:1032.5812598425196}"/>
</p:tagLst>
</file>

<file path=ppt/tags/tag11.xml><?xml version="1.0" encoding="utf-8"?>
<p:tagLst xmlns:p="http://schemas.openxmlformats.org/presentationml/2006/main">
  <p:tag name="KSO_WM_DIAGRAM_VIRTUALLY_FRAME" val="{&quot;height&quot;:180.56244094488187,&quot;left&quot;:59.70937007874015,&quot;top&quot;:315.7312598425197,&quot;width&quot;:1032.5812598425196}"/>
</p:tagLst>
</file>

<file path=ppt/tags/tag12.xml><?xml version="1.0" encoding="utf-8"?>
<p:tagLst xmlns:p="http://schemas.openxmlformats.org/presentationml/2006/main">
  <p:tag name="KSO_WM_DIAGRAM_VIRTUALLY_FRAME" val="{&quot;height&quot;:180.56244094488187,&quot;left&quot;:59.70937007874015,&quot;top&quot;:315.7312598425197,&quot;width&quot;:1032.5812598425196}"/>
</p:tagLst>
</file>

<file path=ppt/tags/tag13.xml><?xml version="1.0" encoding="utf-8"?>
<p:tagLst xmlns:p="http://schemas.openxmlformats.org/presentationml/2006/main">
  <p:tag name="KSO_WM_DIAGRAM_VIRTUALLY_FRAME" val="{&quot;height&quot;:180.56244094488187,&quot;left&quot;:59.70937007874015,&quot;top&quot;:315.7312598425197,&quot;width&quot;:1032.5812598425196}"/>
</p:tagLst>
</file>

<file path=ppt/tags/tag14.xml><?xml version="1.0" encoding="utf-8"?>
<p:tagLst xmlns:p="http://schemas.openxmlformats.org/presentationml/2006/main">
  <p:tag name="KSO_WM_DIAGRAM_VIRTUALLY_FRAME" val="{&quot;height&quot;:180.56244094488187,&quot;left&quot;:59.70937007874015,&quot;top&quot;:315.7312598425197,&quot;width&quot;:1032.5812598425196}"/>
</p:tagLst>
</file>

<file path=ppt/tags/tag15.xml><?xml version="1.0" encoding="utf-8"?>
<p:tagLst xmlns:p="http://schemas.openxmlformats.org/presentationml/2006/main">
  <p:tag name="KSO_WM_DIAGRAM_VIRTUALLY_FRAME" val="{&quot;height&quot;:180.56244094488187,&quot;left&quot;:59.70937007874015,&quot;top&quot;:315.7312598425197,&quot;width&quot;:1032.5812598425196}"/>
</p:tagLst>
</file>

<file path=ppt/tags/tag16.xml><?xml version="1.0" encoding="utf-8"?>
<p:tagLst xmlns:p="http://schemas.openxmlformats.org/presentationml/2006/main">
  <p:tag name="KSO_WM_DIAGRAM_VIRTUALLY_FRAME" val="{&quot;height&quot;:180.56244094488187,&quot;left&quot;:59.70937007874015,&quot;top&quot;:315.7312598425197,&quot;width&quot;:1032.5812598425196}"/>
</p:tagLst>
</file>

<file path=ppt/tags/tag17.xml><?xml version="1.0" encoding="utf-8"?>
<p:tagLst xmlns:p="http://schemas.openxmlformats.org/presentationml/2006/main">
  <p:tag name="KSO_WM_DIAGRAM_VIRTUALLY_FRAME" val="{&quot;height&quot;:180.56244094488187,&quot;left&quot;:59.70937007874015,&quot;top&quot;:315.7312598425197,&quot;width&quot;:1032.5812598425196}"/>
</p:tagLst>
</file>

<file path=ppt/tags/tag18.xml><?xml version="1.0" encoding="utf-8"?>
<p:tagLst xmlns:p="http://schemas.openxmlformats.org/presentationml/2006/main">
  <p:tag name="KSO_WM_DIAGRAM_VIRTUALLY_FRAME" val="{&quot;height&quot;:180.56244094488187,&quot;left&quot;:59.70937007874015,&quot;top&quot;:315.7312598425197,&quot;width&quot;:1032.581259842519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927</Words>
  <Application>WPS 演示</Application>
  <PresentationFormat>On-screen Show (16:9)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Barlow Bold</vt:lpstr>
      <vt:lpstr>g_comickoin_free-Reguler</vt:lpstr>
      <vt:lpstr>Barlow Bold</vt:lpstr>
      <vt:lpstr>Barlow Bold</vt:lpstr>
      <vt:lpstr>Montserrat</vt:lpstr>
      <vt:lpstr>Montserrat</vt:lpstr>
      <vt:lpstr>Montserrat</vt:lpstr>
      <vt:lpstr>Calibri</vt:lpstr>
      <vt:lpstr>微软雅黑</vt:lpstr>
      <vt:lpstr>Arial Unicode MS</vt:lpstr>
      <vt:lpstr>等线</vt:lpstr>
      <vt:lpstr>MingLiU-ExtB</vt:lpstr>
      <vt:lpstr>MiSans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萏望</cp:lastModifiedBy>
  <cp:revision>2</cp:revision>
  <dcterms:created xsi:type="dcterms:W3CDTF">2025-07-28T09:43:00Z</dcterms:created>
  <dcterms:modified xsi:type="dcterms:W3CDTF">2025-07-28T12:24:30Z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E4DDDD787EE048B1B23D4A6A2A858A19_12</vt:lpwstr>
  </property>
  <property fmtid="{D5CDD505-2E9C-101B-9397-08002B2CF9AE}" pid="3" name="KSOProductBuildVer">
    <vt:lpwstr>2052-12.1.0.21915</vt:lpwstr>
  </property>
</Properties>
</file>