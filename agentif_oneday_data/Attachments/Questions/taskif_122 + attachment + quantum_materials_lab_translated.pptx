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99" d="100"/>
          <a:sy n="99" d="100"/>
        </p:scale>
        <p:origin x="1520" y="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Quantum Materials Laboratory: 5-Year Recruitment and Team Development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5720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Year 1 (Laboratory Setup Phase)</a:t>
            </a:r>
          </a:p>
          <a:p>
            <a:pPr lvl="1">
              <a:defRPr sz="1600"/>
            </a:pPr>
            <a:r>
              <a:t>Recruitment: 2 Ph.D. students, 2 postdoctoral researchers, and 1–2 undergraduate students (to participate in lab setup)</a:t>
            </a:r>
          </a:p>
          <a:p>
            <a:pPr lvl="1">
              <a:defRPr sz="1600"/>
            </a:pPr>
            <a:r>
              <a:t>Division of Roles: Postdocs will take the lead in building the platform and producing initial results; Ph.D. and undergraduate students will integrate into the platform</a:t>
            </a:r>
          </a:p>
          <a:p>
            <a:pPr lvl="1">
              <a:defRPr sz="1600"/>
            </a:pPr>
            <a:r>
              <a:t>Goal: Quickly establish the instrumentation platform and produce the first high-quality data/preprints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Years 2–5 (Rolling Expansion)</a:t>
            </a:r>
          </a:p>
          <a:p>
            <a:pPr lvl="1">
              <a:defRPr sz="1600"/>
            </a:pPr>
            <a:r>
              <a:t>Add 1–2 new Ph.D. students each year (depending on projects/funding)</a:t>
            </a:r>
          </a:p>
          <a:p>
            <a:pPr lvl="1">
              <a:defRPr sz="1600"/>
            </a:pPr>
            <a:r>
              <a:t>Team Size Limit: ≤ 6 Ph.D. students (excluding those jointly supervised with other faculty)</a:t>
            </a:r>
          </a:p>
          <a:p>
            <a:pPr lvl="1">
              <a:defRPr sz="1600"/>
            </a:pPr>
            <a:r>
              <a:t>Maintain 1–2 postdocs; have 2–4 rotating undergraduates involved in short-term planned projects</a:t>
            </a:r>
          </a:p>
          <a:p>
            <a:pPr lvl="1">
              <a:defRPr sz="1600"/>
            </a:pPr>
            <a:r>
              <a:t>Senior Ph.D. students may mentor 1 undergraduate: for short-term projects/Ph.D. preparatory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569247" y="2468880"/>
            <a:ext cx="13907975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Recruitment Preferences and Philosophy</a:t>
            </a:r>
          </a:p>
          <a:p>
            <a:pPr lvl="1">
              <a:defRPr sz="1600"/>
            </a:pPr>
            <a:r>
              <a:rPr dirty="0"/>
              <a:t>Prioritize recruiting Ph.D. students: they are more adaptable and beneficial for medium- to long-term projects and team renewal</a:t>
            </a:r>
          </a:p>
          <a:p>
            <a:pPr lvl="1">
              <a:defRPr sz="1600"/>
            </a:pPr>
            <a:r>
              <a:rPr dirty="0"/>
              <a:t>Include postdocs in the early stage: accelerate platform construction and rapidly produce representative results (drawing on </a:t>
            </a:r>
            <a:r>
              <a:rPr lang="en-US"/>
              <a:t>wording leading</a:t>
            </a:r>
            <a:r>
              <a:t> </a:t>
            </a:r>
            <a:r>
              <a:rPr dirty="0"/>
              <a:t>group's experience)</a:t>
            </a:r>
          </a:p>
          <a:p>
            <a:pPr lvl="1">
              <a:defRPr sz="1600"/>
            </a:pPr>
            <a:r>
              <a:rPr dirty="0"/>
              <a:t>Joint Training: Ph.D. students co-supervised with other on-campus faculty will not count towards our Ph.D. student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3749039"/>
            <a:ext cx="3566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Stage Milestones (Illustrative)</a:t>
            </a:r>
          </a:p>
          <a:p>
            <a:pPr lvl="1">
              <a:defRPr sz="1600"/>
            </a:pPr>
            <a:r>
              <a:t>Y1: Platform construction completed, first batch of data/preprints</a:t>
            </a:r>
          </a:p>
          <a:p>
            <a:pPr lvl="1">
              <a:defRPr sz="1600"/>
            </a:pPr>
            <a:r>
              <a:t>Y2–Y3: Stable publications, expand research lines and instrument capabilities</a:t>
            </a:r>
          </a:p>
          <a:p>
            <a:pPr lvl="1">
              <a:defRPr sz="1600"/>
            </a:pPr>
            <a:r>
              <a:t>Y4–Y5: Build a talent pipeline and achieve landmark results, consolidating international influence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Note: Scale and pace will be dynamically adjusted based on project progress, funding and talent supply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300</Words>
  <Application>Microsoft Macintosh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Quantum Materials Laboratory: 5-Year Recruitment and Team Development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Jiaqi Cai</cp:lastModifiedBy>
  <cp:revision>2</cp:revision>
  <dcterms:created xsi:type="dcterms:W3CDTF">2013-01-27T09:14:16Z</dcterms:created>
  <dcterms:modified xsi:type="dcterms:W3CDTF">2025-10-31T11:19:35Z</dcterms:modified>
  <cp:category/>
</cp:coreProperties>
</file>