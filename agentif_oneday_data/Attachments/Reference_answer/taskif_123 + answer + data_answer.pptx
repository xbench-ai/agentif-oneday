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8"/>
    <p:restoredTop sz="94694"/>
  </p:normalViewPr>
  <p:slideViewPr>
    <p:cSldViewPr snapToGrid="0">
      <p:cViewPr varScale="1">
        <p:scale>
          <a:sx n="121" d="100"/>
          <a:sy n="121" d="100"/>
        </p:scale>
        <p:origin x="1312" y="-16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E9327-CB38-9341-841F-1C4B27E44FB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0E65E-3608-C84A-9DAA-A3FA0C861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55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832F-A48D-C803-A6F5-91A48EC58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F58C7-ECD0-94B5-986C-68DAB9FB4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7EA6D-CE05-21DD-D08A-AD7A1DE2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DD70-C037-9DE1-A3BD-B9573DDD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CA92D-2AEE-995A-576F-B56D9E99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8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9C84-0CA0-D7C9-1D77-326C3FE3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1C246-147D-D013-0500-A128339D2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ABF78-B68A-60A3-C43C-D09E6734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8875A-3B93-15B8-380E-6200B400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1AD84-9FEF-52A8-8971-9999A9A8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0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80EF-941C-BC26-D534-76D80AD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95180-74D7-6709-7CFF-ED9CD8919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DED9E-4A1C-B982-1DB3-7490A43F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713DC-D555-6ABA-DCCE-D9FC99A8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53796-D70F-04BF-566F-A9F1247D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4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9485-1D95-F937-3984-719CF3A6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CA26E-1764-BB68-51EC-B41861735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8967F-5153-99C9-E85E-06D7AB89B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DBFDC-21CF-9D46-6889-3E076B2A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507F3-B6B6-93FE-7F5E-678CD44B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3D149-93B3-1AB9-E832-E3D52949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2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4F70-18E3-DB3E-2ABD-11AD84895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31777-9B8C-84EB-6664-8E4BB1B99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80CF9-C034-BBF6-3DA9-CD49E3019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D516E-6994-9253-AEE6-3237B4B49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45351-5A40-136B-D0A4-4794E0A04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432B8-2B4A-D03B-58F4-B901E983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53E024-1016-A0AF-10C6-AF723B36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856213-3585-D2C5-9F6C-9972FC4F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C515-B400-D547-CDF5-3A30988F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E0D2C-6447-25C8-83EB-AE644855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D72A9-A96B-3ED0-0B91-46419885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16523-306F-AA48-A8BE-0460541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2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1E630-6F6D-C021-F611-FD3BAD2A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61D71-E466-123F-C8FA-390B9374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206FE-2104-F254-D321-929B30C5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5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8A39-4B2D-2214-F2D0-F62EE6B8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EC5B0-AB4B-407F-2AC6-5EA7F2D84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23021-964F-2A92-AA3B-A8B179FF7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B7814-7216-7745-6173-B9140584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A146F-18F9-AF18-15FE-29B1C8AE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870B4-FCB7-C482-F9EE-0C21EECF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7029-7E7E-0B7D-66A5-FFAFB8AE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1E7E8-988C-4446-54AC-5D7DCE081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C744-78FB-467E-54CB-A185A82C3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D9A82-14A2-27DC-B768-0CA82CD6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4F47B-C992-FAE2-A6EB-24C09326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4B464-5052-16CE-7F83-68EF9141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0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7332-FC09-24D6-8E4D-5D1DA1672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5C682-71F1-FA52-E82C-0EE69BB94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E2979-2E2D-15B5-C5C5-0C4CCB0E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1A4AA-1F23-5C4C-20D1-995CE38E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4362-8878-CF2E-7964-DC68D3DD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1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C28A4-89E1-D82B-CD38-0E04330B5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1ADBB-1DCC-4F5F-466B-B85A7B2D0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31D19-3C53-942B-F300-80E33128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AA9A9-868C-E92A-F3D4-4EBF51DE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88F7E-343F-6752-72BE-73A6A7EB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3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37EDB-BB12-966D-D080-7448F2A1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25BF2-8B27-322B-61E2-23E445DCD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C95F3-BF52-B2DD-42C3-7D4A893FB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0E7F9-5DC5-B9EE-3192-8AEACE057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7CA92-E6DE-3994-3606-BE28ABC31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1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64AAE6-E1D6-81C8-CB18-A01D3D196B8F}"/>
              </a:ext>
            </a:extLst>
          </p:cNvPr>
          <p:cNvSpPr txBox="1"/>
          <p:nvPr/>
        </p:nvSpPr>
        <p:spPr>
          <a:xfrm>
            <a:off x="0" y="0"/>
            <a:ext cx="710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dimensional and quantum material fabrication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A6248-DB43-7458-E317-F77B086AD3B9}"/>
              </a:ext>
            </a:extLst>
          </p:cNvPr>
          <p:cNvSpPr txBox="1"/>
          <p:nvPr/>
        </p:nvSpPr>
        <p:spPr>
          <a:xfrm>
            <a:off x="179962" y="3819164"/>
            <a:ext cx="468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1. 2D material stacking. Source: [S1]. </a:t>
            </a:r>
            <a:r>
              <a:rPr lang="en-US" dirty="0" err="1"/>
              <a:t>License:All</a:t>
            </a:r>
            <a:r>
              <a:rPr lang="en-US" dirty="0"/>
              <a:t> rights reserved—fair use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55028-8CC0-0B46-9EF5-E2F6F4CD4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3" y="738665"/>
            <a:ext cx="4262739" cy="3011022"/>
          </a:xfrm>
          <a:prstGeom prst="rect">
            <a:avLst/>
          </a:prstGeom>
        </p:spPr>
      </p:pic>
      <p:pic>
        <p:nvPicPr>
          <p:cNvPr id="17" name="Picture 2" descr="Figure 1">
            <a:extLst>
              <a:ext uri="{FF2B5EF4-FFF2-40B4-BE49-F238E27FC236}">
                <a16:creationId xmlns:a16="http://schemas.microsoft.com/office/drawing/2014/main" id="{C9DC0D20-C21B-E86F-C6CE-54F75A9D0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512" y="808142"/>
            <a:ext cx="4213303" cy="2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D2517C-F485-1C61-46C6-A1184701ECFF}"/>
              </a:ext>
            </a:extLst>
          </p:cNvPr>
          <p:cNvSpPr txBox="1"/>
          <p:nvPr/>
        </p:nvSpPr>
        <p:spPr>
          <a:xfrm>
            <a:off x="5023185" y="3752747"/>
            <a:ext cx="4213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 </a:t>
            </a:r>
            <a:r>
              <a:rPr lang="en-US" dirty="0" err="1"/>
              <a:t>Quatnum</a:t>
            </a:r>
            <a:r>
              <a:rPr lang="en-US" dirty="0"/>
              <a:t> circuits. Source:[S2]. </a:t>
            </a:r>
            <a:r>
              <a:rPr lang="en-US" dirty="0" err="1"/>
              <a:t>License:All</a:t>
            </a:r>
            <a:r>
              <a:rPr lang="en-US" dirty="0"/>
              <a:t> rights reserved—fair use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3424E1B-119B-4CF2-AC46-09A7C70F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932" y="4325500"/>
            <a:ext cx="4226803" cy="2137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386980-FDF9-31E1-3DBF-916FE8B8F62B}"/>
              </a:ext>
            </a:extLst>
          </p:cNvPr>
          <p:cNvSpPr txBox="1"/>
          <p:nvPr/>
        </p:nvSpPr>
        <p:spPr>
          <a:xfrm>
            <a:off x="1530932" y="6326358"/>
            <a:ext cx="3714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3. Integrate circuits and 2D materials. Source: [S3]. </a:t>
            </a:r>
            <a:r>
              <a:rPr lang="en-US" dirty="0" err="1"/>
              <a:t>License:All</a:t>
            </a:r>
            <a:r>
              <a:rPr lang="en-US"/>
              <a:t> rights reserved—fair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05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BB5A4-AE2D-B030-B286-791542F2EBA0}"/>
              </a:ext>
            </a:extLst>
          </p:cNvPr>
          <p:cNvSpPr txBox="1"/>
          <p:nvPr/>
        </p:nvSpPr>
        <p:spPr>
          <a:xfrm>
            <a:off x="567559" y="966952"/>
            <a:ext cx="98376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Wang, L., Meric, I., Huang, P. Y., Gao, Q., Gao, Y., Tran, H., Taniguchi, T., Watanabe, K., Campos, L. M., Muller, D. A., Guo, J., Kim, P., Hone, J., Shepard, K. L., Dean, C. R. (2013). One-dimensional electrical contact to a two-dimensional material. </a:t>
            </a:r>
            <a:r>
              <a:rPr lang="en-US" i="1" dirty="0"/>
              <a:t>Science</a:t>
            </a:r>
            <a:r>
              <a:rPr lang="en-US" dirty="0"/>
              <a:t>, 342(6158), 614–617. DOI: https://</a:t>
            </a:r>
            <a:r>
              <a:rPr lang="en-US" dirty="0" err="1"/>
              <a:t>doi.org</a:t>
            </a:r>
            <a:r>
              <a:rPr lang="en-US" dirty="0"/>
              <a:t>/10.1126/science.1244358 </a:t>
            </a:r>
          </a:p>
          <a:p>
            <a:pPr marL="342900" indent="-342900">
              <a:buAutoNum type="arabicPeriod"/>
            </a:pPr>
            <a:r>
              <a:rPr lang="en-US" dirty="0"/>
              <a:t>Wallraff, A., Schuster, D. I., Blais, A., </a:t>
            </a:r>
            <a:r>
              <a:rPr lang="en-US" dirty="0" err="1"/>
              <a:t>Frunzio</a:t>
            </a:r>
            <a:r>
              <a:rPr lang="en-US" dirty="0"/>
              <a:t>, L., Huang, R.-S., Majer, J., Kumar, S., Girvin, S. M., Schoelkopf, R. J. (2004). Strong coupling of a single photon to a superconducting qubit using circuit quantum electrodynamics. </a:t>
            </a:r>
            <a:r>
              <a:rPr lang="en-US" i="1" dirty="0"/>
              <a:t>Nature</a:t>
            </a:r>
            <a:r>
              <a:rPr lang="en-US" dirty="0"/>
              <a:t>, 431(7005), 162–167. DOI: https://</a:t>
            </a:r>
            <a:r>
              <a:rPr lang="en-US" dirty="0" err="1"/>
              <a:t>doi.org</a:t>
            </a:r>
            <a:r>
              <a:rPr lang="en-US" dirty="0"/>
              <a:t>/10.1038/nature02851 </a:t>
            </a:r>
          </a:p>
          <a:p>
            <a:pPr marL="342900" indent="-342900">
              <a:buAutoNum type="arabicPeriod"/>
            </a:pPr>
            <a:r>
              <a:rPr lang="en-US" dirty="0"/>
              <a:t>Wang, J. I.-J., Rodan-</a:t>
            </a:r>
            <a:r>
              <a:rPr lang="en-US" dirty="0" err="1"/>
              <a:t>Legrain</a:t>
            </a:r>
            <a:r>
              <a:rPr lang="en-US" dirty="0"/>
              <a:t>, D., </a:t>
            </a:r>
            <a:r>
              <a:rPr lang="en-US" dirty="0" err="1"/>
              <a:t>Bretheau</a:t>
            </a:r>
            <a:r>
              <a:rPr lang="en-US" dirty="0"/>
              <a:t>, L., Campbell, D. L., Kannan, B., Kim, D., Watanabe, K., Taniguchi, T., Jarillo-Herrero, P., </a:t>
            </a:r>
            <a:r>
              <a:rPr lang="en-US" dirty="0" err="1"/>
              <a:t>Devoret</a:t>
            </a:r>
            <a:r>
              <a:rPr lang="en-US" dirty="0"/>
              <a:t>, M. H. (2019). Coherent control of a hybrid superconducting circuit made with graphene-based van der Waals heterostructures. </a:t>
            </a:r>
            <a:r>
              <a:rPr lang="en-US" i="1" dirty="0"/>
              <a:t>Nature Nanotechnology</a:t>
            </a:r>
            <a:r>
              <a:rPr lang="en-US" dirty="0"/>
              <a:t>, 14(2), 120–125. DOI: https://</a:t>
            </a:r>
            <a:r>
              <a:rPr lang="en-US" dirty="0" err="1"/>
              <a:t>doi.org</a:t>
            </a:r>
            <a:r>
              <a:rPr lang="en-US" dirty="0"/>
              <a:t>/10.1038/s41565-018-0329-2</a:t>
            </a:r>
          </a:p>
        </p:txBody>
      </p:sp>
    </p:spTree>
    <p:extLst>
      <p:ext uri="{BB962C8B-B14F-4D97-AF65-F5344CB8AC3E}">
        <p14:creationId xmlns:p14="http://schemas.microsoft.com/office/powerpoint/2010/main" val="602019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20167</TotalTime>
  <Words>329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Cai</dc:creator>
  <cp:lastModifiedBy>Jiaqi Cai</cp:lastModifiedBy>
  <cp:revision>5</cp:revision>
  <dcterms:created xsi:type="dcterms:W3CDTF">2025-06-03T23:41:41Z</dcterms:created>
  <dcterms:modified xsi:type="dcterms:W3CDTF">2025-10-31T12:32:45Z</dcterms:modified>
</cp:coreProperties>
</file>