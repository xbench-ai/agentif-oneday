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  <p:embeddedFontLst>
    <p:embeddedFont>
      <p:font typeface="Noto Sans SC"/>
      <p:regular r:id="rId16"/>
      <p:bold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?>
<Relationships xmlns="http://schemas.openxmlformats.org/package/2006/relationships"><Relationship Id="rId1" Type="http://schemas.openxmlformats.org/officeDocument/2006/relationships/theme" Target="theme/theme1.xml" /><Relationship Id="rId2" Type="http://schemas.openxmlformats.org/officeDocument/2006/relationships/slideMaster" Target="slideMasters/slide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presProps" Target="presProps.xml" /><Relationship Id="rId16" Type="http://schemas.openxmlformats.org/officeDocument/2006/relationships/font" Target="fonts/font1.fntdata" /><Relationship Id="rId17" Type="http://schemas.openxmlformats.org/officeDocument/2006/relationships/font" Target="fonts/font2.fntdata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8124480" y="4571640"/>
            <a:ext cx="4067640" cy="2286360"/>
          </a:xfrm>
          <a:custGeom>
            <a:avLst/>
            <a:gdLst/>
            <a:ahLst/>
            <a:rect l="0" t="0" r="r" b="b"/>
            <a:pathLst>
              <a:path w="11299" h="6351">
                <a:moveTo>
                  <a:pt x="11193" y="0"/>
                </a:moveTo>
                <a:lnTo>
                  <a:pt x="11299" y="0"/>
                </a:lnTo>
                <a:lnTo>
                  <a:pt x="11299" y="6351"/>
                </a:lnTo>
                <a:lnTo>
                  <a:pt x="11193" y="6351"/>
                </a:lnTo>
                <a:lnTo>
                  <a:pt x="11193" y="0"/>
                </a:lnTo>
                <a:moveTo>
                  <a:pt x="0" y="6246"/>
                </a:moveTo>
                <a:lnTo>
                  <a:pt x="11299" y="6246"/>
                </a:lnTo>
                <a:lnTo>
                  <a:pt x="11299" y="6351"/>
                </a:lnTo>
                <a:lnTo>
                  <a:pt x="0" y="6351"/>
                </a:lnTo>
                <a:lnTo>
                  <a:pt x="0" y="6246"/>
                </a:lnTo>
                <a:close/>
              </a:path>
            </a:pathLst>
          </a:custGeom>
          <a:solidFill>
            <a:srgbClr val="003366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76320" cy="6858000"/>
          </a:xfrm>
          <a:custGeom>
            <a:avLst/>
            <a:gdLst/>
            <a:ahLst/>
            <a:rect l="0" t="0" r="r" b="b"/>
            <a:pathLst>
              <a:path w="212" h="19050">
                <a:moveTo>
                  <a:pt x="0" y="0"/>
                </a:moveTo>
                <a:lnTo>
                  <a:pt x="212" y="0"/>
                </a:lnTo>
                <a:lnTo>
                  <a:pt x="21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33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761760" y="3200040"/>
            <a:ext cx="914760" cy="57600"/>
          </a:xfrm>
          <a:custGeom>
            <a:avLst/>
            <a:gdLst/>
            <a:ahLst/>
            <a:rect l="0" t="0" r="r" b="b"/>
            <a:pathLst>
              <a:path w="2541" h="160">
                <a:moveTo>
                  <a:pt x="0" y="0"/>
                </a:moveTo>
                <a:lnTo>
                  <a:pt x="2541" y="0"/>
                </a:lnTo>
                <a:lnTo>
                  <a:pt x="2541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1500480"/>
            <a:ext cx="5255280" cy="63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XIAMEN XIANGYU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62120" y="2215080"/>
            <a:ext cx="2604600" cy="63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CO., LTD.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62120" y="3574440"/>
            <a:ext cx="44164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Comprehensive Research Report 2025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62120" y="4164120"/>
            <a:ext cx="5339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00" strike="noStrike" u="none" i="0">
                <a:solidFill>
                  <a:srgbClr val="4b5563"/>
                </a:solidFill>
                <a:effectLst/>
                <a:uFillTx/>
                <a:latin typeface="Noto Sans SC"/>
                <a:ea typeface="Noto Sans SC"/>
              </a:rPr>
              <a:t>In-depth Analysis of Fundamentals, Industry, Operations &amp; Valuation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62120" y="4895640"/>
            <a:ext cx="1261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Report Date: 2025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62120" y="5162040"/>
            <a:ext cx="2527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Prepared by [Your Name/Institution]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09480" y="1104840"/>
            <a:ext cx="609840" cy="38160"/>
          </a:xfrm>
          <a:custGeom>
            <a:avLst/>
            <a:gdLst/>
            <a:ahLst/>
            <a:rect l="0" t="0" r="r" b="b"/>
            <a:pathLst>
              <a:path w="1694" h="106">
                <a:moveTo>
                  <a:pt x="0" y="0"/>
                </a:moveTo>
                <a:lnTo>
                  <a:pt x="1694" y="0"/>
                </a:lnTo>
                <a:lnTo>
                  <a:pt x="1694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09480" y="608760"/>
            <a:ext cx="2610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Table of Contents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09480" y="2697120"/>
            <a:ext cx="19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01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028520" y="2673000"/>
            <a:ext cx="3086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Company Fundamentals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609480" y="3421080"/>
            <a:ext cx="19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02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028520" y="3396600"/>
            <a:ext cx="337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DCF Valuation &amp; Financial Forecast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09480" y="4145040"/>
            <a:ext cx="19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03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28520" y="4120560"/>
            <a:ext cx="27309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Business Operations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6477120" y="2697120"/>
            <a:ext cx="19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04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896160" y="2673000"/>
            <a:ext cx="2616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Company Business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477120" y="3421080"/>
            <a:ext cx="19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05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896160" y="3396600"/>
            <a:ext cx="26542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Industry Landscape 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477120" y="4145040"/>
            <a:ext cx="19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06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896160" y="4120560"/>
            <a:ext cx="3156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Conclusion &amp; Investment Outlook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8816400" y="607248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80880" y="274284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555480" y="2704680"/>
            <a:ext cx="3783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Listed: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Shanghai Stock Exchange (600057) since 2011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80880" y="320940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55480" y="3171600"/>
            <a:ext cx="5316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Core Strategy: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'Supply Chain-Based, Industry Chain-Serviced, Value Chain-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55480" y="3447720"/>
            <a:ext cx="562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Created'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880" y="391428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55480" y="3876480"/>
            <a:ext cx="4756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Business Scope: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Bulk Commodity Supply Chain, Logistics Platform,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55480" y="4161960"/>
            <a:ext cx="3773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Emerging Sectors (Alternative Energy, New Materials)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80880" y="462888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55480" y="4590720"/>
            <a:ext cx="5227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Global Presence: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Operations in 110+ Countries, 30+ International Airports,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291000" y="1985760"/>
            <a:ext cx="5515560" cy="3800880"/>
          </a:xfrm>
          <a:custGeom>
            <a:avLst/>
            <a:gdLst/>
            <a:ahLst/>
            <a:rect l="0" t="0" r="r" b="b"/>
            <a:pathLst>
              <a:path fill="none" w="15321" h="10558">
                <a:moveTo>
                  <a:pt x="0" y="1035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1" y="4"/>
                </a:cubicBezTo>
                <a:cubicBezTo>
                  <a:pt x="15174" y="6"/>
                  <a:pt x="15186" y="10"/>
                  <a:pt x="15198" y="15"/>
                </a:cubicBezTo>
                <a:cubicBezTo>
                  <a:pt x="15210" y="20"/>
                  <a:pt x="15222" y="26"/>
                  <a:pt x="15232" y="34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2" y="67"/>
                  <a:pt x="15280" y="77"/>
                  <a:pt x="15287" y="88"/>
                </a:cubicBezTo>
                <a:cubicBezTo>
                  <a:pt x="15294" y="99"/>
                  <a:pt x="15301" y="111"/>
                  <a:pt x="15305" y="123"/>
                </a:cubicBezTo>
                <a:cubicBezTo>
                  <a:pt x="15310" y="135"/>
                  <a:pt x="15314" y="147"/>
                  <a:pt x="15317" y="160"/>
                </a:cubicBezTo>
                <a:cubicBezTo>
                  <a:pt x="15319" y="173"/>
                  <a:pt x="15321" y="185"/>
                  <a:pt x="15321" y="198"/>
                </a:cubicBezTo>
                <a:lnTo>
                  <a:pt x="15321" y="10359"/>
                </a:lnTo>
                <a:cubicBezTo>
                  <a:pt x="15321" y="10373"/>
                  <a:pt x="15319" y="10385"/>
                  <a:pt x="15317" y="10398"/>
                </a:cubicBezTo>
                <a:cubicBezTo>
                  <a:pt x="15314" y="10411"/>
                  <a:pt x="15310" y="10423"/>
                  <a:pt x="15305" y="10435"/>
                </a:cubicBezTo>
                <a:cubicBezTo>
                  <a:pt x="15301" y="10447"/>
                  <a:pt x="15294" y="10459"/>
                  <a:pt x="15287" y="10470"/>
                </a:cubicBezTo>
                <a:cubicBezTo>
                  <a:pt x="15280" y="10481"/>
                  <a:pt x="15272" y="10491"/>
                  <a:pt x="15262" y="10500"/>
                </a:cubicBezTo>
                <a:cubicBezTo>
                  <a:pt x="15253" y="10509"/>
                  <a:pt x="15243" y="10517"/>
                  <a:pt x="15232" y="10524"/>
                </a:cubicBezTo>
                <a:cubicBezTo>
                  <a:pt x="15222" y="10532"/>
                  <a:pt x="15210" y="10538"/>
                  <a:pt x="15198" y="10543"/>
                </a:cubicBezTo>
                <a:cubicBezTo>
                  <a:pt x="15186" y="10548"/>
                  <a:pt x="15174" y="10552"/>
                  <a:pt x="15161" y="10554"/>
                </a:cubicBezTo>
                <a:cubicBezTo>
                  <a:pt x="15148" y="10557"/>
                  <a:pt x="15135" y="10558"/>
                  <a:pt x="15122" y="10558"/>
                </a:cubicBezTo>
                <a:lnTo>
                  <a:pt x="199" y="10558"/>
                </a:lnTo>
                <a:cubicBezTo>
                  <a:pt x="186" y="10558"/>
                  <a:pt x="173" y="10557"/>
                  <a:pt x="160" y="10554"/>
                </a:cubicBezTo>
                <a:cubicBezTo>
                  <a:pt x="147" y="10552"/>
                  <a:pt x="135" y="10548"/>
                  <a:pt x="123" y="10543"/>
                </a:cubicBezTo>
                <a:cubicBezTo>
                  <a:pt x="111" y="10538"/>
                  <a:pt x="99" y="10532"/>
                  <a:pt x="88" y="10524"/>
                </a:cubicBezTo>
                <a:cubicBezTo>
                  <a:pt x="78" y="10517"/>
                  <a:pt x="68" y="10509"/>
                  <a:pt x="58" y="10500"/>
                </a:cubicBezTo>
                <a:cubicBezTo>
                  <a:pt x="49" y="10491"/>
                  <a:pt x="41" y="10481"/>
                  <a:pt x="34" y="10470"/>
                </a:cubicBezTo>
                <a:cubicBezTo>
                  <a:pt x="26" y="10459"/>
                  <a:pt x="20" y="10447"/>
                  <a:pt x="15" y="10435"/>
                </a:cubicBezTo>
                <a:cubicBezTo>
                  <a:pt x="10" y="10423"/>
                  <a:pt x="7" y="10411"/>
                  <a:pt x="4" y="10398"/>
                </a:cubicBezTo>
                <a:cubicBezTo>
                  <a:pt x="1" y="10385"/>
                  <a:pt x="0" y="10373"/>
                  <a:pt x="0" y="1035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6293160" y="1990800"/>
            <a:ext cx="5510520" cy="37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/>
          <p:nvPr/>
        </p:nvSpPr>
        <p:spPr>
          <a:xfrm>
            <a:off x="380880" y="799920"/>
            <a:ext cx="457560" cy="38520"/>
          </a:xfrm>
          <a:custGeom>
            <a:avLst/>
            <a:gdLst/>
            <a:ahLst/>
            <a:rect l="0" t="0" r="r" b="b"/>
            <a:pathLst>
              <a:path w="1271" h="107">
                <a:moveTo>
                  <a:pt x="0" y="0"/>
                </a:moveTo>
                <a:lnTo>
                  <a:pt x="1271" y="0"/>
                </a:lnTo>
                <a:lnTo>
                  <a:pt x="12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55480" y="4866840"/>
            <a:ext cx="207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11 Overseas Production Bases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80880" y="393120"/>
            <a:ext cx="28735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1.1 Company Overview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197280" y="64533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456840" y="876240"/>
            <a:ext cx="457560" cy="38160"/>
          </a:xfrm>
          <a:custGeom>
            <a:avLst/>
            <a:gdLst/>
            <a:ahLst/>
            <a:rect l="0" t="0" r="r" b="b"/>
            <a:pathLst>
              <a:path w="1271" h="106">
                <a:moveTo>
                  <a:pt x="0" y="0"/>
                </a:moveTo>
                <a:lnTo>
                  <a:pt x="1271" y="0"/>
                </a:lnTo>
                <a:lnTo>
                  <a:pt x="127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57200" y="469440"/>
            <a:ext cx="38836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1.2 Financial Performance 2024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505880" y="1173240"/>
            <a:ext cx="33868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2024 Financial Performance YoY Change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286320" y="2247480"/>
            <a:ext cx="2873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Revenue:</a:t>
            </a:r>
            <a:r>
              <a:rPr b="0" lang="en-US" sz="135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 366.7 billion yuan (-20%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286320" y="2714400"/>
            <a:ext cx="5163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Net Profit:</a:t>
            </a:r>
            <a:r>
              <a:rPr b="0" lang="en-US" sz="135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 1.42 billion yuan (-10% YoY); Q4 Net Profit: 530 million yuan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286320" y="2990520"/>
            <a:ext cx="898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(+35%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286320" y="3457080"/>
            <a:ext cx="4150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Operating Cash Flow:</a:t>
            </a:r>
            <a:r>
              <a:rPr b="0" lang="en-US" sz="135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 4.491 billion yuan (+143.43%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286320" y="3933360"/>
            <a:ext cx="4975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Key Margins:</a:t>
            </a:r>
            <a:r>
              <a:rPr b="0" lang="en-US" sz="135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 Gross Margin 1.69% (+0.29pct YoY), Net Margin 0.39%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286320" y="4209840"/>
            <a:ext cx="1053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(-0.04pct YoY)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286320" y="4676400"/>
            <a:ext cx="539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>
                <a:solidFill>
                  <a:srgbClr val="003366"/>
                </a:solidFill>
                <a:effectLst/>
                <a:uFillTx/>
                <a:latin typeface="Times New Roman"/>
                <a:ea typeface="Times New Roman"/>
              </a:rPr>
              <a:t>Dividend:</a:t>
            </a:r>
            <a:r>
              <a:rPr b="0" lang="en-US" sz="1350" strike="noStrike" u="none">
                <a:solidFill>
                  <a:srgbClr val="1f2937"/>
                </a:solidFill>
                <a:effectLst/>
                <a:uFillTx/>
                <a:latin typeface="Times New Roman"/>
                <a:ea typeface="Times New Roman"/>
              </a:rPr>
              <a:t> 0.25 yuan/share, Dividend Payout Ratio 49%, Dividend Yield 4.0%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457200" y="1562040"/>
            <a:ext cx="5447880" cy="441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 txBox="1"/>
          <p:nvPr/>
        </p:nvSpPr>
        <p:spPr>
          <a:xfrm>
            <a:off x="8968680" y="62247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9ca3af"/>
                </a:solidFill>
                <a:effectLst/>
                <a:uFillTx/>
                <a:latin typeface="Times New Roman"/>
                <a:ea typeface="Times New Roman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56840" y="876240"/>
            <a:ext cx="457560" cy="38160"/>
          </a:xfrm>
          <a:custGeom>
            <a:avLst/>
            <a:gdLst/>
            <a:ahLst/>
            <a:rect l="0" t="0" r="r" b="b"/>
            <a:pathLst>
              <a:path w="1271" h="106">
                <a:moveTo>
                  <a:pt x="0" y="0"/>
                </a:moveTo>
                <a:lnTo>
                  <a:pt x="1271" y="0"/>
                </a:lnTo>
                <a:lnTo>
                  <a:pt x="127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461880" y="2566800"/>
            <a:ext cx="2581560" cy="1991160"/>
          </a:xfrm>
          <a:custGeom>
            <a:avLst/>
            <a:gdLst/>
            <a:ahLst/>
            <a:rect l="0" t="0" r="r" b="b"/>
            <a:pathLst>
              <a:path w="7171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6972" y="0"/>
                </a:lnTo>
                <a:cubicBezTo>
                  <a:pt x="6986" y="0"/>
                  <a:pt x="6998" y="1"/>
                  <a:pt x="7011" y="4"/>
                </a:cubicBezTo>
                <a:cubicBezTo>
                  <a:pt x="7024" y="6"/>
                  <a:pt x="7036" y="10"/>
                  <a:pt x="7048" y="15"/>
                </a:cubicBezTo>
                <a:cubicBezTo>
                  <a:pt x="7060" y="20"/>
                  <a:pt x="7072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2" y="67"/>
                  <a:pt x="7130" y="77"/>
                  <a:pt x="7137" y="88"/>
                </a:cubicBezTo>
                <a:cubicBezTo>
                  <a:pt x="7145" y="99"/>
                  <a:pt x="7151" y="110"/>
                  <a:pt x="7156" y="123"/>
                </a:cubicBezTo>
                <a:cubicBezTo>
                  <a:pt x="7161" y="135"/>
                  <a:pt x="7165" y="147"/>
                  <a:pt x="7167" y="160"/>
                </a:cubicBezTo>
                <a:cubicBezTo>
                  <a:pt x="7170" y="173"/>
                  <a:pt x="7171" y="185"/>
                  <a:pt x="7171" y="198"/>
                </a:cubicBezTo>
                <a:lnTo>
                  <a:pt x="7171" y="5332"/>
                </a:lnTo>
                <a:cubicBezTo>
                  <a:pt x="7171" y="5345"/>
                  <a:pt x="7170" y="5358"/>
                  <a:pt x="7167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1" y="5420"/>
                  <a:pt x="7145" y="5432"/>
                  <a:pt x="7137" y="5443"/>
                </a:cubicBezTo>
                <a:cubicBezTo>
                  <a:pt x="7130" y="5453"/>
                  <a:pt x="7122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2" y="5505"/>
                  <a:pt x="7060" y="5511"/>
                  <a:pt x="7048" y="5516"/>
                </a:cubicBezTo>
                <a:cubicBezTo>
                  <a:pt x="7036" y="5521"/>
                  <a:pt x="7024" y="5524"/>
                  <a:pt x="7011" y="5527"/>
                </a:cubicBezTo>
                <a:cubicBezTo>
                  <a:pt x="6998" y="5530"/>
                  <a:pt x="6986" y="5531"/>
                  <a:pt x="6972" y="5531"/>
                </a:cubicBezTo>
                <a:lnTo>
                  <a:pt x="198" y="5531"/>
                </a:lnTo>
                <a:cubicBezTo>
                  <a:pt x="185" y="5531"/>
                  <a:pt x="172" y="5530"/>
                  <a:pt x="159" y="5527"/>
                </a:cubicBezTo>
                <a:cubicBezTo>
                  <a:pt x="147" y="5524"/>
                  <a:pt x="134" y="5521"/>
                  <a:pt x="122" y="5516"/>
                </a:cubicBezTo>
                <a:cubicBezTo>
                  <a:pt x="110" y="5511"/>
                  <a:pt x="99" y="5505"/>
                  <a:pt x="88" y="5497"/>
                </a:cubicBezTo>
                <a:cubicBezTo>
                  <a:pt x="77" y="5490"/>
                  <a:pt x="67" y="5482"/>
                  <a:pt x="58" y="5473"/>
                </a:cubicBezTo>
                <a:cubicBezTo>
                  <a:pt x="49" y="5463"/>
                  <a:pt x="40" y="5453"/>
                  <a:pt x="33" y="5443"/>
                </a:cubicBezTo>
                <a:cubicBezTo>
                  <a:pt x="26" y="5432"/>
                  <a:pt x="20" y="5420"/>
                  <a:pt x="15" y="5408"/>
                </a:cubicBezTo>
                <a:cubicBezTo>
                  <a:pt x="10" y="5396"/>
                  <a:pt x="6" y="5384"/>
                  <a:pt x="4" y="5371"/>
                </a:cubicBezTo>
                <a:cubicBezTo>
                  <a:pt x="1" y="5358"/>
                  <a:pt x="0" y="5345"/>
                  <a:pt x="0" y="5332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61880" y="2566800"/>
            <a:ext cx="2581560" cy="1991160"/>
          </a:xfrm>
          <a:custGeom>
            <a:avLst/>
            <a:gdLst/>
            <a:ahLst/>
            <a:rect l="0" t="0" r="r" b="b"/>
            <a:pathLst>
              <a:path fill="none" w="7171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6972" y="0"/>
                </a:lnTo>
                <a:cubicBezTo>
                  <a:pt x="6986" y="0"/>
                  <a:pt x="6998" y="1"/>
                  <a:pt x="7011" y="4"/>
                </a:cubicBezTo>
                <a:cubicBezTo>
                  <a:pt x="7024" y="6"/>
                  <a:pt x="7036" y="10"/>
                  <a:pt x="7048" y="15"/>
                </a:cubicBezTo>
                <a:cubicBezTo>
                  <a:pt x="7060" y="20"/>
                  <a:pt x="7072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2" y="67"/>
                  <a:pt x="7130" y="77"/>
                  <a:pt x="7137" y="88"/>
                </a:cubicBezTo>
                <a:cubicBezTo>
                  <a:pt x="7145" y="99"/>
                  <a:pt x="7151" y="110"/>
                  <a:pt x="7156" y="123"/>
                </a:cubicBezTo>
                <a:cubicBezTo>
                  <a:pt x="7161" y="135"/>
                  <a:pt x="7165" y="147"/>
                  <a:pt x="7167" y="160"/>
                </a:cubicBezTo>
                <a:cubicBezTo>
                  <a:pt x="7170" y="173"/>
                  <a:pt x="7171" y="185"/>
                  <a:pt x="7171" y="198"/>
                </a:cubicBezTo>
                <a:lnTo>
                  <a:pt x="7171" y="5332"/>
                </a:lnTo>
                <a:cubicBezTo>
                  <a:pt x="7171" y="5345"/>
                  <a:pt x="7170" y="5358"/>
                  <a:pt x="7167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1" y="5420"/>
                  <a:pt x="7145" y="5432"/>
                  <a:pt x="7137" y="5443"/>
                </a:cubicBezTo>
                <a:cubicBezTo>
                  <a:pt x="7130" y="5453"/>
                  <a:pt x="7122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2" y="5505"/>
                  <a:pt x="7060" y="5511"/>
                  <a:pt x="7048" y="5516"/>
                </a:cubicBezTo>
                <a:cubicBezTo>
                  <a:pt x="7036" y="5521"/>
                  <a:pt x="7024" y="5524"/>
                  <a:pt x="7011" y="5527"/>
                </a:cubicBezTo>
                <a:cubicBezTo>
                  <a:pt x="6998" y="5530"/>
                  <a:pt x="6986" y="5531"/>
                  <a:pt x="6972" y="5531"/>
                </a:cubicBezTo>
                <a:lnTo>
                  <a:pt x="198" y="5531"/>
                </a:lnTo>
                <a:cubicBezTo>
                  <a:pt x="185" y="5531"/>
                  <a:pt x="172" y="5530"/>
                  <a:pt x="159" y="5527"/>
                </a:cubicBezTo>
                <a:cubicBezTo>
                  <a:pt x="147" y="5524"/>
                  <a:pt x="134" y="5521"/>
                  <a:pt x="122" y="5516"/>
                </a:cubicBezTo>
                <a:cubicBezTo>
                  <a:pt x="110" y="5511"/>
                  <a:pt x="99" y="5505"/>
                  <a:pt x="88" y="5497"/>
                </a:cubicBezTo>
                <a:cubicBezTo>
                  <a:pt x="77" y="5490"/>
                  <a:pt x="67" y="5482"/>
                  <a:pt x="58" y="5473"/>
                </a:cubicBezTo>
                <a:cubicBezTo>
                  <a:pt x="49" y="5463"/>
                  <a:pt x="40" y="5453"/>
                  <a:pt x="33" y="5443"/>
                </a:cubicBezTo>
                <a:cubicBezTo>
                  <a:pt x="26" y="5432"/>
                  <a:pt x="20" y="5420"/>
                  <a:pt x="15" y="5408"/>
                </a:cubicBezTo>
                <a:cubicBezTo>
                  <a:pt x="10" y="5396"/>
                  <a:pt x="6" y="5384"/>
                  <a:pt x="4" y="5371"/>
                </a:cubicBezTo>
                <a:cubicBezTo>
                  <a:pt x="1" y="5358"/>
                  <a:pt x="0" y="5345"/>
                  <a:pt x="0" y="533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57200" y="469440"/>
            <a:ext cx="280944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1.3 Core Competencies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95160" y="2830680"/>
            <a:ext cx="1927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Integrated Value Chain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95160" y="3257280"/>
            <a:ext cx="2001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Full-chain solutions covering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95160" y="3533400"/>
            <a:ext cx="1778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procurement, distribution,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3357360" y="2566800"/>
            <a:ext cx="2581560" cy="1991160"/>
          </a:xfrm>
          <a:custGeom>
            <a:avLst/>
            <a:gdLst/>
            <a:ahLst/>
            <a:rect l="0" t="0" r="r" b="b"/>
            <a:pathLst>
              <a:path w="7171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5" y="0"/>
                  <a:pt x="198" y="0"/>
                </a:cubicBezTo>
                <a:lnTo>
                  <a:pt x="6973" y="0"/>
                </a:lnTo>
                <a:cubicBezTo>
                  <a:pt x="6986" y="0"/>
                  <a:pt x="6999" y="1"/>
                  <a:pt x="7012" y="4"/>
                </a:cubicBezTo>
                <a:cubicBezTo>
                  <a:pt x="7024" y="6"/>
                  <a:pt x="7037" y="10"/>
                  <a:pt x="7049" y="15"/>
                </a:cubicBezTo>
                <a:cubicBezTo>
                  <a:pt x="7061" y="20"/>
                  <a:pt x="7072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2" y="67"/>
                  <a:pt x="7131" y="77"/>
                  <a:pt x="7138" y="88"/>
                </a:cubicBezTo>
                <a:cubicBezTo>
                  <a:pt x="7145" y="99"/>
                  <a:pt x="7151" y="110"/>
                  <a:pt x="7156" y="123"/>
                </a:cubicBezTo>
                <a:cubicBezTo>
                  <a:pt x="7161" y="135"/>
                  <a:pt x="7165" y="147"/>
                  <a:pt x="7167" y="160"/>
                </a:cubicBezTo>
                <a:cubicBezTo>
                  <a:pt x="7170" y="173"/>
                  <a:pt x="7171" y="185"/>
                  <a:pt x="7171" y="198"/>
                </a:cubicBezTo>
                <a:lnTo>
                  <a:pt x="7171" y="5332"/>
                </a:lnTo>
                <a:cubicBezTo>
                  <a:pt x="7171" y="5345"/>
                  <a:pt x="7170" y="5358"/>
                  <a:pt x="7167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1" y="5420"/>
                  <a:pt x="7145" y="5432"/>
                  <a:pt x="7138" y="5443"/>
                </a:cubicBezTo>
                <a:cubicBezTo>
                  <a:pt x="7131" y="5453"/>
                  <a:pt x="7122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2" y="5505"/>
                  <a:pt x="7061" y="5511"/>
                  <a:pt x="7049" y="5516"/>
                </a:cubicBezTo>
                <a:cubicBezTo>
                  <a:pt x="7037" y="5521"/>
                  <a:pt x="7024" y="5524"/>
                  <a:pt x="7012" y="5527"/>
                </a:cubicBezTo>
                <a:cubicBezTo>
                  <a:pt x="6999" y="5530"/>
                  <a:pt x="6986" y="5531"/>
                  <a:pt x="6973" y="5531"/>
                </a:cubicBezTo>
                <a:lnTo>
                  <a:pt x="198" y="5531"/>
                </a:lnTo>
                <a:cubicBezTo>
                  <a:pt x="185" y="5531"/>
                  <a:pt x="173" y="5530"/>
                  <a:pt x="160" y="5527"/>
                </a:cubicBezTo>
                <a:cubicBezTo>
                  <a:pt x="147" y="5524"/>
                  <a:pt x="135" y="5521"/>
                  <a:pt x="123" y="5516"/>
                </a:cubicBezTo>
                <a:cubicBezTo>
                  <a:pt x="111" y="5511"/>
                  <a:pt x="99" y="5505"/>
                  <a:pt x="88" y="5497"/>
                </a:cubicBezTo>
                <a:cubicBezTo>
                  <a:pt x="77" y="5490"/>
                  <a:pt x="67" y="5482"/>
                  <a:pt x="58" y="5473"/>
                </a:cubicBezTo>
                <a:cubicBezTo>
                  <a:pt x="49" y="5463"/>
                  <a:pt x="41" y="5453"/>
                  <a:pt x="34" y="5443"/>
                </a:cubicBezTo>
                <a:cubicBezTo>
                  <a:pt x="26" y="5432"/>
                  <a:pt x="20" y="5420"/>
                  <a:pt x="15" y="5408"/>
                </a:cubicBezTo>
                <a:cubicBezTo>
                  <a:pt x="10" y="5396"/>
                  <a:pt x="6" y="5384"/>
                  <a:pt x="4" y="5371"/>
                </a:cubicBezTo>
                <a:cubicBezTo>
                  <a:pt x="1" y="5358"/>
                  <a:pt x="0" y="5345"/>
                  <a:pt x="0" y="5332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357360" y="2566800"/>
            <a:ext cx="2581560" cy="1991160"/>
          </a:xfrm>
          <a:custGeom>
            <a:avLst/>
            <a:gdLst/>
            <a:ahLst/>
            <a:rect l="0" t="0" r="r" b="b"/>
            <a:pathLst>
              <a:path fill="none" w="7171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5" y="0"/>
                  <a:pt x="198" y="0"/>
                </a:cubicBezTo>
                <a:lnTo>
                  <a:pt x="6973" y="0"/>
                </a:lnTo>
                <a:cubicBezTo>
                  <a:pt x="6986" y="0"/>
                  <a:pt x="6999" y="1"/>
                  <a:pt x="7012" y="4"/>
                </a:cubicBezTo>
                <a:cubicBezTo>
                  <a:pt x="7024" y="6"/>
                  <a:pt x="7037" y="10"/>
                  <a:pt x="7049" y="15"/>
                </a:cubicBezTo>
                <a:cubicBezTo>
                  <a:pt x="7061" y="20"/>
                  <a:pt x="7072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2" y="67"/>
                  <a:pt x="7131" y="77"/>
                  <a:pt x="7138" y="88"/>
                </a:cubicBezTo>
                <a:cubicBezTo>
                  <a:pt x="7145" y="99"/>
                  <a:pt x="7151" y="110"/>
                  <a:pt x="7156" y="123"/>
                </a:cubicBezTo>
                <a:cubicBezTo>
                  <a:pt x="7161" y="135"/>
                  <a:pt x="7165" y="147"/>
                  <a:pt x="7167" y="160"/>
                </a:cubicBezTo>
                <a:cubicBezTo>
                  <a:pt x="7170" y="173"/>
                  <a:pt x="7171" y="185"/>
                  <a:pt x="7171" y="198"/>
                </a:cubicBezTo>
                <a:lnTo>
                  <a:pt x="7171" y="5332"/>
                </a:lnTo>
                <a:cubicBezTo>
                  <a:pt x="7171" y="5345"/>
                  <a:pt x="7170" y="5358"/>
                  <a:pt x="7167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1" y="5420"/>
                  <a:pt x="7145" y="5432"/>
                  <a:pt x="7138" y="5443"/>
                </a:cubicBezTo>
                <a:cubicBezTo>
                  <a:pt x="7131" y="5453"/>
                  <a:pt x="7122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2" y="5505"/>
                  <a:pt x="7061" y="5511"/>
                  <a:pt x="7049" y="5516"/>
                </a:cubicBezTo>
                <a:cubicBezTo>
                  <a:pt x="7037" y="5521"/>
                  <a:pt x="7024" y="5524"/>
                  <a:pt x="7012" y="5527"/>
                </a:cubicBezTo>
                <a:cubicBezTo>
                  <a:pt x="6999" y="5530"/>
                  <a:pt x="6986" y="5531"/>
                  <a:pt x="6973" y="5531"/>
                </a:cubicBezTo>
                <a:lnTo>
                  <a:pt x="198" y="5531"/>
                </a:lnTo>
                <a:cubicBezTo>
                  <a:pt x="185" y="5531"/>
                  <a:pt x="173" y="5530"/>
                  <a:pt x="160" y="5527"/>
                </a:cubicBezTo>
                <a:cubicBezTo>
                  <a:pt x="147" y="5524"/>
                  <a:pt x="135" y="5521"/>
                  <a:pt x="123" y="5516"/>
                </a:cubicBezTo>
                <a:cubicBezTo>
                  <a:pt x="111" y="5511"/>
                  <a:pt x="99" y="5505"/>
                  <a:pt x="88" y="5497"/>
                </a:cubicBezTo>
                <a:cubicBezTo>
                  <a:pt x="77" y="5490"/>
                  <a:pt x="67" y="5482"/>
                  <a:pt x="58" y="5473"/>
                </a:cubicBezTo>
                <a:cubicBezTo>
                  <a:pt x="49" y="5463"/>
                  <a:pt x="41" y="5453"/>
                  <a:pt x="34" y="5443"/>
                </a:cubicBezTo>
                <a:cubicBezTo>
                  <a:pt x="26" y="5432"/>
                  <a:pt x="20" y="5420"/>
                  <a:pt x="15" y="5408"/>
                </a:cubicBezTo>
                <a:cubicBezTo>
                  <a:pt x="10" y="5396"/>
                  <a:pt x="6" y="5384"/>
                  <a:pt x="4" y="5371"/>
                </a:cubicBezTo>
                <a:cubicBezTo>
                  <a:pt x="1" y="5358"/>
                  <a:pt x="0" y="5345"/>
                  <a:pt x="0" y="533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95160" y="3819240"/>
            <a:ext cx="1342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logistics, financing.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591000" y="2830680"/>
            <a:ext cx="1350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Global Resource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591000" y="3097440"/>
            <a:ext cx="9212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Integration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591000" y="3524040"/>
            <a:ext cx="207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Strategic partnerships, leading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591000" y="3800160"/>
            <a:ext cx="1830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market share in aluminum,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252840" y="2566800"/>
            <a:ext cx="2581920" cy="1991160"/>
          </a:xfrm>
          <a:custGeom>
            <a:avLst/>
            <a:gdLst/>
            <a:ahLst/>
            <a:rect l="0" t="0" r="r" b="b"/>
            <a:pathLst>
              <a:path w="7172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2" y="173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73" y="0"/>
                </a:lnTo>
                <a:cubicBezTo>
                  <a:pt x="6986" y="0"/>
                  <a:pt x="6999" y="1"/>
                  <a:pt x="7012" y="4"/>
                </a:cubicBezTo>
                <a:cubicBezTo>
                  <a:pt x="7025" y="6"/>
                  <a:pt x="7037" y="10"/>
                  <a:pt x="7049" y="15"/>
                </a:cubicBezTo>
                <a:cubicBezTo>
                  <a:pt x="7061" y="20"/>
                  <a:pt x="7073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3" y="67"/>
                  <a:pt x="7131" y="77"/>
                  <a:pt x="7138" y="88"/>
                </a:cubicBezTo>
                <a:cubicBezTo>
                  <a:pt x="7145" y="99"/>
                  <a:pt x="7152" y="110"/>
                  <a:pt x="7156" y="123"/>
                </a:cubicBezTo>
                <a:cubicBezTo>
                  <a:pt x="7161" y="135"/>
                  <a:pt x="7165" y="147"/>
                  <a:pt x="7168" y="160"/>
                </a:cubicBezTo>
                <a:cubicBezTo>
                  <a:pt x="7170" y="173"/>
                  <a:pt x="7172" y="185"/>
                  <a:pt x="7172" y="198"/>
                </a:cubicBezTo>
                <a:lnTo>
                  <a:pt x="7172" y="5332"/>
                </a:lnTo>
                <a:cubicBezTo>
                  <a:pt x="7172" y="5345"/>
                  <a:pt x="7170" y="5358"/>
                  <a:pt x="7168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2" y="5420"/>
                  <a:pt x="7145" y="5432"/>
                  <a:pt x="7138" y="5443"/>
                </a:cubicBezTo>
                <a:cubicBezTo>
                  <a:pt x="7131" y="5453"/>
                  <a:pt x="7123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3" y="5505"/>
                  <a:pt x="7061" y="5511"/>
                  <a:pt x="7049" y="5516"/>
                </a:cubicBezTo>
                <a:cubicBezTo>
                  <a:pt x="7037" y="5521"/>
                  <a:pt x="7025" y="5524"/>
                  <a:pt x="7012" y="5527"/>
                </a:cubicBezTo>
                <a:cubicBezTo>
                  <a:pt x="6999" y="5530"/>
                  <a:pt x="6986" y="5531"/>
                  <a:pt x="6973" y="5531"/>
                </a:cubicBezTo>
                <a:lnTo>
                  <a:pt x="199" y="5531"/>
                </a:lnTo>
                <a:cubicBezTo>
                  <a:pt x="186" y="5531"/>
                  <a:pt x="173" y="5530"/>
                  <a:pt x="160" y="5527"/>
                </a:cubicBezTo>
                <a:cubicBezTo>
                  <a:pt x="147" y="5524"/>
                  <a:pt x="135" y="5521"/>
                  <a:pt x="123" y="5516"/>
                </a:cubicBezTo>
                <a:cubicBezTo>
                  <a:pt x="111" y="5511"/>
                  <a:pt x="99" y="5505"/>
                  <a:pt x="89" y="5497"/>
                </a:cubicBezTo>
                <a:cubicBezTo>
                  <a:pt x="78" y="5490"/>
                  <a:pt x="68" y="5482"/>
                  <a:pt x="59" y="5473"/>
                </a:cubicBezTo>
                <a:cubicBezTo>
                  <a:pt x="49" y="5463"/>
                  <a:pt x="41" y="5453"/>
                  <a:pt x="34" y="5443"/>
                </a:cubicBezTo>
                <a:cubicBezTo>
                  <a:pt x="27" y="5432"/>
                  <a:pt x="20" y="5420"/>
                  <a:pt x="15" y="5408"/>
                </a:cubicBezTo>
                <a:cubicBezTo>
                  <a:pt x="11" y="5396"/>
                  <a:pt x="7" y="5384"/>
                  <a:pt x="4" y="5371"/>
                </a:cubicBezTo>
                <a:cubicBezTo>
                  <a:pt x="2" y="5358"/>
                  <a:pt x="0" y="5345"/>
                  <a:pt x="0" y="5332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252840" y="2566800"/>
            <a:ext cx="2581920" cy="1991160"/>
          </a:xfrm>
          <a:custGeom>
            <a:avLst/>
            <a:gdLst/>
            <a:ahLst/>
            <a:rect l="0" t="0" r="r" b="b"/>
            <a:pathLst>
              <a:path fill="none" w="7172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2" y="173"/>
                  <a:pt x="4" y="160"/>
                </a:cubicBezTo>
                <a:cubicBezTo>
                  <a:pt x="7" y="147"/>
                  <a:pt x="11" y="135"/>
                  <a:pt x="15" y="123"/>
                </a:cubicBezTo>
                <a:cubicBezTo>
                  <a:pt x="20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1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6973" y="0"/>
                </a:lnTo>
                <a:cubicBezTo>
                  <a:pt x="6986" y="0"/>
                  <a:pt x="6999" y="1"/>
                  <a:pt x="7012" y="4"/>
                </a:cubicBezTo>
                <a:cubicBezTo>
                  <a:pt x="7025" y="6"/>
                  <a:pt x="7037" y="10"/>
                  <a:pt x="7049" y="15"/>
                </a:cubicBezTo>
                <a:cubicBezTo>
                  <a:pt x="7061" y="20"/>
                  <a:pt x="7073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3" y="67"/>
                  <a:pt x="7131" y="77"/>
                  <a:pt x="7138" y="88"/>
                </a:cubicBezTo>
                <a:cubicBezTo>
                  <a:pt x="7145" y="99"/>
                  <a:pt x="7152" y="110"/>
                  <a:pt x="7156" y="123"/>
                </a:cubicBezTo>
                <a:cubicBezTo>
                  <a:pt x="7161" y="135"/>
                  <a:pt x="7165" y="147"/>
                  <a:pt x="7168" y="160"/>
                </a:cubicBezTo>
                <a:cubicBezTo>
                  <a:pt x="7170" y="173"/>
                  <a:pt x="7172" y="185"/>
                  <a:pt x="7172" y="198"/>
                </a:cubicBezTo>
                <a:lnTo>
                  <a:pt x="7172" y="5332"/>
                </a:lnTo>
                <a:cubicBezTo>
                  <a:pt x="7172" y="5345"/>
                  <a:pt x="7170" y="5358"/>
                  <a:pt x="7168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2" y="5420"/>
                  <a:pt x="7145" y="5432"/>
                  <a:pt x="7138" y="5443"/>
                </a:cubicBezTo>
                <a:cubicBezTo>
                  <a:pt x="7131" y="5453"/>
                  <a:pt x="7123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3" y="5505"/>
                  <a:pt x="7061" y="5511"/>
                  <a:pt x="7049" y="5516"/>
                </a:cubicBezTo>
                <a:cubicBezTo>
                  <a:pt x="7037" y="5521"/>
                  <a:pt x="7025" y="5524"/>
                  <a:pt x="7012" y="5527"/>
                </a:cubicBezTo>
                <a:cubicBezTo>
                  <a:pt x="6999" y="5530"/>
                  <a:pt x="6986" y="5531"/>
                  <a:pt x="6973" y="5531"/>
                </a:cubicBezTo>
                <a:lnTo>
                  <a:pt x="199" y="5531"/>
                </a:lnTo>
                <a:cubicBezTo>
                  <a:pt x="186" y="5531"/>
                  <a:pt x="173" y="5530"/>
                  <a:pt x="160" y="5527"/>
                </a:cubicBezTo>
                <a:cubicBezTo>
                  <a:pt x="147" y="5524"/>
                  <a:pt x="135" y="5521"/>
                  <a:pt x="123" y="5516"/>
                </a:cubicBezTo>
                <a:cubicBezTo>
                  <a:pt x="111" y="5511"/>
                  <a:pt x="99" y="5505"/>
                  <a:pt x="89" y="5497"/>
                </a:cubicBezTo>
                <a:cubicBezTo>
                  <a:pt x="78" y="5490"/>
                  <a:pt x="68" y="5482"/>
                  <a:pt x="59" y="5473"/>
                </a:cubicBezTo>
                <a:cubicBezTo>
                  <a:pt x="49" y="5463"/>
                  <a:pt x="41" y="5453"/>
                  <a:pt x="34" y="5443"/>
                </a:cubicBezTo>
                <a:cubicBezTo>
                  <a:pt x="27" y="5432"/>
                  <a:pt x="20" y="5420"/>
                  <a:pt x="15" y="5408"/>
                </a:cubicBezTo>
                <a:cubicBezTo>
                  <a:pt x="11" y="5396"/>
                  <a:pt x="7" y="5384"/>
                  <a:pt x="4" y="5371"/>
                </a:cubicBezTo>
                <a:cubicBezTo>
                  <a:pt x="2" y="5358"/>
                  <a:pt x="0" y="5345"/>
                  <a:pt x="0" y="533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591000" y="4086000"/>
            <a:ext cx="1010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copper, nickel.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486480" y="2830680"/>
            <a:ext cx="19004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Digital Transformation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486480" y="3257280"/>
            <a:ext cx="1659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'YulianTong' &amp; 'Zhiyun'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486480" y="3533400"/>
            <a:ext cx="1398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platforms enhancing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9148680" y="2566800"/>
            <a:ext cx="2581560" cy="1991160"/>
          </a:xfrm>
          <a:custGeom>
            <a:avLst/>
            <a:gdLst/>
            <a:ahLst/>
            <a:rect l="0" t="0" r="r" b="b"/>
            <a:pathLst>
              <a:path w="7171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6972" y="0"/>
                </a:lnTo>
                <a:cubicBezTo>
                  <a:pt x="6986" y="0"/>
                  <a:pt x="6998" y="1"/>
                  <a:pt x="7011" y="4"/>
                </a:cubicBezTo>
                <a:cubicBezTo>
                  <a:pt x="7024" y="6"/>
                  <a:pt x="7036" y="10"/>
                  <a:pt x="7048" y="15"/>
                </a:cubicBezTo>
                <a:cubicBezTo>
                  <a:pt x="7060" y="20"/>
                  <a:pt x="7072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2" y="67"/>
                  <a:pt x="7130" y="77"/>
                  <a:pt x="7137" y="88"/>
                </a:cubicBezTo>
                <a:cubicBezTo>
                  <a:pt x="7145" y="99"/>
                  <a:pt x="7151" y="110"/>
                  <a:pt x="7156" y="123"/>
                </a:cubicBezTo>
                <a:cubicBezTo>
                  <a:pt x="7161" y="135"/>
                  <a:pt x="7165" y="147"/>
                  <a:pt x="7167" y="160"/>
                </a:cubicBezTo>
                <a:cubicBezTo>
                  <a:pt x="7170" y="173"/>
                  <a:pt x="7171" y="185"/>
                  <a:pt x="7171" y="198"/>
                </a:cubicBezTo>
                <a:lnTo>
                  <a:pt x="7171" y="5332"/>
                </a:lnTo>
                <a:cubicBezTo>
                  <a:pt x="7171" y="5345"/>
                  <a:pt x="7170" y="5358"/>
                  <a:pt x="7167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1" y="5420"/>
                  <a:pt x="7145" y="5432"/>
                  <a:pt x="7137" y="5443"/>
                </a:cubicBezTo>
                <a:cubicBezTo>
                  <a:pt x="7130" y="5453"/>
                  <a:pt x="7122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2" y="5505"/>
                  <a:pt x="7060" y="5511"/>
                  <a:pt x="7048" y="5516"/>
                </a:cubicBezTo>
                <a:cubicBezTo>
                  <a:pt x="7036" y="5521"/>
                  <a:pt x="7024" y="5524"/>
                  <a:pt x="7011" y="5527"/>
                </a:cubicBezTo>
                <a:cubicBezTo>
                  <a:pt x="6998" y="5530"/>
                  <a:pt x="6986" y="5531"/>
                  <a:pt x="6972" y="5531"/>
                </a:cubicBezTo>
                <a:lnTo>
                  <a:pt x="198" y="5531"/>
                </a:lnTo>
                <a:cubicBezTo>
                  <a:pt x="185" y="5531"/>
                  <a:pt x="172" y="5530"/>
                  <a:pt x="159" y="5527"/>
                </a:cubicBezTo>
                <a:cubicBezTo>
                  <a:pt x="147" y="5524"/>
                  <a:pt x="134" y="5521"/>
                  <a:pt x="122" y="5516"/>
                </a:cubicBezTo>
                <a:cubicBezTo>
                  <a:pt x="110" y="5511"/>
                  <a:pt x="99" y="5505"/>
                  <a:pt x="88" y="5497"/>
                </a:cubicBezTo>
                <a:cubicBezTo>
                  <a:pt x="77" y="5490"/>
                  <a:pt x="67" y="5482"/>
                  <a:pt x="58" y="5473"/>
                </a:cubicBezTo>
                <a:cubicBezTo>
                  <a:pt x="49" y="5463"/>
                  <a:pt x="40" y="5453"/>
                  <a:pt x="33" y="5443"/>
                </a:cubicBezTo>
                <a:cubicBezTo>
                  <a:pt x="26" y="5432"/>
                  <a:pt x="20" y="5420"/>
                  <a:pt x="15" y="5408"/>
                </a:cubicBezTo>
                <a:cubicBezTo>
                  <a:pt x="10" y="5396"/>
                  <a:pt x="6" y="5384"/>
                  <a:pt x="4" y="5371"/>
                </a:cubicBezTo>
                <a:cubicBezTo>
                  <a:pt x="1" y="5358"/>
                  <a:pt x="0" y="5345"/>
                  <a:pt x="0" y="5332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9148680" y="2566800"/>
            <a:ext cx="2581560" cy="1991160"/>
          </a:xfrm>
          <a:custGeom>
            <a:avLst/>
            <a:gdLst/>
            <a:ahLst/>
            <a:rect l="0" t="0" r="r" b="b"/>
            <a:pathLst>
              <a:path fill="none" w="7171" h="5531">
                <a:moveTo>
                  <a:pt x="0" y="533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6972" y="0"/>
                </a:lnTo>
                <a:cubicBezTo>
                  <a:pt x="6986" y="0"/>
                  <a:pt x="6998" y="1"/>
                  <a:pt x="7011" y="4"/>
                </a:cubicBezTo>
                <a:cubicBezTo>
                  <a:pt x="7024" y="6"/>
                  <a:pt x="7036" y="10"/>
                  <a:pt x="7048" y="15"/>
                </a:cubicBezTo>
                <a:cubicBezTo>
                  <a:pt x="7060" y="20"/>
                  <a:pt x="7072" y="26"/>
                  <a:pt x="7083" y="33"/>
                </a:cubicBezTo>
                <a:cubicBezTo>
                  <a:pt x="7094" y="41"/>
                  <a:pt x="7104" y="49"/>
                  <a:pt x="7113" y="58"/>
                </a:cubicBezTo>
                <a:cubicBezTo>
                  <a:pt x="7122" y="67"/>
                  <a:pt x="7130" y="77"/>
                  <a:pt x="7137" y="88"/>
                </a:cubicBezTo>
                <a:cubicBezTo>
                  <a:pt x="7145" y="99"/>
                  <a:pt x="7151" y="110"/>
                  <a:pt x="7156" y="123"/>
                </a:cubicBezTo>
                <a:cubicBezTo>
                  <a:pt x="7161" y="135"/>
                  <a:pt x="7165" y="147"/>
                  <a:pt x="7167" y="160"/>
                </a:cubicBezTo>
                <a:cubicBezTo>
                  <a:pt x="7170" y="173"/>
                  <a:pt x="7171" y="185"/>
                  <a:pt x="7171" y="198"/>
                </a:cubicBezTo>
                <a:lnTo>
                  <a:pt x="7171" y="5332"/>
                </a:lnTo>
                <a:cubicBezTo>
                  <a:pt x="7171" y="5345"/>
                  <a:pt x="7170" y="5358"/>
                  <a:pt x="7167" y="5371"/>
                </a:cubicBezTo>
                <a:cubicBezTo>
                  <a:pt x="7165" y="5384"/>
                  <a:pt x="7161" y="5396"/>
                  <a:pt x="7156" y="5408"/>
                </a:cubicBezTo>
                <a:cubicBezTo>
                  <a:pt x="7151" y="5420"/>
                  <a:pt x="7145" y="5432"/>
                  <a:pt x="7137" y="5443"/>
                </a:cubicBezTo>
                <a:cubicBezTo>
                  <a:pt x="7130" y="5453"/>
                  <a:pt x="7122" y="5463"/>
                  <a:pt x="7113" y="5473"/>
                </a:cubicBezTo>
                <a:cubicBezTo>
                  <a:pt x="7104" y="5482"/>
                  <a:pt x="7094" y="5490"/>
                  <a:pt x="7083" y="5497"/>
                </a:cubicBezTo>
                <a:cubicBezTo>
                  <a:pt x="7072" y="5505"/>
                  <a:pt x="7060" y="5511"/>
                  <a:pt x="7048" y="5516"/>
                </a:cubicBezTo>
                <a:cubicBezTo>
                  <a:pt x="7036" y="5521"/>
                  <a:pt x="7024" y="5524"/>
                  <a:pt x="7011" y="5527"/>
                </a:cubicBezTo>
                <a:cubicBezTo>
                  <a:pt x="6998" y="5530"/>
                  <a:pt x="6986" y="5531"/>
                  <a:pt x="6972" y="5531"/>
                </a:cubicBezTo>
                <a:lnTo>
                  <a:pt x="198" y="5531"/>
                </a:lnTo>
                <a:cubicBezTo>
                  <a:pt x="185" y="5531"/>
                  <a:pt x="172" y="5530"/>
                  <a:pt x="159" y="5527"/>
                </a:cubicBezTo>
                <a:cubicBezTo>
                  <a:pt x="147" y="5524"/>
                  <a:pt x="134" y="5521"/>
                  <a:pt x="122" y="5516"/>
                </a:cubicBezTo>
                <a:cubicBezTo>
                  <a:pt x="110" y="5511"/>
                  <a:pt x="99" y="5505"/>
                  <a:pt x="88" y="5497"/>
                </a:cubicBezTo>
                <a:cubicBezTo>
                  <a:pt x="77" y="5490"/>
                  <a:pt x="67" y="5482"/>
                  <a:pt x="58" y="5473"/>
                </a:cubicBezTo>
                <a:cubicBezTo>
                  <a:pt x="49" y="5463"/>
                  <a:pt x="40" y="5453"/>
                  <a:pt x="33" y="5443"/>
                </a:cubicBezTo>
                <a:cubicBezTo>
                  <a:pt x="26" y="5432"/>
                  <a:pt x="20" y="5420"/>
                  <a:pt x="15" y="5408"/>
                </a:cubicBezTo>
                <a:cubicBezTo>
                  <a:pt x="10" y="5396"/>
                  <a:pt x="6" y="5384"/>
                  <a:pt x="4" y="5371"/>
                </a:cubicBezTo>
                <a:cubicBezTo>
                  <a:pt x="1" y="5358"/>
                  <a:pt x="0" y="5345"/>
                  <a:pt x="0" y="5332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486480" y="3819240"/>
            <a:ext cx="1536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operational efficiency.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381960" y="2830680"/>
            <a:ext cx="20646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Strong Financial Position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381960" y="3257280"/>
            <a:ext cx="1953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Robust cash flow, optimized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9381960" y="3533400"/>
            <a:ext cx="1986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capital structure, investment-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9381960" y="3819240"/>
            <a:ext cx="853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grade credit.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968680" y="62247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80880" y="289512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55480" y="2856960"/>
            <a:ext cx="5127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Market Size: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China's Bulk Commodity Supply Chain Market exceeded 50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55480" y="3142800"/>
            <a:ext cx="2541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trillion yuan in 2024, CR5 only 5.3%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80880" y="368568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55480" y="3647880"/>
            <a:ext cx="5291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Competitive Dynamics: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Key players include Mitsubishi Corporation, Mitsui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55480" y="3924000"/>
            <a:ext cx="2835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&amp; Co., and domestic peers like Sinochem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80880" y="446688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55480" y="4428720"/>
            <a:ext cx="5158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Industry Trends: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Digitalization (AI-driven logistics), Green Supply Chain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55480" y="4714560"/>
            <a:ext cx="4574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(low-carbon operations), Internationalization (BRI, ASEAN focus)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6286320" y="1714320"/>
            <a:ext cx="5524200" cy="47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380880" y="799920"/>
            <a:ext cx="457560" cy="38520"/>
          </a:xfrm>
          <a:custGeom>
            <a:avLst/>
            <a:gdLst/>
            <a:ahLst/>
            <a:rect l="0" t="0" r="r" b="b"/>
            <a:pathLst>
              <a:path w="1271" h="107">
                <a:moveTo>
                  <a:pt x="0" y="0"/>
                </a:moveTo>
                <a:lnTo>
                  <a:pt x="1271" y="0"/>
                </a:lnTo>
                <a:lnTo>
                  <a:pt x="12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687360" y="1325520"/>
            <a:ext cx="4726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2024 Bulk Commodity Supply Chain Market Share (CR5)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80880" y="393120"/>
            <a:ext cx="38538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2. Industry Landscape Analysis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9197280" y="64533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286320" y="2057040"/>
            <a:ext cx="762480" cy="57600"/>
          </a:xfrm>
          <a:custGeom>
            <a:avLst/>
            <a:gdLst/>
            <a:ahLst/>
            <a:rect l="0" t="0" r="r" b="b"/>
            <a:pathLst>
              <a:path w="2118" h="160">
                <a:moveTo>
                  <a:pt x="0" y="0"/>
                </a:moveTo>
                <a:lnTo>
                  <a:pt x="2118" y="0"/>
                </a:lnTo>
                <a:lnTo>
                  <a:pt x="2118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286320" y="1523160"/>
            <a:ext cx="2791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3.1 Business Model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286320" y="249516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460920" y="2457000"/>
            <a:ext cx="5197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Integrated Supply Chain Services: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Combines trading, logistics, financing,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460920" y="2733480"/>
            <a:ext cx="1688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and information services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286320" y="328572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460920" y="3247560"/>
            <a:ext cx="4902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Digital Platforms: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'YulianTong' (SCM), 'Zhiyun' (intelligent logistics),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460920" y="3524040"/>
            <a:ext cx="1621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'Yushurong' (financing)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286320" y="406692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460920" y="4028760"/>
            <a:ext cx="4692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Customer-Centric Approach: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Tailored services for manufacturing,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460920" y="4304880"/>
            <a:ext cx="22330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construction, agricultural sectors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6286320" y="485748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460920" y="4819320"/>
            <a:ext cx="4891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Profit Drivers: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Spread income, service fees, value-added services (risk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 rot="21480000">
            <a:off x="380880" y="1285560"/>
            <a:ext cx="533376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"/>
          <p:cNvSpPr/>
          <p:nvPr/>
        </p:nvSpPr>
        <p:spPr>
          <a:xfrm>
            <a:off x="9143640" y="5143320"/>
            <a:ext cx="3048480" cy="1714680"/>
          </a:xfrm>
          <a:custGeom>
            <a:avLst/>
            <a:gdLst/>
            <a:ahLst/>
            <a:rect l="0" t="0" r="r" b="b"/>
            <a:pathLst>
              <a:path w="8468" h="4763">
                <a:moveTo>
                  <a:pt x="8362" y="0"/>
                </a:moveTo>
                <a:lnTo>
                  <a:pt x="8468" y="0"/>
                </a:lnTo>
                <a:lnTo>
                  <a:pt x="8468" y="4763"/>
                </a:lnTo>
                <a:lnTo>
                  <a:pt x="8362" y="4763"/>
                </a:lnTo>
                <a:lnTo>
                  <a:pt x="8362" y="0"/>
                </a:lnTo>
                <a:moveTo>
                  <a:pt x="0" y="4658"/>
                </a:moveTo>
                <a:lnTo>
                  <a:pt x="8468" y="4658"/>
                </a:lnTo>
                <a:lnTo>
                  <a:pt x="8468" y="4763"/>
                </a:lnTo>
                <a:lnTo>
                  <a:pt x="0" y="4763"/>
                </a:lnTo>
                <a:lnTo>
                  <a:pt x="0" y="4658"/>
                </a:lnTo>
                <a:close/>
              </a:path>
            </a:pathLst>
          </a:custGeom>
          <a:solidFill>
            <a:srgbClr val="003366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460920" y="5095440"/>
            <a:ext cx="2327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management, market intelligence)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76320" cy="6858000"/>
          </a:xfrm>
          <a:custGeom>
            <a:avLst/>
            <a:gdLst/>
            <a:ahLst/>
            <a:rect l="0" t="0" r="r" b="b"/>
            <a:pathLst>
              <a:path w="212" h="19050">
                <a:moveTo>
                  <a:pt x="0" y="0"/>
                </a:moveTo>
                <a:lnTo>
                  <a:pt x="212" y="0"/>
                </a:lnTo>
                <a:lnTo>
                  <a:pt x="212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33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197280" y="64533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456840" y="876240"/>
            <a:ext cx="457560" cy="38160"/>
          </a:xfrm>
          <a:custGeom>
            <a:avLst/>
            <a:gdLst/>
            <a:ahLst/>
            <a:rect l="0" t="0" r="r" b="b"/>
            <a:pathLst>
              <a:path w="1271" h="106">
                <a:moveTo>
                  <a:pt x="0" y="0"/>
                </a:moveTo>
                <a:lnTo>
                  <a:pt x="1271" y="0"/>
                </a:lnTo>
                <a:lnTo>
                  <a:pt x="127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57200" y="469440"/>
            <a:ext cx="572256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3.2 Revenue Breakdown &amp; Key Segments 2024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43680" y="1173240"/>
            <a:ext cx="50655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2024 Revenue Breakdown by Business Segment (Billion Yuan)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324480" y="266652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542640" y="2628360"/>
            <a:ext cx="4885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Commodity Sales: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92.57b yuan (+36.30% YoY), Gross Margin 0.69%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324480" y="320940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542640" y="3171600"/>
            <a:ext cx="5103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Market Operations: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45.78b yuan (+48.92% YoY), Gross Margin 84.27%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6324480" y="375264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542640" y="3714480"/>
            <a:ext cx="46954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Trade Services: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7.39b yuan (+22.64% YoY), Gross Margin 84.58%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324480" y="429552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●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542640" y="4257360"/>
            <a:ext cx="4950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Supporting Services: 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4.48b yuan (-3.91% YoY), Gross Margin 20.10%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457200" y="1562040"/>
            <a:ext cx="5409720" cy="441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"/>
          <p:cNvSpPr txBox="1"/>
          <p:nvPr/>
        </p:nvSpPr>
        <p:spPr>
          <a:xfrm>
            <a:off x="8968680" y="62247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80880" y="250488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55480" y="2466720"/>
            <a:ext cx="4842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Digital Upgrade: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AI application to cover 30,000+ merchants by 2025,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55480" y="2742840"/>
            <a:ext cx="3399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'Digital Brain' project (operational by April 2026)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380880" y="329544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555480" y="3257280"/>
            <a:ext cx="5326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International Expansion: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23 new overseas projects in 2024, targeting 20+ in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55480" y="3533400"/>
            <a:ext cx="4134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2025; Focus on Southeast Asia, Central Asia, Latin America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380880" y="407628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55480" y="4038120"/>
            <a:ext cx="5087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Green Supply Chain: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Promote new energy logistics vehicles, low-carbon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55480" y="4314600"/>
            <a:ext cx="711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operations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80880" y="486684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55480" y="4828680"/>
            <a:ext cx="4959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Strategic Partnerships: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Collaborate with global miners, manufacturers,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6291000" y="1985760"/>
            <a:ext cx="5515560" cy="3800880"/>
          </a:xfrm>
          <a:custGeom>
            <a:avLst/>
            <a:gdLst/>
            <a:ahLst/>
            <a:rect l="0" t="0" r="r" b="b"/>
            <a:pathLst>
              <a:path fill="none" w="15321" h="10558">
                <a:moveTo>
                  <a:pt x="0" y="10359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7" y="147"/>
                  <a:pt x="10" y="135"/>
                  <a:pt x="15" y="123"/>
                </a:cubicBezTo>
                <a:cubicBezTo>
                  <a:pt x="20" y="111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1"/>
                  <a:pt x="88" y="34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5122" y="0"/>
                </a:lnTo>
                <a:cubicBezTo>
                  <a:pt x="15135" y="0"/>
                  <a:pt x="15148" y="1"/>
                  <a:pt x="15161" y="4"/>
                </a:cubicBezTo>
                <a:cubicBezTo>
                  <a:pt x="15174" y="6"/>
                  <a:pt x="15186" y="10"/>
                  <a:pt x="15198" y="15"/>
                </a:cubicBezTo>
                <a:cubicBezTo>
                  <a:pt x="15210" y="20"/>
                  <a:pt x="15222" y="26"/>
                  <a:pt x="15232" y="34"/>
                </a:cubicBezTo>
                <a:cubicBezTo>
                  <a:pt x="15243" y="41"/>
                  <a:pt x="15253" y="49"/>
                  <a:pt x="15262" y="58"/>
                </a:cubicBezTo>
                <a:cubicBezTo>
                  <a:pt x="15272" y="67"/>
                  <a:pt x="15280" y="77"/>
                  <a:pt x="15287" y="88"/>
                </a:cubicBezTo>
                <a:cubicBezTo>
                  <a:pt x="15294" y="99"/>
                  <a:pt x="15301" y="111"/>
                  <a:pt x="15305" y="123"/>
                </a:cubicBezTo>
                <a:cubicBezTo>
                  <a:pt x="15310" y="135"/>
                  <a:pt x="15314" y="147"/>
                  <a:pt x="15317" y="160"/>
                </a:cubicBezTo>
                <a:cubicBezTo>
                  <a:pt x="15319" y="173"/>
                  <a:pt x="15321" y="185"/>
                  <a:pt x="15321" y="198"/>
                </a:cubicBezTo>
                <a:lnTo>
                  <a:pt x="15321" y="10359"/>
                </a:lnTo>
                <a:cubicBezTo>
                  <a:pt x="15321" y="10373"/>
                  <a:pt x="15319" y="10385"/>
                  <a:pt x="15317" y="10398"/>
                </a:cubicBezTo>
                <a:cubicBezTo>
                  <a:pt x="15314" y="10411"/>
                  <a:pt x="15310" y="10423"/>
                  <a:pt x="15305" y="10435"/>
                </a:cubicBezTo>
                <a:cubicBezTo>
                  <a:pt x="15301" y="10447"/>
                  <a:pt x="15294" y="10459"/>
                  <a:pt x="15287" y="10470"/>
                </a:cubicBezTo>
                <a:cubicBezTo>
                  <a:pt x="15280" y="10481"/>
                  <a:pt x="15272" y="10491"/>
                  <a:pt x="15262" y="10500"/>
                </a:cubicBezTo>
                <a:cubicBezTo>
                  <a:pt x="15253" y="10509"/>
                  <a:pt x="15243" y="10517"/>
                  <a:pt x="15232" y="10524"/>
                </a:cubicBezTo>
                <a:cubicBezTo>
                  <a:pt x="15222" y="10532"/>
                  <a:pt x="15210" y="10538"/>
                  <a:pt x="15198" y="10543"/>
                </a:cubicBezTo>
                <a:cubicBezTo>
                  <a:pt x="15186" y="10548"/>
                  <a:pt x="15174" y="10552"/>
                  <a:pt x="15161" y="10554"/>
                </a:cubicBezTo>
                <a:cubicBezTo>
                  <a:pt x="15148" y="10557"/>
                  <a:pt x="15135" y="10558"/>
                  <a:pt x="15122" y="10558"/>
                </a:cubicBezTo>
                <a:lnTo>
                  <a:pt x="199" y="10558"/>
                </a:lnTo>
                <a:cubicBezTo>
                  <a:pt x="186" y="10558"/>
                  <a:pt x="173" y="10557"/>
                  <a:pt x="160" y="10554"/>
                </a:cubicBezTo>
                <a:cubicBezTo>
                  <a:pt x="147" y="10552"/>
                  <a:pt x="135" y="10548"/>
                  <a:pt x="123" y="10543"/>
                </a:cubicBezTo>
                <a:cubicBezTo>
                  <a:pt x="111" y="10538"/>
                  <a:pt x="99" y="10532"/>
                  <a:pt x="88" y="10524"/>
                </a:cubicBezTo>
                <a:cubicBezTo>
                  <a:pt x="78" y="10517"/>
                  <a:pt x="68" y="10509"/>
                  <a:pt x="58" y="10500"/>
                </a:cubicBezTo>
                <a:cubicBezTo>
                  <a:pt x="49" y="10491"/>
                  <a:pt x="41" y="10481"/>
                  <a:pt x="34" y="10470"/>
                </a:cubicBezTo>
                <a:cubicBezTo>
                  <a:pt x="26" y="10459"/>
                  <a:pt x="20" y="10447"/>
                  <a:pt x="15" y="10435"/>
                </a:cubicBezTo>
                <a:cubicBezTo>
                  <a:pt x="10" y="10423"/>
                  <a:pt x="7" y="10411"/>
                  <a:pt x="4" y="10398"/>
                </a:cubicBezTo>
                <a:cubicBezTo>
                  <a:pt x="1" y="10385"/>
                  <a:pt x="0" y="10373"/>
                  <a:pt x="0" y="10359"/>
                </a:cubicBezTo>
              </a:path>
            </a:pathLst>
          </a:custGeom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6293160" y="1990800"/>
            <a:ext cx="5510520" cy="37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"/>
          <p:cNvSpPr/>
          <p:nvPr/>
        </p:nvSpPr>
        <p:spPr>
          <a:xfrm>
            <a:off x="380880" y="799920"/>
            <a:ext cx="457560" cy="38520"/>
          </a:xfrm>
          <a:custGeom>
            <a:avLst/>
            <a:gdLst/>
            <a:ahLst/>
            <a:rect l="0" t="0" r="r" b="b"/>
            <a:pathLst>
              <a:path w="1271" h="107">
                <a:moveTo>
                  <a:pt x="0" y="0"/>
                </a:moveTo>
                <a:lnTo>
                  <a:pt x="1271" y="0"/>
                </a:lnTo>
                <a:lnTo>
                  <a:pt x="12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55480" y="5105160"/>
            <a:ext cx="1399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financial institutions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80880" y="393120"/>
            <a:ext cx="29689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3.3 Operating Strategies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9197280" y="64533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380880" y="276192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55480" y="2723760"/>
            <a:ext cx="4448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Business Segment Breakdown: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Bulk Commodity Supply Chain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55480" y="2999880"/>
            <a:ext cx="4787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(metals/minerals/agricultural products/energy/chemicals/new energy);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55480" y="3276360"/>
            <a:ext cx="1598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Shipbuilding; Logistics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380880" y="381924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55480" y="3781080"/>
            <a:ext cx="5343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Latest Developments: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23 new overseas projects in 2024, 'YulianTong' digital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55480" y="4066920"/>
            <a:ext cx="4263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platform, new energy supply chain lithium ore volume +160%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80880" y="460980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350" strike="noStrike" u="none" i="0">
                <a:solidFill>
                  <a:srgbClr val="e63946"/>
                </a:solidFill>
                <a:effectLst/>
                <a:uFillTx/>
                <a:latin typeface="Noto Sans SC"/>
                <a:ea typeface="Noto Sans SC"/>
              </a:rPr>
              <a:t>•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55480" y="4571640"/>
            <a:ext cx="4911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Market Performance:</a:t>
            </a:r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 2024 revenue 366.7 billion yuan, net profit 1.42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095880" y="914040"/>
            <a:ext cx="6096240" cy="5943960"/>
          </a:xfrm>
          <a:custGeom>
            <a:avLst/>
            <a:gdLst/>
            <a:ahLst/>
            <a:rect l="0" t="0" r="r" b="b"/>
            <a:pathLst>
              <a:path w="16934" h="16511">
                <a:moveTo>
                  <a:pt x="0" y="0"/>
                </a:moveTo>
                <a:lnTo>
                  <a:pt x="16934" y="0"/>
                </a:lnTo>
                <a:lnTo>
                  <a:pt x="16934" y="16511"/>
                </a:lnTo>
                <a:lnTo>
                  <a:pt x="0" y="1651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8134200" y="2971440"/>
            <a:ext cx="1829160" cy="1829160"/>
          </a:xfrm>
          <a:custGeom>
            <a:avLst/>
            <a:gdLst/>
            <a:ahLst/>
            <a:rect l="0" t="0" r="r" b="b"/>
            <a:pathLst>
              <a:path w="5081" h="5081">
                <a:moveTo>
                  <a:pt x="5081" y="2540"/>
                </a:moveTo>
                <a:cubicBezTo>
                  <a:pt x="5081" y="2582"/>
                  <a:pt x="5080" y="2624"/>
                  <a:pt x="5078" y="2665"/>
                </a:cubicBezTo>
                <a:cubicBezTo>
                  <a:pt x="5076" y="2707"/>
                  <a:pt x="5073" y="2748"/>
                  <a:pt x="5069" y="2789"/>
                </a:cubicBezTo>
                <a:cubicBezTo>
                  <a:pt x="5065" y="2831"/>
                  <a:pt x="5060" y="2872"/>
                  <a:pt x="5053" y="2913"/>
                </a:cubicBezTo>
                <a:cubicBezTo>
                  <a:pt x="5047" y="2954"/>
                  <a:pt x="5040" y="2995"/>
                  <a:pt x="5032" y="3036"/>
                </a:cubicBezTo>
                <a:cubicBezTo>
                  <a:pt x="5024" y="3077"/>
                  <a:pt x="5015" y="3117"/>
                  <a:pt x="5005" y="3158"/>
                </a:cubicBezTo>
                <a:cubicBezTo>
                  <a:pt x="4995" y="3198"/>
                  <a:pt x="4984" y="3238"/>
                  <a:pt x="4972" y="3278"/>
                </a:cubicBezTo>
                <a:cubicBezTo>
                  <a:pt x="4959" y="3318"/>
                  <a:pt x="4946" y="3357"/>
                  <a:pt x="4932" y="3396"/>
                </a:cubicBezTo>
                <a:cubicBezTo>
                  <a:pt x="4918" y="3435"/>
                  <a:pt x="4903" y="3474"/>
                  <a:pt x="4888" y="3513"/>
                </a:cubicBezTo>
                <a:cubicBezTo>
                  <a:pt x="4872" y="3551"/>
                  <a:pt x="4855" y="3589"/>
                  <a:pt x="4837" y="3626"/>
                </a:cubicBezTo>
                <a:cubicBezTo>
                  <a:pt x="4819" y="3664"/>
                  <a:pt x="4801" y="3701"/>
                  <a:pt x="4781" y="3738"/>
                </a:cubicBezTo>
                <a:cubicBezTo>
                  <a:pt x="4761" y="3775"/>
                  <a:pt x="4741" y="3811"/>
                  <a:pt x="4720" y="3846"/>
                </a:cubicBezTo>
                <a:cubicBezTo>
                  <a:pt x="4698" y="3882"/>
                  <a:pt x="4676" y="3917"/>
                  <a:pt x="4653" y="3952"/>
                </a:cubicBezTo>
                <a:cubicBezTo>
                  <a:pt x="4630" y="3986"/>
                  <a:pt x="4606" y="4020"/>
                  <a:pt x="4581" y="4054"/>
                </a:cubicBezTo>
                <a:cubicBezTo>
                  <a:pt x="4556" y="4087"/>
                  <a:pt x="4531" y="4120"/>
                  <a:pt x="4504" y="4152"/>
                </a:cubicBezTo>
                <a:cubicBezTo>
                  <a:pt x="4478" y="4184"/>
                  <a:pt x="4451" y="4215"/>
                  <a:pt x="4423" y="4246"/>
                </a:cubicBezTo>
                <a:cubicBezTo>
                  <a:pt x="4395" y="4277"/>
                  <a:pt x="4366" y="4307"/>
                  <a:pt x="4337" y="4337"/>
                </a:cubicBezTo>
                <a:cubicBezTo>
                  <a:pt x="4308" y="4366"/>
                  <a:pt x="4277" y="4395"/>
                  <a:pt x="4247" y="4423"/>
                </a:cubicBezTo>
                <a:cubicBezTo>
                  <a:pt x="4216" y="4451"/>
                  <a:pt x="4184" y="4479"/>
                  <a:pt x="4152" y="4505"/>
                </a:cubicBezTo>
                <a:cubicBezTo>
                  <a:pt x="4120" y="4531"/>
                  <a:pt x="4087" y="4557"/>
                  <a:pt x="4054" y="4582"/>
                </a:cubicBezTo>
                <a:cubicBezTo>
                  <a:pt x="4021" y="4606"/>
                  <a:pt x="3987" y="4630"/>
                  <a:pt x="3952" y="4653"/>
                </a:cubicBezTo>
                <a:cubicBezTo>
                  <a:pt x="3917" y="4677"/>
                  <a:pt x="3882" y="4699"/>
                  <a:pt x="3847" y="4720"/>
                </a:cubicBezTo>
                <a:cubicBezTo>
                  <a:pt x="3811" y="4742"/>
                  <a:pt x="3775" y="4762"/>
                  <a:pt x="3738" y="4782"/>
                </a:cubicBezTo>
                <a:cubicBezTo>
                  <a:pt x="3702" y="4801"/>
                  <a:pt x="3664" y="4820"/>
                  <a:pt x="3627" y="4838"/>
                </a:cubicBezTo>
                <a:cubicBezTo>
                  <a:pt x="3589" y="4855"/>
                  <a:pt x="3551" y="4872"/>
                  <a:pt x="3513" y="4888"/>
                </a:cubicBezTo>
                <a:cubicBezTo>
                  <a:pt x="3475" y="4904"/>
                  <a:pt x="3436" y="4919"/>
                  <a:pt x="3397" y="4933"/>
                </a:cubicBezTo>
                <a:cubicBezTo>
                  <a:pt x="3357" y="4947"/>
                  <a:pt x="3318" y="4960"/>
                  <a:pt x="3278" y="4972"/>
                </a:cubicBezTo>
                <a:cubicBezTo>
                  <a:pt x="3238" y="4984"/>
                  <a:pt x="3198" y="4995"/>
                  <a:pt x="3158" y="5005"/>
                </a:cubicBezTo>
                <a:cubicBezTo>
                  <a:pt x="3118" y="5015"/>
                  <a:pt x="3077" y="5025"/>
                  <a:pt x="3036" y="5033"/>
                </a:cubicBezTo>
                <a:cubicBezTo>
                  <a:pt x="2996" y="5041"/>
                  <a:pt x="2955" y="5048"/>
                  <a:pt x="2914" y="5054"/>
                </a:cubicBezTo>
                <a:cubicBezTo>
                  <a:pt x="2872" y="5060"/>
                  <a:pt x="2831" y="5065"/>
                  <a:pt x="2790" y="5069"/>
                </a:cubicBezTo>
                <a:cubicBezTo>
                  <a:pt x="2749" y="5073"/>
                  <a:pt x="2707" y="5076"/>
                  <a:pt x="2666" y="5078"/>
                </a:cubicBezTo>
                <a:cubicBezTo>
                  <a:pt x="2624" y="5080"/>
                  <a:pt x="2582" y="5081"/>
                  <a:pt x="2541" y="5081"/>
                </a:cubicBezTo>
                <a:cubicBezTo>
                  <a:pt x="2499" y="5081"/>
                  <a:pt x="2458" y="5080"/>
                  <a:pt x="2416" y="5078"/>
                </a:cubicBezTo>
                <a:cubicBezTo>
                  <a:pt x="2375" y="5076"/>
                  <a:pt x="2333" y="5073"/>
                  <a:pt x="2292" y="5069"/>
                </a:cubicBezTo>
                <a:cubicBezTo>
                  <a:pt x="2251" y="5065"/>
                  <a:pt x="2209" y="5060"/>
                  <a:pt x="2168" y="5054"/>
                </a:cubicBezTo>
                <a:cubicBezTo>
                  <a:pt x="2127" y="5048"/>
                  <a:pt x="2086" y="5041"/>
                  <a:pt x="2045" y="5033"/>
                </a:cubicBezTo>
                <a:cubicBezTo>
                  <a:pt x="2005" y="5025"/>
                  <a:pt x="1964" y="5015"/>
                  <a:pt x="1924" y="5005"/>
                </a:cubicBezTo>
                <a:cubicBezTo>
                  <a:pt x="1883" y="4995"/>
                  <a:pt x="1843" y="4984"/>
                  <a:pt x="1804" y="4972"/>
                </a:cubicBezTo>
                <a:cubicBezTo>
                  <a:pt x="1764" y="4960"/>
                  <a:pt x="1724" y="4947"/>
                  <a:pt x="1685" y="4933"/>
                </a:cubicBezTo>
                <a:cubicBezTo>
                  <a:pt x="1646" y="4919"/>
                  <a:pt x="1607" y="4904"/>
                  <a:pt x="1569" y="4888"/>
                </a:cubicBezTo>
                <a:cubicBezTo>
                  <a:pt x="1530" y="4872"/>
                  <a:pt x="1492" y="4855"/>
                  <a:pt x="1455" y="4838"/>
                </a:cubicBezTo>
                <a:cubicBezTo>
                  <a:pt x="1417" y="4820"/>
                  <a:pt x="1380" y="4801"/>
                  <a:pt x="1344" y="4782"/>
                </a:cubicBezTo>
                <a:cubicBezTo>
                  <a:pt x="1307" y="4762"/>
                  <a:pt x="1271" y="4742"/>
                  <a:pt x="1235" y="4720"/>
                </a:cubicBezTo>
                <a:cubicBezTo>
                  <a:pt x="1199" y="4699"/>
                  <a:pt x="1164" y="4677"/>
                  <a:pt x="1130" y="4653"/>
                </a:cubicBezTo>
                <a:cubicBezTo>
                  <a:pt x="1095" y="4630"/>
                  <a:pt x="1061" y="4606"/>
                  <a:pt x="1028" y="4582"/>
                </a:cubicBezTo>
                <a:cubicBezTo>
                  <a:pt x="994" y="4557"/>
                  <a:pt x="962" y="4531"/>
                  <a:pt x="930" y="4505"/>
                </a:cubicBezTo>
                <a:cubicBezTo>
                  <a:pt x="897" y="4479"/>
                  <a:pt x="866" y="4451"/>
                  <a:pt x="835" y="4423"/>
                </a:cubicBezTo>
                <a:cubicBezTo>
                  <a:pt x="804" y="4395"/>
                  <a:pt x="774" y="4366"/>
                  <a:pt x="745" y="4337"/>
                </a:cubicBezTo>
                <a:cubicBezTo>
                  <a:pt x="715" y="4307"/>
                  <a:pt x="687" y="4277"/>
                  <a:pt x="659" y="4246"/>
                </a:cubicBezTo>
                <a:cubicBezTo>
                  <a:pt x="631" y="4215"/>
                  <a:pt x="604" y="4184"/>
                  <a:pt x="577" y="4152"/>
                </a:cubicBezTo>
                <a:cubicBezTo>
                  <a:pt x="551" y="4120"/>
                  <a:pt x="526" y="4087"/>
                  <a:pt x="501" y="4054"/>
                </a:cubicBezTo>
                <a:cubicBezTo>
                  <a:pt x="476" y="4020"/>
                  <a:pt x="452" y="3986"/>
                  <a:pt x="429" y="3952"/>
                </a:cubicBezTo>
                <a:cubicBezTo>
                  <a:pt x="406" y="3917"/>
                  <a:pt x="384" y="3882"/>
                  <a:pt x="362" y="3846"/>
                </a:cubicBezTo>
                <a:cubicBezTo>
                  <a:pt x="341" y="3811"/>
                  <a:pt x="320" y="3775"/>
                  <a:pt x="301" y="3738"/>
                </a:cubicBezTo>
                <a:cubicBezTo>
                  <a:pt x="281" y="3701"/>
                  <a:pt x="263" y="3664"/>
                  <a:pt x="244" y="3626"/>
                </a:cubicBezTo>
                <a:cubicBezTo>
                  <a:pt x="226" y="3589"/>
                  <a:pt x="209" y="3551"/>
                  <a:pt x="193" y="3513"/>
                </a:cubicBezTo>
                <a:cubicBezTo>
                  <a:pt x="177" y="3474"/>
                  <a:pt x="162" y="3435"/>
                  <a:pt x="148" y="3396"/>
                </a:cubicBezTo>
                <a:cubicBezTo>
                  <a:pt x="134" y="3357"/>
                  <a:pt x="121" y="3318"/>
                  <a:pt x="109" y="3278"/>
                </a:cubicBezTo>
                <a:cubicBezTo>
                  <a:pt x="97" y="3238"/>
                  <a:pt x="86" y="3198"/>
                  <a:pt x="76" y="3158"/>
                </a:cubicBezTo>
                <a:cubicBezTo>
                  <a:pt x="66" y="3117"/>
                  <a:pt x="57" y="3077"/>
                  <a:pt x="49" y="3036"/>
                </a:cubicBezTo>
                <a:cubicBezTo>
                  <a:pt x="41" y="2995"/>
                  <a:pt x="34" y="2954"/>
                  <a:pt x="27" y="2913"/>
                </a:cubicBezTo>
                <a:cubicBezTo>
                  <a:pt x="21" y="2872"/>
                  <a:pt x="16" y="2831"/>
                  <a:pt x="12" y="2789"/>
                </a:cubicBezTo>
                <a:cubicBezTo>
                  <a:pt x="8" y="2748"/>
                  <a:pt x="5" y="2707"/>
                  <a:pt x="3" y="2665"/>
                </a:cubicBezTo>
                <a:cubicBezTo>
                  <a:pt x="1" y="2624"/>
                  <a:pt x="0" y="2582"/>
                  <a:pt x="0" y="2540"/>
                </a:cubicBezTo>
                <a:cubicBezTo>
                  <a:pt x="0" y="2499"/>
                  <a:pt x="1" y="2457"/>
                  <a:pt x="3" y="2416"/>
                </a:cubicBezTo>
                <a:cubicBezTo>
                  <a:pt x="5" y="2374"/>
                  <a:pt x="8" y="2333"/>
                  <a:pt x="12" y="2292"/>
                </a:cubicBezTo>
                <a:cubicBezTo>
                  <a:pt x="16" y="2250"/>
                  <a:pt x="21" y="2209"/>
                  <a:pt x="27" y="2168"/>
                </a:cubicBezTo>
                <a:cubicBezTo>
                  <a:pt x="34" y="2127"/>
                  <a:pt x="41" y="2086"/>
                  <a:pt x="49" y="2045"/>
                </a:cubicBezTo>
                <a:cubicBezTo>
                  <a:pt x="57" y="2004"/>
                  <a:pt x="66" y="1964"/>
                  <a:pt x="76" y="1923"/>
                </a:cubicBezTo>
                <a:cubicBezTo>
                  <a:pt x="86" y="1883"/>
                  <a:pt x="97" y="1843"/>
                  <a:pt x="109" y="1803"/>
                </a:cubicBezTo>
                <a:cubicBezTo>
                  <a:pt x="121" y="1763"/>
                  <a:pt x="134" y="1724"/>
                  <a:pt x="148" y="1685"/>
                </a:cubicBezTo>
                <a:cubicBezTo>
                  <a:pt x="162" y="1646"/>
                  <a:pt x="177" y="1607"/>
                  <a:pt x="193" y="1568"/>
                </a:cubicBezTo>
                <a:cubicBezTo>
                  <a:pt x="209" y="1530"/>
                  <a:pt x="226" y="1492"/>
                  <a:pt x="244" y="1455"/>
                </a:cubicBezTo>
                <a:cubicBezTo>
                  <a:pt x="263" y="1417"/>
                  <a:pt x="281" y="1380"/>
                  <a:pt x="301" y="1343"/>
                </a:cubicBezTo>
                <a:cubicBezTo>
                  <a:pt x="320" y="1306"/>
                  <a:pt x="341" y="1270"/>
                  <a:pt x="362" y="1235"/>
                </a:cubicBezTo>
                <a:cubicBezTo>
                  <a:pt x="384" y="1199"/>
                  <a:pt x="406" y="1164"/>
                  <a:pt x="429" y="1129"/>
                </a:cubicBezTo>
                <a:cubicBezTo>
                  <a:pt x="452" y="1095"/>
                  <a:pt x="476" y="1061"/>
                  <a:pt x="501" y="1027"/>
                </a:cubicBezTo>
                <a:cubicBezTo>
                  <a:pt x="526" y="994"/>
                  <a:pt x="551" y="961"/>
                  <a:pt x="577" y="929"/>
                </a:cubicBezTo>
                <a:cubicBezTo>
                  <a:pt x="604" y="897"/>
                  <a:pt x="631" y="866"/>
                  <a:pt x="659" y="835"/>
                </a:cubicBezTo>
                <a:cubicBezTo>
                  <a:pt x="687" y="804"/>
                  <a:pt x="715" y="774"/>
                  <a:pt x="745" y="744"/>
                </a:cubicBezTo>
                <a:cubicBezTo>
                  <a:pt x="774" y="715"/>
                  <a:pt x="804" y="686"/>
                  <a:pt x="835" y="658"/>
                </a:cubicBezTo>
                <a:cubicBezTo>
                  <a:pt x="866" y="631"/>
                  <a:pt x="897" y="603"/>
                  <a:pt x="930" y="577"/>
                </a:cubicBezTo>
                <a:cubicBezTo>
                  <a:pt x="962" y="551"/>
                  <a:pt x="994" y="525"/>
                  <a:pt x="1028" y="500"/>
                </a:cubicBezTo>
                <a:cubicBezTo>
                  <a:pt x="1061" y="476"/>
                  <a:pt x="1095" y="452"/>
                  <a:pt x="1130" y="429"/>
                </a:cubicBezTo>
                <a:cubicBezTo>
                  <a:pt x="1164" y="405"/>
                  <a:pt x="1199" y="383"/>
                  <a:pt x="1235" y="362"/>
                </a:cubicBezTo>
                <a:cubicBezTo>
                  <a:pt x="1271" y="340"/>
                  <a:pt x="1307" y="320"/>
                  <a:pt x="1344" y="300"/>
                </a:cubicBezTo>
                <a:cubicBezTo>
                  <a:pt x="1380" y="281"/>
                  <a:pt x="1417" y="262"/>
                  <a:pt x="1455" y="244"/>
                </a:cubicBezTo>
                <a:cubicBezTo>
                  <a:pt x="1492" y="227"/>
                  <a:pt x="1530" y="210"/>
                  <a:pt x="1569" y="194"/>
                </a:cubicBezTo>
                <a:cubicBezTo>
                  <a:pt x="1607" y="178"/>
                  <a:pt x="1646" y="163"/>
                  <a:pt x="1685" y="149"/>
                </a:cubicBezTo>
                <a:cubicBezTo>
                  <a:pt x="1724" y="135"/>
                  <a:pt x="1764" y="122"/>
                  <a:pt x="1804" y="110"/>
                </a:cubicBezTo>
                <a:cubicBezTo>
                  <a:pt x="1843" y="98"/>
                  <a:pt x="1883" y="87"/>
                  <a:pt x="1924" y="77"/>
                </a:cubicBezTo>
                <a:cubicBezTo>
                  <a:pt x="1964" y="67"/>
                  <a:pt x="2005" y="57"/>
                  <a:pt x="2045" y="49"/>
                </a:cubicBezTo>
                <a:cubicBezTo>
                  <a:pt x="2086" y="41"/>
                  <a:pt x="2127" y="34"/>
                  <a:pt x="2168" y="28"/>
                </a:cubicBezTo>
                <a:cubicBezTo>
                  <a:pt x="2209" y="22"/>
                  <a:pt x="2251" y="17"/>
                  <a:pt x="2292" y="13"/>
                </a:cubicBezTo>
                <a:cubicBezTo>
                  <a:pt x="2333" y="9"/>
                  <a:pt x="2375" y="6"/>
                  <a:pt x="2416" y="4"/>
                </a:cubicBezTo>
                <a:cubicBezTo>
                  <a:pt x="2458" y="2"/>
                  <a:pt x="2499" y="0"/>
                  <a:pt x="2541" y="0"/>
                </a:cubicBezTo>
                <a:cubicBezTo>
                  <a:pt x="2582" y="0"/>
                  <a:pt x="2624" y="2"/>
                  <a:pt x="2666" y="4"/>
                </a:cubicBezTo>
                <a:cubicBezTo>
                  <a:pt x="2707" y="6"/>
                  <a:pt x="2749" y="9"/>
                  <a:pt x="2790" y="13"/>
                </a:cubicBezTo>
                <a:cubicBezTo>
                  <a:pt x="2831" y="17"/>
                  <a:pt x="2872" y="22"/>
                  <a:pt x="2914" y="28"/>
                </a:cubicBezTo>
                <a:cubicBezTo>
                  <a:pt x="2955" y="34"/>
                  <a:pt x="2996" y="41"/>
                  <a:pt x="3036" y="49"/>
                </a:cubicBezTo>
                <a:cubicBezTo>
                  <a:pt x="3077" y="57"/>
                  <a:pt x="3118" y="67"/>
                  <a:pt x="3158" y="77"/>
                </a:cubicBezTo>
                <a:cubicBezTo>
                  <a:pt x="3198" y="87"/>
                  <a:pt x="3238" y="98"/>
                  <a:pt x="3278" y="110"/>
                </a:cubicBezTo>
                <a:cubicBezTo>
                  <a:pt x="3318" y="122"/>
                  <a:pt x="3357" y="135"/>
                  <a:pt x="3397" y="149"/>
                </a:cubicBezTo>
                <a:cubicBezTo>
                  <a:pt x="3436" y="163"/>
                  <a:pt x="3475" y="178"/>
                  <a:pt x="3513" y="194"/>
                </a:cubicBezTo>
                <a:cubicBezTo>
                  <a:pt x="3551" y="210"/>
                  <a:pt x="3589" y="227"/>
                  <a:pt x="3627" y="244"/>
                </a:cubicBezTo>
                <a:cubicBezTo>
                  <a:pt x="3664" y="262"/>
                  <a:pt x="3702" y="281"/>
                  <a:pt x="3738" y="300"/>
                </a:cubicBezTo>
                <a:cubicBezTo>
                  <a:pt x="3775" y="320"/>
                  <a:pt x="3811" y="340"/>
                  <a:pt x="3847" y="362"/>
                </a:cubicBezTo>
                <a:cubicBezTo>
                  <a:pt x="3882" y="383"/>
                  <a:pt x="3917" y="405"/>
                  <a:pt x="3952" y="429"/>
                </a:cubicBezTo>
                <a:cubicBezTo>
                  <a:pt x="3987" y="452"/>
                  <a:pt x="4021" y="476"/>
                  <a:pt x="4054" y="500"/>
                </a:cubicBezTo>
                <a:cubicBezTo>
                  <a:pt x="4087" y="525"/>
                  <a:pt x="4120" y="551"/>
                  <a:pt x="4152" y="577"/>
                </a:cubicBezTo>
                <a:cubicBezTo>
                  <a:pt x="4184" y="603"/>
                  <a:pt x="4216" y="631"/>
                  <a:pt x="4247" y="658"/>
                </a:cubicBezTo>
                <a:cubicBezTo>
                  <a:pt x="4277" y="686"/>
                  <a:pt x="4308" y="715"/>
                  <a:pt x="4337" y="744"/>
                </a:cubicBezTo>
                <a:cubicBezTo>
                  <a:pt x="4366" y="774"/>
                  <a:pt x="4395" y="804"/>
                  <a:pt x="4423" y="835"/>
                </a:cubicBezTo>
                <a:cubicBezTo>
                  <a:pt x="4451" y="866"/>
                  <a:pt x="4478" y="897"/>
                  <a:pt x="4504" y="929"/>
                </a:cubicBezTo>
                <a:cubicBezTo>
                  <a:pt x="4531" y="961"/>
                  <a:pt x="4556" y="994"/>
                  <a:pt x="4581" y="1027"/>
                </a:cubicBezTo>
                <a:cubicBezTo>
                  <a:pt x="4606" y="1061"/>
                  <a:pt x="4630" y="1095"/>
                  <a:pt x="4653" y="1129"/>
                </a:cubicBezTo>
                <a:cubicBezTo>
                  <a:pt x="4676" y="1164"/>
                  <a:pt x="4698" y="1199"/>
                  <a:pt x="4720" y="1235"/>
                </a:cubicBezTo>
                <a:cubicBezTo>
                  <a:pt x="4741" y="1270"/>
                  <a:pt x="4761" y="1306"/>
                  <a:pt x="4781" y="1343"/>
                </a:cubicBezTo>
                <a:cubicBezTo>
                  <a:pt x="4801" y="1380"/>
                  <a:pt x="4819" y="1417"/>
                  <a:pt x="4837" y="1455"/>
                </a:cubicBezTo>
                <a:cubicBezTo>
                  <a:pt x="4855" y="1492"/>
                  <a:pt x="4872" y="1530"/>
                  <a:pt x="4888" y="1568"/>
                </a:cubicBezTo>
                <a:cubicBezTo>
                  <a:pt x="4903" y="1607"/>
                  <a:pt x="4918" y="1646"/>
                  <a:pt x="4932" y="1685"/>
                </a:cubicBezTo>
                <a:cubicBezTo>
                  <a:pt x="4946" y="1724"/>
                  <a:pt x="4959" y="1763"/>
                  <a:pt x="4972" y="1803"/>
                </a:cubicBezTo>
                <a:cubicBezTo>
                  <a:pt x="4984" y="1843"/>
                  <a:pt x="4995" y="1883"/>
                  <a:pt x="5005" y="1923"/>
                </a:cubicBezTo>
                <a:cubicBezTo>
                  <a:pt x="5015" y="1964"/>
                  <a:pt x="5024" y="2004"/>
                  <a:pt x="5032" y="2045"/>
                </a:cubicBezTo>
                <a:cubicBezTo>
                  <a:pt x="5040" y="2086"/>
                  <a:pt x="5047" y="2127"/>
                  <a:pt x="5053" y="2168"/>
                </a:cubicBezTo>
                <a:cubicBezTo>
                  <a:pt x="5060" y="2209"/>
                  <a:pt x="5065" y="2250"/>
                  <a:pt x="5069" y="2292"/>
                </a:cubicBezTo>
                <a:cubicBezTo>
                  <a:pt x="5073" y="2333"/>
                  <a:pt x="5076" y="2374"/>
                  <a:pt x="5078" y="2416"/>
                </a:cubicBezTo>
                <a:cubicBezTo>
                  <a:pt x="5080" y="2457"/>
                  <a:pt x="5081" y="2499"/>
                  <a:pt x="5081" y="2540"/>
                </a:cubicBezTo>
                <a:close/>
              </a:path>
            </a:pathLst>
          </a:custGeom>
          <a:solidFill>
            <a:srgbClr val="0033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55480" y="4847760"/>
            <a:ext cx="39542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/>
                </a:solidFill>
                <a:effectLst/>
                <a:uFillTx/>
                <a:latin typeface="Noto Sans SC"/>
                <a:ea typeface="Noto Sans SC"/>
              </a:rPr>
              <a:t>billion yuan, 25% upside potential per Dongwu Securities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80880" y="799920"/>
            <a:ext cx="457560" cy="38520"/>
          </a:xfrm>
          <a:custGeom>
            <a:avLst/>
            <a:gdLst/>
            <a:ahLst/>
            <a:rect l="0" t="0" r="r" b="b"/>
            <a:pathLst>
              <a:path w="1271" h="107">
                <a:moveTo>
                  <a:pt x="0" y="0"/>
                </a:moveTo>
                <a:lnTo>
                  <a:pt x="1271" y="0"/>
                </a:lnTo>
                <a:lnTo>
                  <a:pt x="12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8222760" y="3631320"/>
            <a:ext cx="1652400" cy="506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Xiangyu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80880" y="393120"/>
            <a:ext cx="37105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4. Company Business Analysis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197280" y="64533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/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914040"/>
            <a:ext cx="3048120" cy="5943960"/>
          </a:xfrm>
          <a:custGeom>
            <a:avLst/>
            <a:gdLst/>
            <a:ahLst/>
            <a:rect l="0" t="0" r="r" b="b"/>
            <a:pathLst>
              <a:path w="8467" h="16511">
                <a:moveTo>
                  <a:pt x="0" y="0"/>
                </a:moveTo>
                <a:lnTo>
                  <a:pt x="8467" y="0"/>
                </a:lnTo>
                <a:lnTo>
                  <a:pt x="8467" y="16511"/>
                </a:lnTo>
                <a:lnTo>
                  <a:pt x="0" y="16511"/>
                </a:lnTo>
                <a:lnTo>
                  <a:pt x="0" y="0"/>
                </a:lnTo>
                <a:close/>
              </a:path>
            </a:pathLst>
          </a:custGeom>
          <a:solidFill>
            <a:srgbClr val="0033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142640" y="2705040"/>
            <a:ext cx="762480" cy="762120"/>
          </a:xfrm>
          <a:custGeom>
            <a:avLst/>
            <a:gdLst/>
            <a:ahLst/>
            <a:rect l="0" t="0" r="r" b="b"/>
            <a:pathLst>
              <a:path w="2118" h="2117">
                <a:moveTo>
                  <a:pt x="2118" y="1058"/>
                </a:moveTo>
                <a:cubicBezTo>
                  <a:pt x="2118" y="1093"/>
                  <a:pt x="2115" y="1127"/>
                  <a:pt x="2112" y="1162"/>
                </a:cubicBezTo>
                <a:cubicBezTo>
                  <a:pt x="2109" y="1196"/>
                  <a:pt x="2104" y="1230"/>
                  <a:pt x="2097" y="1264"/>
                </a:cubicBezTo>
                <a:cubicBezTo>
                  <a:pt x="2090" y="1298"/>
                  <a:pt x="2082" y="1332"/>
                  <a:pt x="2072" y="1365"/>
                </a:cubicBezTo>
                <a:cubicBezTo>
                  <a:pt x="2062" y="1398"/>
                  <a:pt x="2050" y="1431"/>
                  <a:pt x="2037" y="1463"/>
                </a:cubicBezTo>
                <a:cubicBezTo>
                  <a:pt x="2023" y="1495"/>
                  <a:pt x="2009" y="1526"/>
                  <a:pt x="1992" y="1557"/>
                </a:cubicBezTo>
                <a:cubicBezTo>
                  <a:pt x="1976" y="1587"/>
                  <a:pt x="1958" y="1617"/>
                  <a:pt x="1939" y="1646"/>
                </a:cubicBezTo>
                <a:cubicBezTo>
                  <a:pt x="1920" y="1675"/>
                  <a:pt x="1899" y="1703"/>
                  <a:pt x="1877" y="1729"/>
                </a:cubicBezTo>
                <a:cubicBezTo>
                  <a:pt x="1855" y="1756"/>
                  <a:pt x="1832" y="1782"/>
                  <a:pt x="1807" y="1806"/>
                </a:cubicBezTo>
                <a:cubicBezTo>
                  <a:pt x="1783" y="1831"/>
                  <a:pt x="1757" y="1854"/>
                  <a:pt x="1730" y="1876"/>
                </a:cubicBezTo>
                <a:cubicBezTo>
                  <a:pt x="1703" y="1898"/>
                  <a:pt x="1676" y="1919"/>
                  <a:pt x="1647" y="1938"/>
                </a:cubicBezTo>
                <a:cubicBezTo>
                  <a:pt x="1618" y="1957"/>
                  <a:pt x="1588" y="1975"/>
                  <a:pt x="1558" y="1991"/>
                </a:cubicBezTo>
                <a:cubicBezTo>
                  <a:pt x="1527" y="2009"/>
                  <a:pt x="1496" y="2024"/>
                  <a:pt x="1464" y="2037"/>
                </a:cubicBezTo>
                <a:cubicBezTo>
                  <a:pt x="1432" y="2050"/>
                  <a:pt x="1399" y="2062"/>
                  <a:pt x="1366" y="2072"/>
                </a:cubicBezTo>
                <a:cubicBezTo>
                  <a:pt x="1333" y="2082"/>
                  <a:pt x="1299" y="2090"/>
                  <a:pt x="1265" y="2097"/>
                </a:cubicBezTo>
                <a:cubicBezTo>
                  <a:pt x="1231" y="2104"/>
                  <a:pt x="1197" y="2109"/>
                  <a:pt x="1163" y="2112"/>
                </a:cubicBezTo>
                <a:cubicBezTo>
                  <a:pt x="1128" y="2116"/>
                  <a:pt x="1093" y="2117"/>
                  <a:pt x="1059" y="2117"/>
                </a:cubicBezTo>
                <a:cubicBezTo>
                  <a:pt x="1024" y="2117"/>
                  <a:pt x="990" y="2116"/>
                  <a:pt x="955" y="2112"/>
                </a:cubicBezTo>
                <a:cubicBezTo>
                  <a:pt x="921" y="2109"/>
                  <a:pt x="886" y="2104"/>
                  <a:pt x="852" y="2097"/>
                </a:cubicBezTo>
                <a:cubicBezTo>
                  <a:pt x="818" y="2090"/>
                  <a:pt x="785" y="2082"/>
                  <a:pt x="752" y="2072"/>
                </a:cubicBezTo>
                <a:cubicBezTo>
                  <a:pt x="718" y="2062"/>
                  <a:pt x="686" y="2050"/>
                  <a:pt x="654" y="2037"/>
                </a:cubicBezTo>
                <a:cubicBezTo>
                  <a:pt x="622" y="2024"/>
                  <a:pt x="591" y="2009"/>
                  <a:pt x="560" y="1991"/>
                </a:cubicBezTo>
                <a:cubicBezTo>
                  <a:pt x="529" y="1975"/>
                  <a:pt x="500" y="1957"/>
                  <a:pt x="471" y="1938"/>
                </a:cubicBezTo>
                <a:cubicBezTo>
                  <a:pt x="442" y="1919"/>
                  <a:pt x="414" y="1898"/>
                  <a:pt x="387" y="1876"/>
                </a:cubicBezTo>
                <a:cubicBezTo>
                  <a:pt x="361" y="1854"/>
                  <a:pt x="335" y="1831"/>
                  <a:pt x="310" y="1806"/>
                </a:cubicBezTo>
                <a:cubicBezTo>
                  <a:pt x="286" y="1782"/>
                  <a:pt x="263" y="1756"/>
                  <a:pt x="241" y="1729"/>
                </a:cubicBezTo>
                <a:cubicBezTo>
                  <a:pt x="219" y="1703"/>
                  <a:pt x="198" y="1675"/>
                  <a:pt x="179" y="1646"/>
                </a:cubicBezTo>
                <a:cubicBezTo>
                  <a:pt x="160" y="1617"/>
                  <a:pt x="142" y="1587"/>
                  <a:pt x="125" y="1557"/>
                </a:cubicBezTo>
                <a:cubicBezTo>
                  <a:pt x="109" y="1526"/>
                  <a:pt x="94" y="1495"/>
                  <a:pt x="81" y="1463"/>
                </a:cubicBezTo>
                <a:cubicBezTo>
                  <a:pt x="68" y="1431"/>
                  <a:pt x="56" y="1398"/>
                  <a:pt x="46" y="1365"/>
                </a:cubicBezTo>
                <a:cubicBezTo>
                  <a:pt x="36" y="1332"/>
                  <a:pt x="28" y="1298"/>
                  <a:pt x="21" y="1264"/>
                </a:cubicBezTo>
                <a:cubicBezTo>
                  <a:pt x="14" y="1230"/>
                  <a:pt x="9" y="1196"/>
                  <a:pt x="6" y="1162"/>
                </a:cubicBezTo>
                <a:cubicBezTo>
                  <a:pt x="2" y="1127"/>
                  <a:pt x="0" y="1093"/>
                  <a:pt x="0" y="1058"/>
                </a:cubicBezTo>
                <a:cubicBezTo>
                  <a:pt x="0" y="1023"/>
                  <a:pt x="2" y="989"/>
                  <a:pt x="6" y="954"/>
                </a:cubicBezTo>
                <a:cubicBezTo>
                  <a:pt x="9" y="920"/>
                  <a:pt x="14" y="886"/>
                  <a:pt x="21" y="852"/>
                </a:cubicBezTo>
                <a:cubicBezTo>
                  <a:pt x="28" y="818"/>
                  <a:pt x="36" y="784"/>
                  <a:pt x="46" y="751"/>
                </a:cubicBezTo>
                <a:cubicBezTo>
                  <a:pt x="56" y="718"/>
                  <a:pt x="68" y="685"/>
                  <a:pt x="81" y="653"/>
                </a:cubicBezTo>
                <a:cubicBezTo>
                  <a:pt x="94" y="621"/>
                  <a:pt x="109" y="590"/>
                  <a:pt x="125" y="559"/>
                </a:cubicBezTo>
                <a:cubicBezTo>
                  <a:pt x="142" y="529"/>
                  <a:pt x="160" y="499"/>
                  <a:pt x="179" y="470"/>
                </a:cubicBezTo>
                <a:cubicBezTo>
                  <a:pt x="198" y="441"/>
                  <a:pt x="219" y="413"/>
                  <a:pt x="241" y="387"/>
                </a:cubicBezTo>
                <a:cubicBezTo>
                  <a:pt x="263" y="360"/>
                  <a:pt x="286" y="334"/>
                  <a:pt x="310" y="310"/>
                </a:cubicBezTo>
                <a:cubicBezTo>
                  <a:pt x="335" y="285"/>
                  <a:pt x="361" y="262"/>
                  <a:pt x="387" y="240"/>
                </a:cubicBezTo>
                <a:cubicBezTo>
                  <a:pt x="414" y="218"/>
                  <a:pt x="442" y="197"/>
                  <a:pt x="471" y="178"/>
                </a:cubicBezTo>
                <a:cubicBezTo>
                  <a:pt x="500" y="159"/>
                  <a:pt x="529" y="141"/>
                  <a:pt x="560" y="125"/>
                </a:cubicBezTo>
                <a:cubicBezTo>
                  <a:pt x="591" y="108"/>
                  <a:pt x="622" y="93"/>
                  <a:pt x="654" y="80"/>
                </a:cubicBezTo>
                <a:cubicBezTo>
                  <a:pt x="686" y="67"/>
                  <a:pt x="718" y="55"/>
                  <a:pt x="752" y="45"/>
                </a:cubicBezTo>
                <a:cubicBezTo>
                  <a:pt x="785" y="35"/>
                  <a:pt x="818" y="27"/>
                  <a:pt x="852" y="20"/>
                </a:cubicBezTo>
                <a:cubicBezTo>
                  <a:pt x="886" y="13"/>
                  <a:pt x="921" y="8"/>
                  <a:pt x="955" y="5"/>
                </a:cubicBezTo>
                <a:cubicBezTo>
                  <a:pt x="990" y="1"/>
                  <a:pt x="1024" y="0"/>
                  <a:pt x="1059" y="0"/>
                </a:cubicBezTo>
                <a:cubicBezTo>
                  <a:pt x="1093" y="0"/>
                  <a:pt x="1128" y="1"/>
                  <a:pt x="1163" y="5"/>
                </a:cubicBezTo>
                <a:cubicBezTo>
                  <a:pt x="1197" y="8"/>
                  <a:pt x="1231" y="13"/>
                  <a:pt x="1265" y="20"/>
                </a:cubicBezTo>
                <a:cubicBezTo>
                  <a:pt x="1299" y="27"/>
                  <a:pt x="1333" y="35"/>
                  <a:pt x="1366" y="45"/>
                </a:cubicBezTo>
                <a:cubicBezTo>
                  <a:pt x="1399" y="55"/>
                  <a:pt x="1432" y="67"/>
                  <a:pt x="1464" y="80"/>
                </a:cubicBezTo>
                <a:cubicBezTo>
                  <a:pt x="1496" y="93"/>
                  <a:pt x="1527" y="108"/>
                  <a:pt x="1558" y="125"/>
                </a:cubicBezTo>
                <a:cubicBezTo>
                  <a:pt x="1588" y="141"/>
                  <a:pt x="1618" y="159"/>
                  <a:pt x="1647" y="178"/>
                </a:cubicBezTo>
                <a:cubicBezTo>
                  <a:pt x="1676" y="197"/>
                  <a:pt x="1703" y="218"/>
                  <a:pt x="1730" y="240"/>
                </a:cubicBezTo>
                <a:cubicBezTo>
                  <a:pt x="1757" y="262"/>
                  <a:pt x="1783" y="285"/>
                  <a:pt x="1807" y="310"/>
                </a:cubicBezTo>
                <a:cubicBezTo>
                  <a:pt x="1832" y="334"/>
                  <a:pt x="1855" y="360"/>
                  <a:pt x="1877" y="387"/>
                </a:cubicBezTo>
                <a:cubicBezTo>
                  <a:pt x="1899" y="413"/>
                  <a:pt x="1920" y="441"/>
                  <a:pt x="1939" y="470"/>
                </a:cubicBezTo>
                <a:cubicBezTo>
                  <a:pt x="1958" y="499"/>
                  <a:pt x="1976" y="529"/>
                  <a:pt x="1992" y="559"/>
                </a:cubicBezTo>
                <a:cubicBezTo>
                  <a:pt x="2009" y="590"/>
                  <a:pt x="2023" y="621"/>
                  <a:pt x="2037" y="653"/>
                </a:cubicBezTo>
                <a:cubicBezTo>
                  <a:pt x="2050" y="685"/>
                  <a:pt x="2062" y="718"/>
                  <a:pt x="2072" y="751"/>
                </a:cubicBezTo>
                <a:cubicBezTo>
                  <a:pt x="2082" y="784"/>
                  <a:pt x="2090" y="818"/>
                  <a:pt x="2097" y="852"/>
                </a:cubicBezTo>
                <a:cubicBezTo>
                  <a:pt x="2104" y="886"/>
                  <a:pt x="2109" y="920"/>
                  <a:pt x="2112" y="954"/>
                </a:cubicBezTo>
                <a:cubicBezTo>
                  <a:pt x="2115" y="989"/>
                  <a:pt x="2118" y="1023"/>
                  <a:pt x="2118" y="10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80880" y="419076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380960" y="2926800"/>
            <a:ext cx="2872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04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27640" y="3649680"/>
            <a:ext cx="1393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Business Insights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80880" y="4519800"/>
            <a:ext cx="1919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fffff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Comprehensive analysis of business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80880" y="4710240"/>
            <a:ext cx="18784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fffff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segments, recent developments and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80880" y="4900680"/>
            <a:ext cx="1071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 i="0">
                <a:solidFill>
                  <a:srgbClr val="ffffff"/>
                </a:solidFill>
                <a:effectLst/>
                <a:uFillTx/>
                <a:latin typeface="Noto Sans SC"/>
                <a:ea typeface="Noto Sans SC"/>
              </a:rPr>
              <a:t>market performance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495600" y="20858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4"/>
                  <a:pt x="128" y="92"/>
                </a:cubicBezTo>
                <a:cubicBezTo>
                  <a:pt x="125" y="100"/>
                  <a:pt x="119" y="108"/>
                  <a:pt x="113" y="114"/>
                </a:cubicBezTo>
                <a:cubicBezTo>
                  <a:pt x="106" y="120"/>
                  <a:pt x="99" y="125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0"/>
                  <a:pt x="5" y="92"/>
                </a:cubicBezTo>
                <a:cubicBezTo>
                  <a:pt x="1" y="84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1" y="5"/>
                </a:cubicBezTo>
                <a:cubicBezTo>
                  <a:pt x="99" y="8"/>
                  <a:pt x="106" y="13"/>
                  <a:pt x="113" y="19"/>
                </a:cubicBezTo>
                <a:cubicBezTo>
                  <a:pt x="119" y="25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429000" y="1611360"/>
            <a:ext cx="24354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Business Segment Breakdown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495600" y="24285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133" y="68"/>
                </a:moveTo>
                <a:cubicBezTo>
                  <a:pt x="133" y="76"/>
                  <a:pt x="131" y="85"/>
                  <a:pt x="128" y="93"/>
                </a:cubicBezTo>
                <a:cubicBezTo>
                  <a:pt x="125" y="101"/>
                  <a:pt x="119" y="108"/>
                  <a:pt x="113" y="114"/>
                </a:cubicBezTo>
                <a:cubicBezTo>
                  <a:pt x="106" y="120"/>
                  <a:pt x="99" y="125"/>
                  <a:pt x="91" y="129"/>
                </a:cubicBezTo>
                <a:cubicBezTo>
                  <a:pt x="83" y="132"/>
                  <a:pt x="75" y="134"/>
                  <a:pt x="66" y="134"/>
                </a:cubicBezTo>
                <a:cubicBezTo>
                  <a:pt x="57" y="134"/>
                  <a:pt x="49" y="132"/>
                  <a:pt x="41" y="129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1" y="85"/>
                  <a:pt x="0" y="76"/>
                  <a:pt x="0" y="68"/>
                </a:cubicBezTo>
                <a:cubicBezTo>
                  <a:pt x="0" y="59"/>
                  <a:pt x="1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4"/>
                  <a:pt x="32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1" y="5"/>
                </a:cubicBezTo>
                <a:cubicBezTo>
                  <a:pt x="99" y="9"/>
                  <a:pt x="106" y="14"/>
                  <a:pt x="113" y="20"/>
                </a:cubicBezTo>
                <a:cubicBezTo>
                  <a:pt x="119" y="26"/>
                  <a:pt x="125" y="33"/>
                  <a:pt x="128" y="41"/>
                </a:cubicBezTo>
                <a:cubicBezTo>
                  <a:pt x="131" y="49"/>
                  <a:pt x="133" y="59"/>
                  <a:pt x="133" y="68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657600" y="1999800"/>
            <a:ext cx="71395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Bulk Commodity Supply Chain (metals, minerals, agricultural products, energy, chemicals, new energy)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495600" y="27716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19" y="108"/>
                  <a:pt x="113" y="114"/>
                </a:cubicBezTo>
                <a:cubicBezTo>
                  <a:pt x="106" y="120"/>
                  <a:pt x="99" y="125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4"/>
                  <a:pt x="13" y="26"/>
                  <a:pt x="19" y="19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1" y="5"/>
                </a:cubicBezTo>
                <a:cubicBezTo>
                  <a:pt x="99" y="8"/>
                  <a:pt x="106" y="13"/>
                  <a:pt x="113" y="19"/>
                </a:cubicBezTo>
                <a:cubicBezTo>
                  <a:pt x="119" y="26"/>
                  <a:pt x="125" y="34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657600" y="2342880"/>
            <a:ext cx="882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Shipbuilding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657600" y="2685600"/>
            <a:ext cx="626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Logistics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495600" y="3724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19" y="107"/>
                  <a:pt x="113" y="114"/>
                </a:cubicBezTo>
                <a:cubicBezTo>
                  <a:pt x="106" y="120"/>
                  <a:pt x="99" y="125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1" y="5"/>
                </a:cubicBezTo>
                <a:cubicBezTo>
                  <a:pt x="99" y="8"/>
                  <a:pt x="106" y="13"/>
                  <a:pt x="113" y="20"/>
                </a:cubicBezTo>
                <a:cubicBezTo>
                  <a:pt x="119" y="26"/>
                  <a:pt x="125" y="33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429000" y="3249720"/>
            <a:ext cx="1699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Latest Developments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495600" y="40669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4"/>
                  <a:pt x="128" y="92"/>
                </a:cubicBezTo>
                <a:cubicBezTo>
                  <a:pt x="125" y="100"/>
                  <a:pt x="119" y="107"/>
                  <a:pt x="113" y="113"/>
                </a:cubicBezTo>
                <a:cubicBezTo>
                  <a:pt x="106" y="119"/>
                  <a:pt x="99" y="125"/>
                  <a:pt x="91" y="128"/>
                </a:cubicBezTo>
                <a:cubicBezTo>
                  <a:pt x="83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2" y="125"/>
                  <a:pt x="25" y="119"/>
                  <a:pt x="19" y="113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5"/>
                  <a:pt x="0" y="66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3"/>
                  <a:pt x="32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1" y="5"/>
                </a:cubicBezTo>
                <a:cubicBezTo>
                  <a:pt x="99" y="9"/>
                  <a:pt x="106" y="13"/>
                  <a:pt x="113" y="20"/>
                </a:cubicBezTo>
                <a:cubicBezTo>
                  <a:pt x="119" y="26"/>
                  <a:pt x="125" y="33"/>
                  <a:pt x="128" y="41"/>
                </a:cubicBezTo>
                <a:cubicBezTo>
                  <a:pt x="131" y="49"/>
                  <a:pt x="133" y="58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3657600" y="3638160"/>
            <a:ext cx="2209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23 new overseas projects (2024)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495600" y="44100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100"/>
                  <a:pt x="119" y="107"/>
                  <a:pt x="113" y="114"/>
                </a:cubicBezTo>
                <a:cubicBezTo>
                  <a:pt x="106" y="120"/>
                  <a:pt x="99" y="125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7"/>
                  <a:pt x="8" y="100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1" y="5"/>
                </a:cubicBezTo>
                <a:cubicBezTo>
                  <a:pt x="99" y="8"/>
                  <a:pt x="106" y="13"/>
                  <a:pt x="113" y="19"/>
                </a:cubicBezTo>
                <a:cubicBezTo>
                  <a:pt x="119" y="25"/>
                  <a:pt x="125" y="32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657600" y="3981240"/>
            <a:ext cx="1996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'YulianTong' digital platform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657600" y="4323960"/>
            <a:ext cx="3628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New energy supply chain lithium ore volume +160%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495600" y="53625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4"/>
                  <a:pt x="131" y="83"/>
                  <a:pt x="128" y="92"/>
                </a:cubicBezTo>
                <a:cubicBezTo>
                  <a:pt x="125" y="100"/>
                  <a:pt x="119" y="107"/>
                  <a:pt x="113" y="113"/>
                </a:cubicBezTo>
                <a:cubicBezTo>
                  <a:pt x="106" y="120"/>
                  <a:pt x="99" y="124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2" y="124"/>
                  <a:pt x="25" y="120"/>
                  <a:pt x="19" y="113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3"/>
                  <a:pt x="0" y="74"/>
                  <a:pt x="0" y="66"/>
                </a:cubicBezTo>
                <a:cubicBezTo>
                  <a:pt x="0" y="57"/>
                  <a:pt x="1" y="48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1" y="5"/>
                </a:cubicBezTo>
                <a:cubicBezTo>
                  <a:pt x="99" y="8"/>
                  <a:pt x="106" y="13"/>
                  <a:pt x="113" y="19"/>
                </a:cubicBezTo>
                <a:cubicBezTo>
                  <a:pt x="119" y="25"/>
                  <a:pt x="125" y="32"/>
                  <a:pt x="128" y="40"/>
                </a:cubicBezTo>
                <a:cubicBezTo>
                  <a:pt x="131" y="48"/>
                  <a:pt x="133" y="57"/>
                  <a:pt x="133" y="66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429000" y="4888080"/>
            <a:ext cx="17197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Market Performance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495600" y="57052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1"/>
                  <a:pt x="119" y="108"/>
                  <a:pt x="113" y="114"/>
                </a:cubicBezTo>
                <a:cubicBezTo>
                  <a:pt x="106" y="120"/>
                  <a:pt x="99" y="125"/>
                  <a:pt x="91" y="128"/>
                </a:cubicBezTo>
                <a:cubicBezTo>
                  <a:pt x="83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1" y="5"/>
                </a:cubicBezTo>
                <a:cubicBezTo>
                  <a:pt x="99" y="8"/>
                  <a:pt x="106" y="13"/>
                  <a:pt x="113" y="19"/>
                </a:cubicBezTo>
                <a:cubicBezTo>
                  <a:pt x="119" y="26"/>
                  <a:pt x="125" y="33"/>
                  <a:pt x="128" y="41"/>
                </a:cubicBezTo>
                <a:cubicBezTo>
                  <a:pt x="131" y="49"/>
                  <a:pt x="133" y="57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657600" y="5276520"/>
            <a:ext cx="2214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2024 revenue 366.7 billion yuan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495600" y="60483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5"/>
                  <a:pt x="131" y="84"/>
                  <a:pt x="128" y="92"/>
                </a:cubicBezTo>
                <a:cubicBezTo>
                  <a:pt x="125" y="100"/>
                  <a:pt x="119" y="107"/>
                  <a:pt x="113" y="113"/>
                </a:cubicBezTo>
                <a:cubicBezTo>
                  <a:pt x="106" y="120"/>
                  <a:pt x="99" y="124"/>
                  <a:pt x="91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2" y="124"/>
                  <a:pt x="25" y="120"/>
                  <a:pt x="19" y="113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5"/>
                  <a:pt x="0" y="67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5" y="13"/>
                  <a:pt x="32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1" y="5"/>
                </a:cubicBezTo>
                <a:cubicBezTo>
                  <a:pt x="99" y="8"/>
                  <a:pt x="106" y="13"/>
                  <a:pt x="113" y="19"/>
                </a:cubicBezTo>
                <a:cubicBezTo>
                  <a:pt x="119" y="25"/>
                  <a:pt x="125" y="33"/>
                  <a:pt x="128" y="41"/>
                </a:cubicBezTo>
                <a:cubicBezTo>
                  <a:pt x="131" y="49"/>
                  <a:pt x="133" y="58"/>
                  <a:pt x="133" y="6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3657600" y="5619240"/>
            <a:ext cx="1873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Net profit 1.42 billion yuan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380880" y="799920"/>
            <a:ext cx="457560" cy="38520"/>
          </a:xfrm>
          <a:custGeom>
            <a:avLst/>
            <a:gdLst/>
            <a:ahLst/>
            <a:rect l="0" t="0" r="r" b="b"/>
            <a:pathLst>
              <a:path w="1271" h="107">
                <a:moveTo>
                  <a:pt x="0" y="0"/>
                </a:moveTo>
                <a:lnTo>
                  <a:pt x="1271" y="0"/>
                </a:lnTo>
                <a:lnTo>
                  <a:pt x="12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657600" y="5962320"/>
            <a:ext cx="2901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 i="0">
                <a:solidFill>
                  <a:srgbClr val="1f2937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25% upside potential (Dongwu Securities)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80880" y="393120"/>
            <a:ext cx="37105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5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4. Company Business Analysis</a:t>
            </a:r>
            <a:endParaRPr b="0" lang="en-US" sz="22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9197280" y="6453360"/>
            <a:ext cx="27633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 i="0">
                <a:solidFill>
                  <a:srgbClr val="9ca3af">
                    <a:alpha val="80000"/>
                  </a:srgbClr>
                </a:solidFill>
                <a:effectLst/>
                <a:uFillTx/>
                <a:latin typeface="Noto Sans SC"/>
                <a:ea typeface="Noto Sans SC"/>
              </a:rPr>
              <a:t>XIAMEN XIANGYU CO., LTD. | Research Report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"/>
          <p:cNvSpPr/>
          <p:nvPr/>
        </p:nvSpPr>
        <p:spPr>
          <a:xfrm>
            <a:off x="0" y="0"/>
            <a:ext cx="3048120" cy="1714680"/>
          </a:xfrm>
          <a:custGeom>
            <a:avLst/>
            <a:gdLst/>
            <a:ahLst/>
            <a:rect l="0" t="0" r="r" b="b"/>
            <a:pathLst>
              <a:path w="8467" h="4763">
                <a:moveTo>
                  <a:pt x="0" y="0"/>
                </a:moveTo>
                <a:lnTo>
                  <a:pt x="8467" y="0"/>
                </a:lnTo>
                <a:lnTo>
                  <a:pt x="8467" y="105"/>
                </a:lnTo>
                <a:lnTo>
                  <a:pt x="0" y="105"/>
                </a:lnTo>
                <a:lnTo>
                  <a:pt x="0" y="0"/>
                </a:lnTo>
                <a:moveTo>
                  <a:pt x="0" y="0"/>
                </a:moveTo>
                <a:lnTo>
                  <a:pt x="105" y="0"/>
                </a:lnTo>
                <a:lnTo>
                  <a:pt x="105" y="4763"/>
                </a:lnTo>
                <a:lnTo>
                  <a:pt x="0" y="4763"/>
                </a:lnTo>
                <a:lnTo>
                  <a:pt x="0" y="0"/>
                </a:lnTo>
                <a:close/>
              </a:path>
            </a:pathLst>
          </a:custGeom>
          <a:solidFill>
            <a:srgbClr val="003366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2115440" y="0"/>
            <a:ext cx="77040" cy="6858000"/>
          </a:xfrm>
          <a:custGeom>
            <a:avLst/>
            <a:gdLst/>
            <a:ahLst/>
            <a:rect l="0" t="0" r="r" b="b"/>
            <a:pathLst>
              <a:path w="214" h="19050">
                <a:moveTo>
                  <a:pt x="0" y="0"/>
                </a:moveTo>
                <a:lnTo>
                  <a:pt x="214" y="0"/>
                </a:lnTo>
                <a:lnTo>
                  <a:pt x="21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336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638680" y="3000240"/>
            <a:ext cx="914760" cy="57600"/>
          </a:xfrm>
          <a:custGeom>
            <a:avLst/>
            <a:gdLst/>
            <a:ahLst/>
            <a:rect l="0" t="0" r="r" b="b"/>
            <a:pathLst>
              <a:path w="2541" h="160">
                <a:moveTo>
                  <a:pt x="0" y="0"/>
                </a:moveTo>
                <a:lnTo>
                  <a:pt x="2541" y="0"/>
                </a:lnTo>
                <a:lnTo>
                  <a:pt x="2541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e6394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484160" y="2091240"/>
            <a:ext cx="3255480" cy="632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500" strike="noStrike" u="none" i="0">
                <a:solidFill>
                  <a:srgbClr val="003366"/>
                </a:solidFill>
                <a:effectLst/>
                <a:uFillTx/>
                <a:latin typeface="Noto Sans SC"/>
                <a:ea typeface="Noto Sans SC"/>
              </a:rPr>
              <a:t>Q&amp;A Session</a:t>
            </a:r>
            <a:endParaRPr b="0" lang="en-US" sz="4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963960" y="3387240"/>
            <a:ext cx="3841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 i="0">
                <a:solidFill>
                  <a:srgbClr val="374151"/>
                </a:solidFill>
                <a:effectLst/>
                <a:uFillTx/>
                <a:latin typeface="Noto Sans SC"/>
                <a:ea typeface="Noto Sans SC"/>
              </a:rPr>
              <a:t>Contact Information: [Your Email/Phone]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2574720" y="4302720"/>
            <a:ext cx="7051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Disclaimer: All information sourced from company reports, industry analyses, and reliable financial platforms as of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924520" y="4531320"/>
            <a:ext cx="343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 i="0">
                <a:solidFill>
                  <a:srgbClr val="6b7280"/>
                </a:solidFill>
                <a:effectLst/>
                <a:uFillTx/>
                <a:latin typeface="Noto Sans SC"/>
                <a:ea typeface="Noto Sans SC"/>
              </a:rPr>
              <a:t>2025.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